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9" r:id="rId14"/>
    <p:sldId id="270" r:id="rId15"/>
    <p:sldId id="271" r:id="rId16"/>
    <p:sldId id="272" r:id="rId17"/>
    <p:sldId id="273" r:id="rId18"/>
    <p:sldId id="274" r:id="rId19"/>
    <p:sldId id="268"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2377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1181" autoAdjust="0"/>
    <p:restoredTop sz="96374" autoAdjust="0"/>
  </p:normalViewPr>
  <p:slideViewPr>
    <p:cSldViewPr snapToGrid="0">
      <p:cViewPr varScale="1">
        <p:scale>
          <a:sx n="78" d="100"/>
          <a:sy n="78" d="100"/>
        </p:scale>
        <p:origin x="1056" y="72"/>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25" d="100"/>
        <a:sy n="125"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4E398BB-4C71-47CC-92A8-4F8F9643D713}" type="datetimeFigureOut">
              <a:rPr lang="en-GB" smtClean="0"/>
              <a:t>26/10/2026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EEF2A5A-C802-40EB-AFC1-120433C5638E}" type="slidenum">
              <a:rPr lang="en-GB" smtClean="0"/>
              <a:t>‹#›</a:t>
            </a:fld>
            <a:endParaRPr lang="en-GB"/>
          </a:p>
        </p:txBody>
      </p:sp>
    </p:spTree>
    <p:extLst>
      <p:ext uri="{BB962C8B-B14F-4D97-AF65-F5344CB8AC3E}">
        <p14:creationId xmlns:p14="http://schemas.microsoft.com/office/powerpoint/2010/main" val="3375628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Em chào thầy cô trong hội đồng. Em là Đặng Nhất Nhất, MSSV 23010345. Đề tài của em là Fahasa Digital – hệ thống quản lý thư viện cho một nhà sách có khu cho mượn sách. Đây là đồ án cá nhân, do cô Nguyễn Thị Vân hướng dẫn.</a:t>
            </a:r>
            <a:endParaRPr lang="en-GB"/>
          </a:p>
        </p:txBody>
      </p:sp>
      <p:sp>
        <p:nvSpPr>
          <p:cNvPr id="4" name="Slide Number Placeholder 3"/>
          <p:cNvSpPr>
            <a:spLocks noGrp="1"/>
          </p:cNvSpPr>
          <p:nvPr>
            <p:ph type="sldNum" sz="quarter" idx="5"/>
          </p:nvPr>
        </p:nvSpPr>
        <p:spPr/>
        <p:txBody>
          <a:bodyPr/>
          <a:lstStyle/>
          <a:p>
            <a:fld id="{AEEF2A5A-C802-40EB-AFC1-120433C5638E}" type="slidenum">
              <a:rPr lang="en-GB" smtClean="0"/>
              <a:t>1</a:t>
            </a:fld>
            <a:endParaRPr lang="en-GB"/>
          </a:p>
        </p:txBody>
      </p:sp>
    </p:spTree>
    <p:extLst>
      <p:ext uri="{BB962C8B-B14F-4D97-AF65-F5344CB8AC3E}">
        <p14:creationId xmlns:p14="http://schemas.microsoft.com/office/powerpoint/2010/main" val="387195585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Bài trình bày gồm năm phần: đặt vấn đề; giải pháp và thiết kế; sản phẩm; kiểm thử và đánh giá; cuối cùng là kế hoạch thực hiện, kết luận và hướng phát triển.</a:t>
            </a:r>
            <a:endParaRPr lang="en-GB"/>
          </a:p>
        </p:txBody>
      </p:sp>
      <p:sp>
        <p:nvSpPr>
          <p:cNvPr id="4" name="Slide Number Placeholder 3"/>
          <p:cNvSpPr>
            <a:spLocks noGrp="1"/>
          </p:cNvSpPr>
          <p:nvPr>
            <p:ph type="sldNum" sz="quarter" idx="5"/>
          </p:nvPr>
        </p:nvSpPr>
        <p:spPr/>
        <p:txBody>
          <a:bodyPr/>
          <a:lstStyle/>
          <a:p>
            <a:fld id="{AEEF2A5A-C802-40EB-AFC1-120433C5638E}" type="slidenum">
              <a:rPr lang="en-GB" smtClean="0"/>
              <a:t>2</a:t>
            </a:fld>
            <a:endParaRPr lang="en-GB"/>
          </a:p>
        </p:txBody>
      </p:sp>
    </p:spTree>
    <p:extLst>
      <p:ext uri="{BB962C8B-B14F-4D97-AF65-F5344CB8AC3E}">
        <p14:creationId xmlns:p14="http://schemas.microsoft.com/office/powerpoint/2010/main" val="398837992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Bối cảnh: nhiều nhà sách mở thêm không gian đọc và cho mượn sách để giữ chân khách hàng thân thiết. Em lấy FAHASA làm hình mẫu tham chiếu, nhưng đây là kịch bản giả định: em không hợp tác với FAHASA và không có thông tin họ có vận hành dịch vụ cho mượn hay không. Quy mô bên phải là giả định thiết kế, không phải số liệu khảo sát. Vấn đề chung: toàn bộ quy trình đang làm thủ công bằng sổ và Excel.</a:t>
            </a:r>
            <a:endParaRPr lang="en-GB"/>
          </a:p>
        </p:txBody>
      </p:sp>
      <p:sp>
        <p:nvSpPr>
          <p:cNvPr id="4" name="Slide Number Placeholder 3"/>
          <p:cNvSpPr>
            <a:spLocks noGrp="1"/>
          </p:cNvSpPr>
          <p:nvPr>
            <p:ph type="sldNum" sz="quarter" idx="5"/>
          </p:nvPr>
        </p:nvSpPr>
        <p:spPr/>
        <p:txBody>
          <a:bodyPr/>
          <a:lstStyle/>
          <a:p>
            <a:fld id="{AEEF2A5A-C802-40EB-AFC1-120433C5638E}" type="slidenum">
              <a:rPr lang="en-GB" smtClean="0"/>
              <a:t>3</a:t>
            </a:fld>
            <a:endParaRPr lang="en-GB"/>
          </a:p>
        </p:txBody>
      </p:sp>
    </p:spTree>
    <p:extLst>
      <p:ext uri="{BB962C8B-B14F-4D97-AF65-F5344CB8AC3E}">
        <p14:creationId xmlns:p14="http://schemas.microsoft.com/office/powerpoint/2010/main" val="89349417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Từ hiện trạng, em xác định sáu vấn đề, đánh mã VĐ-01 đến VĐ-06 để truy vết tới giải pháp. Một: thông tin kho sách sai lệch và không theo thời gian thực. Hai: mọi thao tác mượn, trả, gia hạn đều phải ra quầy. Ba: tiền phạt tính tay nên dễ sai và dễ tranh cãi. Bốn: không có nhắc hạn và không có hàng chờ khi sách hết. Năm: chủ nhà sách thiếu số liệu để ra quyết định. Sáu: độc giả khó tìm được sách phù hợp.</a:t>
            </a:r>
            <a:endParaRPr lang="en-GB"/>
          </a:p>
        </p:txBody>
      </p:sp>
      <p:sp>
        <p:nvSpPr>
          <p:cNvPr id="4" name="Slide Number Placeholder 3"/>
          <p:cNvSpPr>
            <a:spLocks noGrp="1"/>
          </p:cNvSpPr>
          <p:nvPr>
            <p:ph type="sldNum" sz="quarter" idx="5"/>
          </p:nvPr>
        </p:nvSpPr>
        <p:spPr/>
        <p:txBody>
          <a:bodyPr/>
          <a:lstStyle/>
          <a:p>
            <a:fld id="{AEEF2A5A-C802-40EB-AFC1-120433C5638E}" type="slidenum">
              <a:rPr lang="en-GB" smtClean="0"/>
              <a:t>4</a:t>
            </a:fld>
            <a:endParaRPr lang="en-GB"/>
          </a:p>
        </p:txBody>
      </p:sp>
    </p:spTree>
    <p:extLst>
      <p:ext uri="{BB962C8B-B14F-4D97-AF65-F5344CB8AC3E}">
        <p14:creationId xmlns:p14="http://schemas.microsoft.com/office/powerpoint/2010/main" val="37590785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Em khảo sát các nhóm giải pháp: Koha khi nhà sách tự triển khai (hệ thống thư viện Trường Đại học Phenikaa cũng chạy Koha), phần mềm thương mại Libol, và phần mềm bán hàng hoặc Excel. Các hệ thống thư viện chuyên nghiệp làm tốt nghiệp vụ lưu thông nhưng được thiết kế cho thư viện có cán bộ chuyên môn, ngưỡng vận hành cao. Ngược lại, phần mềm bán hàng dễ dùng nhưng không có nghiệp vụ mượn trả. Khoảng trống em nhắm tới là một hệ thống gọn, đủ nghiệp vụ, dễ vận hành, và có thêm thanh toán trực tuyến cùng gợi ý sách. Ô “Chưa rõ” nghĩa là em không tìm được tài liệu công khai, chứ không khẳng định là không có tính năng đó.</a:t>
            </a:r>
            <a:endParaRPr lang="en-GB"/>
          </a:p>
        </p:txBody>
      </p:sp>
      <p:sp>
        <p:nvSpPr>
          <p:cNvPr id="4" name="Slide Number Placeholder 3"/>
          <p:cNvSpPr>
            <a:spLocks noGrp="1"/>
          </p:cNvSpPr>
          <p:nvPr>
            <p:ph type="sldNum" sz="quarter" idx="5"/>
          </p:nvPr>
        </p:nvSpPr>
        <p:spPr/>
        <p:txBody>
          <a:bodyPr/>
          <a:lstStyle/>
          <a:p>
            <a:fld id="{AEEF2A5A-C802-40EB-AFC1-120433C5638E}" type="slidenum">
              <a:rPr lang="en-GB" smtClean="0"/>
              <a:t>5</a:t>
            </a:fld>
            <a:endParaRPr lang="en-GB"/>
          </a:p>
        </p:txBody>
      </p:sp>
    </p:spTree>
    <p:extLst>
      <p:ext uri="{BB962C8B-B14F-4D97-AF65-F5344CB8AC3E}">
        <p14:creationId xmlns:p14="http://schemas.microsoft.com/office/powerpoint/2010/main" val="220181838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Giải pháp là một ứng dụng web gồm hai phân hệ dùng chung một máy chủ API. Phân hệ độc giả cho phép tra cứu, gửi yêu cầu mượn và gia hạn từ xa, đặt trước khi sách hết, thanh toán phạt trực tuyến, đánh giá sách và hỏi trợ lý AI. Phân hệ quản trị dành cho thủ thư và quản trị viên: duyệt mượn, xác nhận trả với tiền phạt tự tính, quản lý dữ liệu, thống kê và xuất báo cáo. Ngoài ra có các tác vụ tự động như nhắc hạn lúc 8 giờ sáng và thông báo cho người đang chờ. Dòng cuối mỗi cột cho biết phân hệ đó giải quyết những vấn đề nào.</a:t>
            </a:r>
            <a:endParaRPr lang="en-GB"/>
          </a:p>
        </p:txBody>
      </p:sp>
      <p:sp>
        <p:nvSpPr>
          <p:cNvPr id="4" name="Slide Number Placeholder 3"/>
          <p:cNvSpPr>
            <a:spLocks noGrp="1"/>
          </p:cNvSpPr>
          <p:nvPr>
            <p:ph type="sldNum" sz="quarter" idx="5"/>
          </p:nvPr>
        </p:nvSpPr>
        <p:spPr/>
        <p:txBody>
          <a:bodyPr/>
          <a:lstStyle/>
          <a:p>
            <a:fld id="{AEEF2A5A-C802-40EB-AFC1-120433C5638E}" type="slidenum">
              <a:rPr lang="en-GB" smtClean="0"/>
              <a:t>6</a:t>
            </a:fld>
            <a:endParaRPr lang="en-GB"/>
          </a:p>
        </p:txBody>
      </p:sp>
    </p:spTree>
    <p:extLst>
      <p:ext uri="{BB962C8B-B14F-4D97-AF65-F5344CB8AC3E}">
        <p14:creationId xmlns:p14="http://schemas.microsoft.com/office/powerpoint/2010/main" val="96873850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Hệ thống có ba tầng. Tầng giao diện là ứng dụng React được build thành tệp tĩnh và phục vụ qua Nginx. Tầng nghiệp vụ là REST API viết bằng Node.js và Express, tổ chức theo Routes, Controllers, Services: mọi quy tắc nghiệp vụ nằm ở tầng Service. Tầng dữ liệu là MySQL 8 với 18 bảng, truy cập qua Sequelize. Điểm đáng chú ý về bảo mật: mỗi lần đăng nhập, máy chủ sinh một cặp khóa RSA riêng cho người dùng để ký token, nên đăng xuất là mọi token cũ mất hiệu lực ngay. Hệ thống tích hợp Groq cho trợ lý AI, VNPay và MoMo cho thanh toán ở môi trường sandbox, Gmail để gửi OTP. Toàn bộ chạy bằng Docker Compose với ba dịch vụ, khởi động bằng một lệnh.</a:t>
            </a:r>
            <a:endParaRPr lang="en-GB"/>
          </a:p>
        </p:txBody>
      </p:sp>
      <p:sp>
        <p:nvSpPr>
          <p:cNvPr id="4" name="Slide Number Placeholder 3"/>
          <p:cNvSpPr>
            <a:spLocks noGrp="1"/>
          </p:cNvSpPr>
          <p:nvPr>
            <p:ph type="sldNum" sz="quarter" idx="5"/>
          </p:nvPr>
        </p:nvSpPr>
        <p:spPr/>
        <p:txBody>
          <a:bodyPr/>
          <a:lstStyle/>
          <a:p>
            <a:fld id="{AEEF2A5A-C802-40EB-AFC1-120433C5638E}" type="slidenum">
              <a:rPr lang="en-GB" smtClean="0"/>
              <a:t>7</a:t>
            </a:fld>
            <a:endParaRPr lang="en-GB"/>
          </a:p>
        </p:txBody>
      </p:sp>
    </p:spTree>
    <p:extLst>
      <p:ext uri="{BB962C8B-B14F-4D97-AF65-F5344CB8AC3E}">
        <p14:creationId xmlns:p14="http://schemas.microsoft.com/office/powerpoint/2010/main" val="76544593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Phần phân tích yêu cầu: 33 yêu cầu chức năng chia năm nhóm, 13 yêu cầu phi chức năng đều có tiêu chí đo hoặc cách kiểm chứng, 19 ca sử dụng, 10 quy tắc nghiệp vụ, 5 tác nhân gồm Khách, Độc giả, Thủ thư, Quản trị viên và hệ thống bên ngoài cùng tác vụ định kỳ. Cơ sở dữ liệu có 18 bảng. Điểm em muốn nhấn mạnh là tính truy vết: từ vấn đề tới yêu cầu, từ yêu cầu tới ca sử dụng qua ma trận truy vết, và từ ca sử dụng tới kết quả kiểm thử.</a:t>
            </a:r>
            <a:endParaRPr lang="en-GB"/>
          </a:p>
        </p:txBody>
      </p:sp>
      <p:sp>
        <p:nvSpPr>
          <p:cNvPr id="4" name="Slide Number Placeholder 3"/>
          <p:cNvSpPr>
            <a:spLocks noGrp="1"/>
          </p:cNvSpPr>
          <p:nvPr>
            <p:ph type="sldNum" sz="quarter" idx="5"/>
          </p:nvPr>
        </p:nvSpPr>
        <p:spPr/>
        <p:txBody>
          <a:bodyPr/>
          <a:lstStyle/>
          <a:p>
            <a:fld id="{AEEF2A5A-C802-40EB-AFC1-120433C5638E}" type="slidenum">
              <a:rPr lang="en-GB" smtClean="0"/>
              <a:t>8</a:t>
            </a:fld>
            <a:endParaRPr lang="en-GB"/>
          </a:p>
        </p:txBody>
      </p:sp>
    </p:spTree>
    <p:extLst>
      <p:ext uri="{BB962C8B-B14F-4D97-AF65-F5344CB8AC3E}">
        <p14:creationId xmlns:p14="http://schemas.microsoft.com/office/powerpoint/2010/main" val="107306731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Biểu đồ bên phải là biểu đồ use case tổng quát với 19 ca sử dụng. Độc giả kế thừa Khách, Quản trị viên kế thừa Thủ thư. Khách và độc giả có nhóm ca sử dụng lớn nhất: từ đăng ký tới mượn, gia hạn, đặt trước, thanh toán, đánh giá và trợ lý AI. Thủ thư và quản trị viên phụ trách duyệt, trả sách, quản lý dữ liệu và thống kê. Ca nhắc hạn do tác nhân Hệ thống khởi phát theo lịch. Trong báo cáo, cả 19 ca được đặc tả theo cùng một mẫu, có luồng thay thế, ngoại lệ, và gắn với ca kiểm thử tương ứng.</a:t>
            </a:r>
            <a:endParaRPr lang="en-GB"/>
          </a:p>
        </p:txBody>
      </p:sp>
      <p:sp>
        <p:nvSpPr>
          <p:cNvPr id="4" name="Slide Number Placeholder 3"/>
          <p:cNvSpPr>
            <a:spLocks noGrp="1"/>
          </p:cNvSpPr>
          <p:nvPr>
            <p:ph type="sldNum" sz="quarter" idx="5"/>
          </p:nvPr>
        </p:nvSpPr>
        <p:spPr/>
        <p:txBody>
          <a:bodyPr/>
          <a:lstStyle/>
          <a:p>
            <a:fld id="{AEEF2A5A-C802-40EB-AFC1-120433C5638E}" type="slidenum">
              <a:rPr lang="en-GB" smtClean="0"/>
              <a:t>9</a:t>
            </a:fld>
            <a:endParaRPr lang="en-GB"/>
          </a:p>
        </p:txBody>
      </p:sp>
    </p:spTree>
    <p:extLst>
      <p:ext uri="{BB962C8B-B14F-4D97-AF65-F5344CB8AC3E}">
        <p14:creationId xmlns:p14="http://schemas.microsoft.com/office/powerpoint/2010/main" val="20142760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Đây là phần trực tiếp giải quyết vấn đề tính phạt thủ công. Mọi quy tắc nằm ở tầng Service của máy chủ, nên mọi độc giả được tính theo cùng một công thức. Phạt quá hạn 2.000 đồng mỗi ngày, tối thiểu 5.000; sách hỏng 30% giá bìa; mất sách 100% giá bìa. Gia hạn tối đa hai lần. Mỗi độc giả chỉ có một phiếu đang xử lý cho cùng một đầu sách. Đặt trước chỉ khi sách đã hết, người được báo có 48 giờ giữ chỗ. Nhắc hạn chạy lúc 8 giờ sáng. Cột bên phải là các ca kiểm thử tự động đã chứng minh từng quy tắc; tất cả đều đạt.</a:t>
            </a:r>
            <a:endParaRPr lang="en-GB"/>
          </a:p>
        </p:txBody>
      </p:sp>
      <p:sp>
        <p:nvSpPr>
          <p:cNvPr id="4" name="Slide Number Placeholder 3"/>
          <p:cNvSpPr>
            <a:spLocks noGrp="1"/>
          </p:cNvSpPr>
          <p:nvPr>
            <p:ph type="sldNum" sz="quarter" idx="5"/>
          </p:nvPr>
        </p:nvSpPr>
        <p:spPr/>
        <p:txBody>
          <a:bodyPr/>
          <a:lstStyle/>
          <a:p>
            <a:fld id="{AEEF2A5A-C802-40EB-AFC1-120433C5638E}" type="slidenum">
              <a:rPr lang="en-GB" smtClean="0"/>
              <a:t>10</a:t>
            </a:fld>
            <a:endParaRPr lang="en-GB"/>
          </a:p>
        </p:txBody>
      </p:sp>
    </p:spTree>
    <p:extLst>
      <p:ext uri="{BB962C8B-B14F-4D97-AF65-F5344CB8AC3E}">
        <p14:creationId xmlns:p14="http://schemas.microsoft.com/office/powerpoint/2010/main" val="203636745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Đây là luồng nghiệp vụ cốt lõi. Độc giả gửi yêu cầu mượn từ trang chi tiết sách, chỉ cần chọn ngày mượn và ngày trả; lúc này kho chưa bị trừ, để một yêu cầu bị bỏ quên không giữ sách vô thời hạn. Khi thủ thư duyệt, kho trừ một bản và độc giả nhận thông báo. Khi trả sách, thủ thư chọn tình trạng sách; hệ thống tự cộng kho, tự tạo phiếu phạt nếu trễ, hỏng hay mất, và báo cho người đứng đầu hàng chờ đặt trước. Em đã chạy thử luồng này trên giao diện thật: phiếu chuyển từ chờ duyệt sang đang mượn và kho giảm từ 12 xuống 11 bản.</a:t>
            </a:r>
            <a:endParaRPr lang="en-GB"/>
          </a:p>
        </p:txBody>
      </p:sp>
      <p:sp>
        <p:nvSpPr>
          <p:cNvPr id="4" name="Slide Number Placeholder 3"/>
          <p:cNvSpPr>
            <a:spLocks noGrp="1"/>
          </p:cNvSpPr>
          <p:nvPr>
            <p:ph type="sldNum" sz="quarter" idx="5"/>
          </p:nvPr>
        </p:nvSpPr>
        <p:spPr/>
        <p:txBody>
          <a:bodyPr/>
          <a:lstStyle/>
          <a:p>
            <a:fld id="{AEEF2A5A-C802-40EB-AFC1-120433C5638E}" type="slidenum">
              <a:rPr lang="en-GB" smtClean="0"/>
              <a:t>11</a:t>
            </a:fld>
            <a:endParaRPr lang="en-GB"/>
          </a:p>
        </p:txBody>
      </p:sp>
    </p:spTree>
    <p:extLst>
      <p:ext uri="{BB962C8B-B14F-4D97-AF65-F5344CB8AC3E}">
        <p14:creationId xmlns:p14="http://schemas.microsoft.com/office/powerpoint/2010/main" val="28272285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Hai tiện ích nổi bật. Bên trái là trợ lý AI: trước mỗi lần gọi mô hình ngôn ngữ lớn qua Groq, máy chủ lấy danh mục sách thật và lịch sử mượn của độc giả đưa vào lời nhắc, yêu cầu mô hình chỉ gợi ý sách có trong thư viện, rồi đối chiếu lại với cơ sở dữ liệu để hiện thẻ sách bấm mượn được ngay. Về dữ liệu cá nhân, hệ thống chỉ gửi tên và thể loại sách, không gửi thông tin định danh. AI vẫn có thể sai, ví dụ từng xếp nhầm một tác phẩm văn học Trung Quốc vào văn học Việt Nam, nên giao diện có dòng cảnh báo. Bên phải là màn hình tiền phạt: các con số đều do hệ thống tự tính theo quy tắc. Độc giả thanh toán trực tuyến qua VNPay hoặc MoMo ở môi trường sandbox.</a:t>
            </a:r>
            <a:endParaRPr lang="en-GB"/>
          </a:p>
        </p:txBody>
      </p:sp>
      <p:sp>
        <p:nvSpPr>
          <p:cNvPr id="4" name="Slide Number Placeholder 3"/>
          <p:cNvSpPr>
            <a:spLocks noGrp="1"/>
          </p:cNvSpPr>
          <p:nvPr>
            <p:ph type="sldNum" sz="quarter" idx="5"/>
          </p:nvPr>
        </p:nvSpPr>
        <p:spPr/>
        <p:txBody>
          <a:bodyPr/>
          <a:lstStyle/>
          <a:p>
            <a:fld id="{AEEF2A5A-C802-40EB-AFC1-120433C5638E}" type="slidenum">
              <a:rPr lang="en-GB" smtClean="0"/>
              <a:t>12</a:t>
            </a:fld>
            <a:endParaRPr lang="en-GB"/>
          </a:p>
        </p:txBody>
      </p:sp>
    </p:spTree>
    <p:extLst>
      <p:ext uri="{BB962C8B-B14F-4D97-AF65-F5344CB8AC3E}">
        <p14:creationId xmlns:p14="http://schemas.microsoft.com/office/powerpoint/2010/main" val="134840777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Vấn đề thứ năm là chủ nhà sách thiếu số liệu. Trang tổng quan hiện ngay các chỉ số chính, biểu đồ lượt mượn trả trong sáu tháng, cơ cấu sách theo danh mục, sách được mượn nhiều và độc giả tích cực. Trang báo cáo có năm loại báo cáo, xuất được Excel và PDF ngay trên trình duyệt. Ô quá hạn trên trang này trước đây luôn bằng 0 do lỗi; em đã sửa và kiểm thử lại, phần sau sẽ nói rõ.</a:t>
            </a:r>
            <a:endParaRPr lang="en-GB"/>
          </a:p>
        </p:txBody>
      </p:sp>
      <p:sp>
        <p:nvSpPr>
          <p:cNvPr id="4" name="Slide Number Placeholder 3"/>
          <p:cNvSpPr>
            <a:spLocks noGrp="1"/>
          </p:cNvSpPr>
          <p:nvPr>
            <p:ph type="sldNum" sz="quarter" idx="5"/>
          </p:nvPr>
        </p:nvSpPr>
        <p:spPr/>
        <p:txBody>
          <a:bodyPr/>
          <a:lstStyle/>
          <a:p>
            <a:fld id="{AEEF2A5A-C802-40EB-AFC1-120433C5638E}" type="slidenum">
              <a:rPr lang="en-GB" smtClean="0"/>
              <a:t>13</a:t>
            </a:fld>
            <a:endParaRPr lang="en-GB"/>
          </a:p>
        </p:txBody>
      </p:sp>
    </p:spTree>
    <p:extLst>
      <p:ext uri="{BB962C8B-B14F-4D97-AF65-F5344CB8AC3E}">
        <p14:creationId xmlns:p14="http://schemas.microsoft.com/office/powerpoint/2010/main" val="122735072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Em kiểm thử bằng ba cách. Kiểm thử chức năng hộp đen: 55 ca, gọi API như một ứng dụng thật, gồm cả trường hợp hợp lệ và ngoại lệ, phủ 22 trên 33 yêu cầu chức năng. Rà soát bảo mật bằng phân tích mã nguồn tĩnh, đối chiếu OWASP Top 10 năm 2025; em không thực hiện tấn công khai thác. Kiểm thử hiệu năng: API tra cứu sách có trung vị 95 mili giây, phân vị 95 là 151 mili giây với 20 kết nối đồng thời; trợ lý AI phản hồi khoảng 1,7 giây. Lần chạy đầu đạt 48 trên 55 ca; sau khi khắc phục lỗi quá hạn, chạy lại đạt 50 trên 55. Năm ca còn lại em trình bày ở phần hạn chế.</a:t>
            </a:r>
            <a:endParaRPr lang="en-GB"/>
          </a:p>
        </p:txBody>
      </p:sp>
      <p:sp>
        <p:nvSpPr>
          <p:cNvPr id="4" name="Slide Number Placeholder 3"/>
          <p:cNvSpPr>
            <a:spLocks noGrp="1"/>
          </p:cNvSpPr>
          <p:nvPr>
            <p:ph type="sldNum" sz="quarter" idx="5"/>
          </p:nvPr>
        </p:nvSpPr>
        <p:spPr/>
        <p:txBody>
          <a:bodyPr/>
          <a:lstStyle/>
          <a:p>
            <a:fld id="{AEEF2A5A-C802-40EB-AFC1-120433C5638E}" type="slidenum">
              <a:rPr lang="en-GB" smtClean="0"/>
              <a:t>14</a:t>
            </a:fld>
            <a:endParaRPr lang="en-GB"/>
          </a:p>
        </p:txBody>
      </p:sp>
    </p:spTree>
    <p:extLst>
      <p:ext uri="{BB962C8B-B14F-4D97-AF65-F5344CB8AC3E}">
        <p14:creationId xmlns:p14="http://schemas.microsoft.com/office/powerpoint/2010/main" val="222978472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Phần em muốn trình bày trung thực nhất. Lần rà soát đầu phát hiện sáu khiếm khuyết. Ba khiếm khuyết nghiêm trọng: đăng nhập Google chỉ giải mã ID token mà không xác minh chữ ký, nên có thể giả token để vào tài khoản người khác; API quên mật khẩu trả luôn mã OTP trong phản hồi; và đường dẫn nhận kết quả thanh toán không kiểm tra chữ ký, nên có thể giả kết quả để đánh dấu đã nộp phạt. Ba khiếm khuyết trung bình: hàm cập nhật quá hạn và hàm thu hồi giữ chỗ được viết nhưng không bao giờ được gọi, và khóa cổng thanh toán ghi cứng trong mã. Em đã sửa cả sáu và kiểm chứng: chạy kịch bản rà soát trên mã gốc vẫn báo đủ sáu lỗi, trên mã đã sửa đạt bảy trên bảy; thử token tự tạo và kết quả thanh toán giả đều bị từ chối. Em chưa thử lại bằng giao dịch sandbox thật và tài khoản Google thật sau khi sửa. Bài học: phải đọc kỹ tài liệu chính thức và rà soát bảo mật ngay trong lúc phát triển.</a:t>
            </a:r>
            <a:endParaRPr lang="en-GB"/>
          </a:p>
        </p:txBody>
      </p:sp>
      <p:sp>
        <p:nvSpPr>
          <p:cNvPr id="4" name="Slide Number Placeholder 3"/>
          <p:cNvSpPr>
            <a:spLocks noGrp="1"/>
          </p:cNvSpPr>
          <p:nvPr>
            <p:ph type="sldNum" sz="quarter" idx="5"/>
          </p:nvPr>
        </p:nvSpPr>
        <p:spPr/>
        <p:txBody>
          <a:bodyPr/>
          <a:lstStyle/>
          <a:p>
            <a:fld id="{AEEF2A5A-C802-40EB-AFC1-120433C5638E}" type="slidenum">
              <a:rPr lang="en-GB" smtClean="0"/>
              <a:t>15</a:t>
            </a:fld>
            <a:endParaRPr lang="en-GB"/>
          </a:p>
        </p:txBody>
      </p:sp>
    </p:spTree>
    <p:extLst>
      <p:ext uri="{BB962C8B-B14F-4D97-AF65-F5344CB8AC3E}">
        <p14:creationId xmlns:p14="http://schemas.microsoft.com/office/powerpoint/2010/main" val="329266069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Những hạn chế còn lại. Bên trái là năm ca kiểm thử chưa đạt, đều là lỗi cài đặt nhỏ và có hướng khắc phục rõ: đổi middleware để chỉ quản trị viên đọc cấu hình; mặc định lọc sách ẩn ở API công khai; giới hạn thời hạn mượn phía máy chủ; đánh dấu đặt trước hoàn tất khi người chờ đã mượn; cập nhật số bản mất và hỏng khi trả. Bên phải là phạm vi: giao diện chưa có nút đăng nhập Google và trang quên mật khẩu, dù máy chủ đã có API; hệ thống mới chạy cục bộ, chưa có HTTPS, thanh toán ở môi trường sandbox; và em chưa có kiểm thử tự động cho giao diện, chưa thử trên Firefox và điện thoại.</a:t>
            </a:r>
            <a:endParaRPr lang="en-GB"/>
          </a:p>
        </p:txBody>
      </p:sp>
      <p:sp>
        <p:nvSpPr>
          <p:cNvPr id="4" name="Slide Number Placeholder 3"/>
          <p:cNvSpPr>
            <a:spLocks noGrp="1"/>
          </p:cNvSpPr>
          <p:nvPr>
            <p:ph type="sldNum" sz="quarter" idx="5"/>
          </p:nvPr>
        </p:nvSpPr>
        <p:spPr/>
        <p:txBody>
          <a:bodyPr/>
          <a:lstStyle/>
          <a:p>
            <a:fld id="{AEEF2A5A-C802-40EB-AFC1-120433C5638E}" type="slidenum">
              <a:rPr lang="en-GB" smtClean="0"/>
              <a:t>16</a:t>
            </a:fld>
            <a:endParaRPr lang="en-GB"/>
          </a:p>
        </p:txBody>
      </p:sp>
    </p:spTree>
    <p:extLst>
      <p:ext uri="{BB962C8B-B14F-4D97-AF65-F5344CB8AC3E}">
        <p14:creationId xmlns:p14="http://schemas.microsoft.com/office/powerpoint/2010/main" val="344236279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Đồ án được tổ chức thành năm giai đoạn trong khoảng 15 tuần. Giai đoạn cài đặt dài nhất, chia theo phân hệ để phần máy chủ và giao diện phát triển gối đầu sau khi đã chốt thiết kế API. Kiểm thử bắt đầu trước khi cài đặt hoàn tất, và báo cáo được viết song song với kiểm thử. Đây là khung kế hoạch; em không lưu lại ngày thực tế của từng việc, mốc kiểm chứng được là ngày khởi tạo kho Git của máy chủ. Vì là đồ án cá nhân, em giữ kỷ luật bằng Git, Docker để môi trường đồng nhất, Prettier và ESLint cho phong cách mã, và một danh sách tự rà soát trước khi hoàn thành mỗi chức năng.</a:t>
            </a:r>
            <a:endParaRPr lang="en-GB"/>
          </a:p>
        </p:txBody>
      </p:sp>
      <p:sp>
        <p:nvSpPr>
          <p:cNvPr id="4" name="Slide Number Placeholder 3"/>
          <p:cNvSpPr>
            <a:spLocks noGrp="1"/>
          </p:cNvSpPr>
          <p:nvPr>
            <p:ph type="sldNum" sz="quarter" idx="5"/>
          </p:nvPr>
        </p:nvSpPr>
        <p:spPr/>
        <p:txBody>
          <a:bodyPr/>
          <a:lstStyle/>
          <a:p>
            <a:fld id="{AEEF2A5A-C802-40EB-AFC1-120433C5638E}" type="slidenum">
              <a:rPr lang="en-GB" smtClean="0"/>
              <a:t>17</a:t>
            </a:fld>
            <a:endParaRPr lang="en-GB"/>
          </a:p>
        </p:txBody>
      </p:sp>
    </p:spTree>
    <p:extLst>
      <p:ext uri="{BB962C8B-B14F-4D97-AF65-F5344CB8AC3E}">
        <p14:creationId xmlns:p14="http://schemas.microsoft.com/office/powerpoint/2010/main" val="172999187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Tóm lại, em đã xây dựng được hệ thống web số hóa trọn vòng đời mượn – trả cho nhà sách, có đặc tả và truy vết từ vấn đề tới kiểm thử, đạt 50 trên 55 ca kiểm thử chức năng, và đã phát hiện, khắc phục sáu khiếm khuyết bảo mật. Hướng tiếp theo: sửa năm lỗi còn lại, bổ sung giao diện đăng nhập Google và trang quên mật khẩu, thêm kiểm thử tự động cho giao diện cùng CI, rồi triển khai thật với HTTPS và cổng thanh toán thật.</a:t>
            </a:r>
            <a:endParaRPr lang="en-GB"/>
          </a:p>
        </p:txBody>
      </p:sp>
      <p:sp>
        <p:nvSpPr>
          <p:cNvPr id="4" name="Slide Number Placeholder 3"/>
          <p:cNvSpPr>
            <a:spLocks noGrp="1"/>
          </p:cNvSpPr>
          <p:nvPr>
            <p:ph type="sldNum" sz="quarter" idx="5"/>
          </p:nvPr>
        </p:nvSpPr>
        <p:spPr/>
        <p:txBody>
          <a:bodyPr/>
          <a:lstStyle/>
          <a:p>
            <a:fld id="{AEEF2A5A-C802-40EB-AFC1-120433C5638E}" type="slidenum">
              <a:rPr lang="en-GB" smtClean="0"/>
              <a:t>18</a:t>
            </a:fld>
            <a:endParaRPr lang="en-GB"/>
          </a:p>
        </p:txBody>
      </p:sp>
    </p:spTree>
    <p:extLst>
      <p:ext uri="{BB962C8B-B14F-4D97-AF65-F5344CB8AC3E}">
        <p14:creationId xmlns:p14="http://schemas.microsoft.com/office/powerpoint/2010/main" val="177195612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Em xin cảm ơn thầy cô đã lắng nghe. Mã nguồn và báo cáo có trên GitHub theo đường dẫn trên màn hình. Em rất mong nhận được câu hỏi và góp ý của thầy cô.</a:t>
            </a:r>
            <a:endParaRPr lang="en-GB"/>
          </a:p>
        </p:txBody>
      </p:sp>
      <p:sp>
        <p:nvSpPr>
          <p:cNvPr id="4" name="Slide Number Placeholder 3"/>
          <p:cNvSpPr>
            <a:spLocks noGrp="1"/>
          </p:cNvSpPr>
          <p:nvPr>
            <p:ph type="sldNum" sz="quarter" idx="5"/>
          </p:nvPr>
        </p:nvSpPr>
        <p:spPr/>
        <p:txBody>
          <a:bodyPr/>
          <a:lstStyle/>
          <a:p>
            <a:fld id="{AEEF2A5A-C802-40EB-AFC1-120433C5638E}" type="slidenum">
              <a:rPr lang="en-GB" smtClean="0"/>
              <a:t>19</a:t>
            </a:fld>
            <a:endParaRPr lang="en-GB"/>
          </a:p>
        </p:txBody>
      </p:sp>
    </p:spTree>
    <p:extLst>
      <p:ext uri="{BB962C8B-B14F-4D97-AF65-F5344CB8AC3E}">
        <p14:creationId xmlns:p14="http://schemas.microsoft.com/office/powerpoint/2010/main" val="73089740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785026" y="6353004"/>
            <a:ext cx="2743200" cy="365125"/>
          </a:xfrm>
        </p:spPr>
        <p:txBody>
          <a:bodyPr/>
          <a:lstStyle/>
          <a:p>
            <a:fld id="{154F4D4A-FD71-41E6-BED5-CF551BFDBC37}" type="datetimeFigureOut">
              <a:rPr lang="en-US" smtClean="0"/>
              <a:t>10/26/2026</a:t>
            </a:fld>
            <a:endParaRPr lang="en-US" dirty="0"/>
          </a:p>
        </p:txBody>
      </p:sp>
      <p:sp>
        <p:nvSpPr>
          <p:cNvPr id="5" name="Footer Placeholder 4"/>
          <p:cNvSpPr>
            <a:spLocks noGrp="1"/>
          </p:cNvSpPr>
          <p:nvPr>
            <p:ph type="ftr" sz="quarter" idx="11"/>
          </p:nvPr>
        </p:nvSpPr>
        <p:spPr>
          <a:xfrm>
            <a:off x="4140198" y="6356350"/>
            <a:ext cx="4114800" cy="365125"/>
          </a:xfrm>
        </p:spPr>
        <p:txBody>
          <a:bodyPr/>
          <a:lstStyle/>
          <a:p>
            <a:endParaRPr lang="en-US"/>
          </a:p>
        </p:txBody>
      </p:sp>
      <p:sp>
        <p:nvSpPr>
          <p:cNvPr id="6" name="Slide Number Placeholder 5"/>
          <p:cNvSpPr>
            <a:spLocks noGrp="1"/>
          </p:cNvSpPr>
          <p:nvPr>
            <p:ph type="sldNum" sz="quarter" idx="12"/>
          </p:nvPr>
        </p:nvSpPr>
        <p:spPr>
          <a:xfrm>
            <a:off x="8828310" y="6356350"/>
            <a:ext cx="2743200" cy="365125"/>
          </a:xfrm>
        </p:spPr>
        <p:txBody>
          <a:bodyPr/>
          <a:lstStyle/>
          <a:p>
            <a:fld id="{086B6608-6F69-448F-99DC-C9E613BFB696}" type="slidenum">
              <a:rPr lang="en-US" smtClean="0"/>
              <a:t>‹#›</a:t>
            </a:fld>
            <a:endParaRPr lang="en-US"/>
          </a:p>
        </p:txBody>
      </p:sp>
      <p:sp>
        <p:nvSpPr>
          <p:cNvPr id="2" name="Rectangle 1"/>
          <p:cNvSpPr/>
          <p:nvPr userDrawn="1"/>
        </p:nvSpPr>
        <p:spPr>
          <a:xfrm>
            <a:off x="0" y="0"/>
            <a:ext cx="12192000" cy="6486525"/>
          </a:xfrm>
          <a:prstGeom prst="rect">
            <a:avLst/>
          </a:prstGeom>
          <a:solidFill>
            <a:srgbClr val="22377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itle 1"/>
          <p:cNvSpPr>
            <a:spLocks noGrp="1"/>
          </p:cNvSpPr>
          <p:nvPr>
            <p:ph type="ctrTitle" hasCustomPrompt="1"/>
          </p:nvPr>
        </p:nvSpPr>
        <p:spPr>
          <a:xfrm>
            <a:off x="872110" y="-2030424"/>
            <a:ext cx="10583741" cy="997492"/>
          </a:xfrm>
          <a:prstGeom prst="rect">
            <a:avLst/>
          </a:prstGeom>
        </p:spPr>
        <p:txBody>
          <a:bodyPr anchor="b">
            <a:normAutofit/>
          </a:bodyPr>
          <a:lstStyle>
            <a:lvl1pPr algn="ctr">
              <a:defRPr sz="4800" b="1" baseline="0">
                <a:solidFill>
                  <a:schemeClr val="bg1"/>
                </a:solidFill>
                <a:latin typeface="Arial" panose="020B0604020202020204" pitchFamily="34" charset="0"/>
                <a:cs typeface="Arial" panose="020B0604020202020204" pitchFamily="34" charset="0"/>
              </a:defRPr>
            </a:lvl1pPr>
          </a:lstStyle>
          <a:p>
            <a:r>
              <a:rPr lang="en-US" dirty="0"/>
              <a:t>CHỦ ĐỀ</a:t>
            </a:r>
          </a:p>
        </p:txBody>
      </p:sp>
      <p:sp>
        <p:nvSpPr>
          <p:cNvPr id="10" name="Subtitle 2"/>
          <p:cNvSpPr>
            <a:spLocks noGrp="1"/>
          </p:cNvSpPr>
          <p:nvPr>
            <p:ph type="subTitle" idx="1" hasCustomPrompt="1"/>
          </p:nvPr>
        </p:nvSpPr>
        <p:spPr>
          <a:xfrm>
            <a:off x="872110" y="-782219"/>
            <a:ext cx="10583741" cy="384905"/>
          </a:xfrm>
          <a:prstGeom prst="rect">
            <a:avLst/>
          </a:prstGeom>
        </p:spPr>
        <p:txBody>
          <a:bodyPr/>
          <a:lstStyle>
            <a:lvl1pPr marL="0" indent="0" algn="ctr">
              <a:buNone/>
              <a:defRPr sz="2400" baseline="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err="1"/>
              <a:t>Nội</a:t>
            </a:r>
            <a:r>
              <a:rPr lang="en-US" dirty="0"/>
              <a:t> dung</a:t>
            </a:r>
          </a:p>
        </p:txBody>
      </p:sp>
      <p:pic>
        <p:nvPicPr>
          <p:cNvPr id="3" name="Picture 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878397" y="1582451"/>
            <a:ext cx="8678656" cy="1787955"/>
          </a:xfrm>
          <a:prstGeom prst="rect">
            <a:avLst/>
          </a:prstGeom>
        </p:spPr>
      </p:pic>
    </p:spTree>
    <p:extLst>
      <p:ext uri="{BB962C8B-B14F-4D97-AF65-F5344CB8AC3E}">
        <p14:creationId xmlns:p14="http://schemas.microsoft.com/office/powerpoint/2010/main" val="4354435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82794" y="6362529"/>
            <a:ext cx="2743200" cy="365125"/>
          </a:xfrm>
        </p:spPr>
        <p:txBody>
          <a:bodyPr/>
          <a:lstStyle/>
          <a:p>
            <a:fld id="{154F4D4A-FD71-41E6-BED5-CF551BFDBC37}" type="datetimeFigureOut">
              <a:rPr lang="en-US" smtClean="0"/>
              <a:t>10/26/2026</a:t>
            </a:fld>
            <a:endParaRPr lang="en-US" dirty="0"/>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9308593" y="6356350"/>
            <a:ext cx="2743200" cy="365125"/>
          </a:xfrm>
        </p:spPr>
        <p:txBody>
          <a:bodyPr/>
          <a:lstStyle/>
          <a:p>
            <a:fld id="{086B6608-6F69-448F-99DC-C9E613BFB696}" type="slidenum">
              <a:rPr lang="en-US" smtClean="0"/>
              <a:t>‹#›</a:t>
            </a:fld>
            <a:endParaRPr lang="en-US"/>
          </a:p>
        </p:txBody>
      </p:sp>
      <p:sp>
        <p:nvSpPr>
          <p:cNvPr id="8" name="TextBox 7">
            <a:extLst>
              <a:ext uri="{FF2B5EF4-FFF2-40B4-BE49-F238E27FC236}">
                <a16:creationId xmlns:a16="http://schemas.microsoft.com/office/drawing/2014/main" id="{1A142D89-B98B-F946-A31D-7ACA5974D791}"/>
              </a:ext>
            </a:extLst>
          </p:cNvPr>
          <p:cNvSpPr txBox="1"/>
          <p:nvPr userDrawn="1"/>
        </p:nvSpPr>
        <p:spPr>
          <a:xfrm>
            <a:off x="10405835" y="6593718"/>
            <a:ext cx="1653425" cy="184666"/>
          </a:xfrm>
          <a:prstGeom prst="rect">
            <a:avLst/>
          </a:prstGeom>
          <a:noFill/>
        </p:spPr>
        <p:txBody>
          <a:bodyPr wrap="square" lIns="0" tIns="0" rIns="0" bIns="0" rtlCol="0" anchor="ctr" anchorCtr="0">
            <a:spAutoFit/>
          </a:bodyPr>
          <a:lstStyle/>
          <a:p>
            <a:r>
              <a:rPr lang="en-US" sz="1200" dirty="0">
                <a:solidFill>
                  <a:schemeClr val="bg1"/>
                </a:solidFill>
                <a:latin typeface="UTM Avo" panose="02040603050506020204" pitchFamily="18" charset="0"/>
              </a:rPr>
              <a:t>phenikaa-uni.edu.vn</a:t>
            </a:r>
          </a:p>
        </p:txBody>
      </p:sp>
      <p:sp>
        <p:nvSpPr>
          <p:cNvPr id="13" name="Title 1"/>
          <p:cNvSpPr>
            <a:spLocks noGrp="1"/>
          </p:cNvSpPr>
          <p:nvPr>
            <p:ph type="title" hasCustomPrompt="1"/>
          </p:nvPr>
        </p:nvSpPr>
        <p:spPr>
          <a:xfrm>
            <a:off x="324528" y="227160"/>
            <a:ext cx="8061101" cy="553289"/>
          </a:xfrm>
          <a:prstGeom prst="rect">
            <a:avLst/>
          </a:prstGeom>
        </p:spPr>
        <p:txBody>
          <a:bodyPr>
            <a:normAutofit/>
          </a:bodyPr>
          <a:lstStyle>
            <a:lvl1pPr>
              <a:defRPr sz="3300" b="1" baseline="0">
                <a:solidFill>
                  <a:srgbClr val="223771"/>
                </a:solidFill>
              </a:defRPr>
            </a:lvl1pPr>
          </a:lstStyle>
          <a:p>
            <a:r>
              <a:rPr lang="en-US" dirty="0"/>
              <a:t>CHỦ ĐỀ</a:t>
            </a:r>
          </a:p>
        </p:txBody>
      </p:sp>
      <p:pic>
        <p:nvPicPr>
          <p:cNvPr id="2" name="Picture 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180418" y="235206"/>
            <a:ext cx="2732129" cy="550220"/>
          </a:xfrm>
          <a:prstGeom prst="rect">
            <a:avLst/>
          </a:prstGeom>
        </p:spPr>
      </p:pic>
    </p:spTree>
    <p:extLst>
      <p:ext uri="{BB962C8B-B14F-4D97-AF65-F5344CB8AC3E}">
        <p14:creationId xmlns:p14="http://schemas.microsoft.com/office/powerpoint/2010/main" val="35123124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154F4D4A-FD71-41E6-BED5-CF551BFDBC37}" type="datetimeFigureOut">
              <a:rPr lang="en-US" smtClean="0"/>
              <a:t>10/26/2026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86B6608-6F69-448F-99DC-C9E613BFB696}" type="slidenum">
              <a:rPr lang="en-US" smtClean="0"/>
              <a:t>‹#›</a:t>
            </a:fld>
            <a:endParaRPr lang="en-US"/>
          </a:p>
        </p:txBody>
      </p:sp>
      <p:sp>
        <p:nvSpPr>
          <p:cNvPr id="12" name="Title 1"/>
          <p:cNvSpPr>
            <a:spLocks noGrp="1"/>
          </p:cNvSpPr>
          <p:nvPr>
            <p:ph type="title" hasCustomPrompt="1"/>
          </p:nvPr>
        </p:nvSpPr>
        <p:spPr>
          <a:xfrm>
            <a:off x="324528" y="227160"/>
            <a:ext cx="8061101" cy="553289"/>
          </a:xfrm>
          <a:prstGeom prst="rect">
            <a:avLst/>
          </a:prstGeom>
        </p:spPr>
        <p:txBody>
          <a:bodyPr>
            <a:normAutofit/>
          </a:bodyPr>
          <a:lstStyle>
            <a:lvl1pPr>
              <a:defRPr sz="3300" b="1" baseline="0">
                <a:solidFill>
                  <a:srgbClr val="223771"/>
                </a:solidFill>
              </a:defRPr>
            </a:lvl1pPr>
          </a:lstStyle>
          <a:p>
            <a:r>
              <a:rPr lang="en-US" dirty="0"/>
              <a:t>CHỦ ĐỀ</a:t>
            </a:r>
          </a:p>
        </p:txBody>
      </p:sp>
      <p:pic>
        <p:nvPicPr>
          <p:cNvPr id="7" name="Picture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180418" y="235206"/>
            <a:ext cx="2732129" cy="550220"/>
          </a:xfrm>
          <a:prstGeom prst="rect">
            <a:avLst/>
          </a:prstGeom>
        </p:spPr>
      </p:pic>
    </p:spTree>
    <p:extLst>
      <p:ext uri="{BB962C8B-B14F-4D97-AF65-F5344CB8AC3E}">
        <p14:creationId xmlns:p14="http://schemas.microsoft.com/office/powerpoint/2010/main" val="16559054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154F4D4A-FD71-41E6-BED5-CF551BFDBC37}" type="datetimeFigureOut">
              <a:rPr lang="en-US" smtClean="0"/>
              <a:t>10/26/2026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86B6608-6F69-448F-99DC-C9E613BFB696}" type="slidenum">
              <a:rPr lang="en-US" smtClean="0"/>
              <a:t>‹#›</a:t>
            </a:fld>
            <a:endParaRPr lang="en-US"/>
          </a:p>
        </p:txBody>
      </p:sp>
      <p:sp>
        <p:nvSpPr>
          <p:cNvPr id="12" name="Title 1"/>
          <p:cNvSpPr>
            <a:spLocks noGrp="1"/>
          </p:cNvSpPr>
          <p:nvPr>
            <p:ph type="title" hasCustomPrompt="1"/>
          </p:nvPr>
        </p:nvSpPr>
        <p:spPr>
          <a:xfrm>
            <a:off x="324528" y="227160"/>
            <a:ext cx="8061101" cy="553289"/>
          </a:xfrm>
          <a:prstGeom prst="rect">
            <a:avLst/>
          </a:prstGeom>
        </p:spPr>
        <p:txBody>
          <a:bodyPr>
            <a:normAutofit/>
          </a:bodyPr>
          <a:lstStyle>
            <a:lvl1pPr>
              <a:defRPr sz="3300" b="1" baseline="0">
                <a:solidFill>
                  <a:srgbClr val="223771"/>
                </a:solidFill>
              </a:defRPr>
            </a:lvl1pPr>
          </a:lstStyle>
          <a:p>
            <a:r>
              <a:rPr lang="en-US" dirty="0"/>
              <a:t>CHỦ ĐỀ</a:t>
            </a:r>
          </a:p>
        </p:txBody>
      </p:sp>
      <p:pic>
        <p:nvPicPr>
          <p:cNvPr id="7" name="Picture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180418" y="235206"/>
            <a:ext cx="2732129" cy="550220"/>
          </a:xfrm>
          <a:prstGeom prst="rect">
            <a:avLst/>
          </a:prstGeom>
        </p:spPr>
      </p:pic>
    </p:spTree>
    <p:extLst>
      <p:ext uri="{BB962C8B-B14F-4D97-AF65-F5344CB8AC3E}">
        <p14:creationId xmlns:p14="http://schemas.microsoft.com/office/powerpoint/2010/main" val="23584886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3_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154F4D4A-FD71-41E6-BED5-CF551BFDBC37}" type="datetimeFigureOut">
              <a:rPr lang="en-US" smtClean="0"/>
              <a:t>10/26/2026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86B6608-6F69-448F-99DC-C9E613BFB696}" type="slidenum">
              <a:rPr lang="en-US" smtClean="0"/>
              <a:t>‹#›</a:t>
            </a:fld>
            <a:endParaRPr lang="en-US"/>
          </a:p>
        </p:txBody>
      </p:sp>
      <p:sp>
        <p:nvSpPr>
          <p:cNvPr id="14" name="Title 1"/>
          <p:cNvSpPr>
            <a:spLocks noGrp="1"/>
          </p:cNvSpPr>
          <p:nvPr>
            <p:ph type="title" hasCustomPrompt="1"/>
          </p:nvPr>
        </p:nvSpPr>
        <p:spPr>
          <a:xfrm>
            <a:off x="324528" y="227160"/>
            <a:ext cx="8061101" cy="553289"/>
          </a:xfrm>
          <a:prstGeom prst="rect">
            <a:avLst/>
          </a:prstGeom>
        </p:spPr>
        <p:txBody>
          <a:bodyPr>
            <a:normAutofit/>
          </a:bodyPr>
          <a:lstStyle>
            <a:lvl1pPr>
              <a:defRPr sz="3300" b="1" baseline="0">
                <a:solidFill>
                  <a:srgbClr val="223771"/>
                </a:solidFill>
              </a:defRPr>
            </a:lvl1pPr>
          </a:lstStyle>
          <a:p>
            <a:r>
              <a:rPr lang="en-US" dirty="0"/>
              <a:t>CHỦ ĐỀ</a:t>
            </a:r>
          </a:p>
        </p:txBody>
      </p:sp>
      <p:pic>
        <p:nvPicPr>
          <p:cNvPr id="7" name="Picture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180418" y="235206"/>
            <a:ext cx="2732129" cy="550220"/>
          </a:xfrm>
          <a:prstGeom prst="rect">
            <a:avLst/>
          </a:prstGeom>
        </p:spPr>
      </p:pic>
    </p:spTree>
    <p:extLst>
      <p:ext uri="{BB962C8B-B14F-4D97-AF65-F5344CB8AC3E}">
        <p14:creationId xmlns:p14="http://schemas.microsoft.com/office/powerpoint/2010/main" val="16390151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1_Title Slide">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7263685" y="2846231"/>
            <a:ext cx="4417452" cy="1460428"/>
          </a:xfrm>
          <a:prstGeom prst="rect">
            <a:avLst/>
          </a:prstGeom>
        </p:spPr>
        <p:txBody>
          <a:bodyPr anchor="b">
            <a:normAutofit/>
          </a:bodyPr>
          <a:lstStyle>
            <a:lvl1pPr algn="r">
              <a:defRPr sz="5600" b="1" baseline="0">
                <a:solidFill>
                  <a:srgbClr val="223771"/>
                </a:solidFill>
                <a:latin typeface="Arial" panose="020B0604020202020204" pitchFamily="34" charset="0"/>
                <a:cs typeface="Arial" panose="020B0604020202020204" pitchFamily="34" charset="0"/>
              </a:defRPr>
            </a:lvl1pPr>
          </a:lstStyle>
          <a:p>
            <a:r>
              <a:rPr lang="en-US" dirty="0"/>
              <a:t>CHỦ ĐỀ</a:t>
            </a:r>
          </a:p>
        </p:txBody>
      </p:sp>
      <p:sp>
        <p:nvSpPr>
          <p:cNvPr id="3" name="Subtitle 2"/>
          <p:cNvSpPr>
            <a:spLocks noGrp="1"/>
          </p:cNvSpPr>
          <p:nvPr>
            <p:ph type="subTitle" idx="1" hasCustomPrompt="1"/>
          </p:nvPr>
        </p:nvSpPr>
        <p:spPr>
          <a:xfrm>
            <a:off x="7263685" y="4429523"/>
            <a:ext cx="4417452" cy="750072"/>
          </a:xfrm>
          <a:prstGeom prst="rect">
            <a:avLst/>
          </a:prstGeom>
        </p:spPr>
        <p:txBody>
          <a:bodyPr/>
          <a:lstStyle>
            <a:lvl1pPr marL="0" indent="0" algn="r">
              <a:buNone/>
              <a:defRPr sz="240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err="1"/>
              <a:t>Nội</a:t>
            </a:r>
            <a:r>
              <a:rPr lang="en-US" dirty="0"/>
              <a:t> dung</a:t>
            </a:r>
          </a:p>
        </p:txBody>
      </p:sp>
      <p:sp>
        <p:nvSpPr>
          <p:cNvPr id="4" name="Date Placeholder 3"/>
          <p:cNvSpPr>
            <a:spLocks noGrp="1"/>
          </p:cNvSpPr>
          <p:nvPr>
            <p:ph type="dt" sz="half" idx="10"/>
          </p:nvPr>
        </p:nvSpPr>
        <p:spPr/>
        <p:txBody>
          <a:bodyPr/>
          <a:lstStyle/>
          <a:p>
            <a:fld id="{154F4D4A-FD71-41E6-BED5-CF551BFDBC37}" type="datetimeFigureOut">
              <a:rPr lang="en-US" smtClean="0"/>
              <a:t>10/26/2026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86B6608-6F69-448F-99DC-C9E613BFB696}" type="slidenum">
              <a:rPr lang="en-US" smtClean="0"/>
              <a:t>‹#›</a:t>
            </a:fld>
            <a:endParaRPr lang="en-US"/>
          </a:p>
        </p:txBody>
      </p:sp>
      <p:sp>
        <p:nvSpPr>
          <p:cNvPr id="11" name="Content Placeholder 2"/>
          <p:cNvSpPr>
            <a:spLocks noGrp="1"/>
          </p:cNvSpPr>
          <p:nvPr>
            <p:ph idx="13" hasCustomPrompt="1"/>
          </p:nvPr>
        </p:nvSpPr>
        <p:spPr>
          <a:xfrm>
            <a:off x="1" y="862149"/>
            <a:ext cx="7096258" cy="5631943"/>
          </a:xfrm>
          <a:prstGeom prst="rect">
            <a:avLst/>
          </a:prstGeom>
        </p:spPr>
        <p:txBody>
          <a:bodyPr/>
          <a:lstStyle>
            <a:lvl1pPr marL="0" indent="0">
              <a:buNone/>
              <a:defRPr baseline="0"/>
            </a:lvl1pPr>
          </a:lstStyle>
          <a:p>
            <a:pPr lvl="0"/>
            <a:r>
              <a:rPr lang="en-US"/>
              <a:t>Hình ảnh</a:t>
            </a:r>
          </a:p>
        </p:txBody>
      </p:sp>
      <p:pic>
        <p:nvPicPr>
          <p:cNvPr id="9" name="Picture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180418" y="235206"/>
            <a:ext cx="2732129" cy="550220"/>
          </a:xfrm>
          <a:prstGeom prst="rect">
            <a:avLst/>
          </a:prstGeom>
        </p:spPr>
      </p:pic>
    </p:spTree>
    <p:extLst>
      <p:ext uri="{BB962C8B-B14F-4D97-AF65-F5344CB8AC3E}">
        <p14:creationId xmlns:p14="http://schemas.microsoft.com/office/powerpoint/2010/main" val="18957389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154F4D4A-FD71-41E6-BED5-CF551BFDBC37}" type="datetimeFigureOut">
              <a:rPr lang="en-US" smtClean="0"/>
              <a:t>10/26/2026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86B6608-6F69-448F-99DC-C9E613BFB696}" type="slidenum">
              <a:rPr lang="en-US" smtClean="0"/>
              <a:t>‹#›</a:t>
            </a:fld>
            <a:endParaRPr lang="en-US"/>
          </a:p>
        </p:txBody>
      </p:sp>
      <p:sp>
        <p:nvSpPr>
          <p:cNvPr id="11" name="Title 1"/>
          <p:cNvSpPr txBox="1">
            <a:spLocks/>
          </p:cNvSpPr>
          <p:nvPr userDrawn="1"/>
        </p:nvSpPr>
        <p:spPr>
          <a:xfrm>
            <a:off x="324528" y="227160"/>
            <a:ext cx="8061101" cy="553289"/>
          </a:xfrm>
          <a:prstGeom prst="rect">
            <a:avLst/>
          </a:prstGeom>
        </p:spPr>
        <p:txBody>
          <a:bodyPr>
            <a:normAutofit/>
          </a:bodyPr>
          <a:lstStyle>
            <a:lvl1pPr algn="l" defTabSz="914400" rtl="0" eaLnBrk="1" latinLnBrk="0" hangingPunct="1">
              <a:lnSpc>
                <a:spcPct val="90000"/>
              </a:lnSpc>
              <a:spcBef>
                <a:spcPct val="0"/>
              </a:spcBef>
              <a:buNone/>
              <a:defRPr sz="3000" b="1" kern="1200" baseline="0">
                <a:solidFill>
                  <a:srgbClr val="223771"/>
                </a:solidFill>
                <a:latin typeface="Arial" panose="020B0604020202020204" pitchFamily="34" charset="0"/>
                <a:ea typeface="+mj-ea"/>
                <a:cs typeface="Arial" panose="020B0604020202020204" pitchFamily="34" charset="0"/>
              </a:defRPr>
            </a:lvl1pPr>
          </a:lstStyle>
          <a:p>
            <a:r>
              <a:rPr lang="en-US"/>
              <a:t>CHỦ ĐỀ</a:t>
            </a:r>
            <a:endParaRPr lang="en-US" dirty="0"/>
          </a:p>
        </p:txBody>
      </p:sp>
      <p:pic>
        <p:nvPicPr>
          <p:cNvPr id="9" name="Picture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180418" y="235206"/>
            <a:ext cx="2732129" cy="550220"/>
          </a:xfrm>
          <a:prstGeom prst="rect">
            <a:avLst/>
          </a:prstGeom>
        </p:spPr>
      </p:pic>
    </p:spTree>
    <p:extLst>
      <p:ext uri="{BB962C8B-B14F-4D97-AF65-F5344CB8AC3E}">
        <p14:creationId xmlns:p14="http://schemas.microsoft.com/office/powerpoint/2010/main" val="13664643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01899" y="351789"/>
            <a:ext cx="8061101" cy="922762"/>
          </a:xfrm>
          <a:prstGeom prst="rect">
            <a:avLst/>
          </a:prstGeom>
        </p:spPr>
        <p:txBody>
          <a:bodyPr>
            <a:normAutofit/>
          </a:bodyPr>
          <a:lstStyle>
            <a:lvl1pPr>
              <a:defRPr sz="3000" b="1">
                <a:solidFill>
                  <a:srgbClr val="223771"/>
                </a:solidFill>
              </a:defRPr>
            </a:lvl1pPr>
          </a:lstStyle>
          <a:p>
            <a:r>
              <a:rPr lang="en-US" dirty="0" err="1"/>
              <a:t>Chủ</a:t>
            </a:r>
            <a:r>
              <a:rPr lang="en-US" dirty="0"/>
              <a:t> </a:t>
            </a:r>
            <a:r>
              <a:rPr lang="en-US" dirty="0" err="1"/>
              <a:t>đề</a:t>
            </a:r>
            <a:endParaRPr lang="en-US" dirty="0"/>
          </a:p>
        </p:txBody>
      </p:sp>
      <p:sp>
        <p:nvSpPr>
          <p:cNvPr id="3" name="Content Placeholder 2"/>
          <p:cNvSpPr>
            <a:spLocks noGrp="1"/>
          </p:cNvSpPr>
          <p:nvPr>
            <p:ph sz="half" idx="1"/>
          </p:nvPr>
        </p:nvSpPr>
        <p:spPr>
          <a:xfrm>
            <a:off x="701899" y="1639781"/>
            <a:ext cx="3336702" cy="4351338"/>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11710" y="1639781"/>
            <a:ext cx="3331872" cy="4351338"/>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54F4D4A-FD71-41E6-BED5-CF551BFDBC37}" type="datetimeFigureOut">
              <a:rPr lang="en-US" smtClean="0"/>
              <a:t>10/26/2026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86B6608-6F69-448F-99DC-C9E613BFB696}" type="slidenum">
              <a:rPr lang="en-US" smtClean="0"/>
              <a:t>‹#›</a:t>
            </a:fld>
            <a:endParaRPr lang="en-US"/>
          </a:p>
        </p:txBody>
      </p:sp>
      <p:sp>
        <p:nvSpPr>
          <p:cNvPr id="9" name="Content Placeholder 3"/>
          <p:cNvSpPr>
            <a:spLocks noGrp="1"/>
          </p:cNvSpPr>
          <p:nvPr>
            <p:ph sz="half" idx="13"/>
          </p:nvPr>
        </p:nvSpPr>
        <p:spPr>
          <a:xfrm>
            <a:off x="8426539" y="1639781"/>
            <a:ext cx="3331872" cy="4351338"/>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pic>
        <p:nvPicPr>
          <p:cNvPr id="11" name="Picture 10"/>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180418" y="235206"/>
            <a:ext cx="2732129" cy="550220"/>
          </a:xfrm>
          <a:prstGeom prst="rect">
            <a:avLst/>
          </a:prstGeom>
        </p:spPr>
      </p:pic>
    </p:spTree>
    <p:extLst>
      <p:ext uri="{BB962C8B-B14F-4D97-AF65-F5344CB8AC3E}">
        <p14:creationId xmlns:p14="http://schemas.microsoft.com/office/powerpoint/2010/main" val="34695456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154F4D4A-FD71-41E6-BED5-CF551BFDBC37}" type="datetimeFigureOut">
              <a:rPr lang="en-US" smtClean="0"/>
              <a:t>10/26/2026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86B6608-6F69-448F-99DC-C9E613BFB696}" type="slidenum">
              <a:rPr lang="en-US" smtClean="0"/>
              <a:t>‹#›</a:t>
            </a:fld>
            <a:endParaRPr lang="en-US"/>
          </a:p>
        </p:txBody>
      </p:sp>
      <p:pic>
        <p:nvPicPr>
          <p:cNvPr id="6" name="Picture 5"/>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43692" y="90029"/>
            <a:ext cx="2539035" cy="511333"/>
          </a:xfrm>
          <a:prstGeom prst="rect">
            <a:avLst/>
          </a:prstGeom>
        </p:spPr>
      </p:pic>
    </p:spTree>
    <p:extLst>
      <p:ext uri="{BB962C8B-B14F-4D97-AF65-F5344CB8AC3E}">
        <p14:creationId xmlns:p14="http://schemas.microsoft.com/office/powerpoint/2010/main" val="3749078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54F4D4A-FD71-41E6-BED5-CF551BFDBC37}" type="datetimeFigureOut">
              <a:rPr lang="en-US" smtClean="0"/>
              <a:t>10/26/2026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86B6608-6F69-448F-99DC-C9E613BFB696}" type="slidenum">
              <a:rPr lang="en-US" smtClean="0"/>
              <a:t>‹#›</a:t>
            </a:fld>
            <a:endParaRPr lang="en-US"/>
          </a:p>
        </p:txBody>
      </p:sp>
      <p:pic>
        <p:nvPicPr>
          <p:cNvPr id="6" name="Picture 5"/>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180418" y="235206"/>
            <a:ext cx="2732129" cy="550220"/>
          </a:xfrm>
          <a:prstGeom prst="rect">
            <a:avLst/>
          </a:prstGeom>
        </p:spPr>
      </p:pic>
    </p:spTree>
    <p:extLst>
      <p:ext uri="{BB962C8B-B14F-4D97-AF65-F5344CB8AC3E}">
        <p14:creationId xmlns:p14="http://schemas.microsoft.com/office/powerpoint/2010/main" val="18033151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a:prstGeom prst="rect">
            <a:avLst/>
          </a:prstGeo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54F4D4A-FD71-41E6-BED5-CF551BFDBC37}" type="datetimeFigureOut">
              <a:rPr lang="en-US" smtClean="0"/>
              <a:t>10/26/2026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86B6608-6F69-448F-99DC-C9E613BFB696}" type="slidenum">
              <a:rPr lang="en-US" smtClean="0"/>
              <a:t>‹#›</a:t>
            </a:fld>
            <a:endParaRPr lang="en-US"/>
          </a:p>
        </p:txBody>
      </p:sp>
      <p:pic>
        <p:nvPicPr>
          <p:cNvPr id="8" name="Picture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43692" y="90029"/>
            <a:ext cx="2539035" cy="511333"/>
          </a:xfrm>
          <a:prstGeom prst="rect">
            <a:avLst/>
          </a:prstGeom>
        </p:spPr>
      </p:pic>
    </p:spTree>
    <p:extLst>
      <p:ext uri="{BB962C8B-B14F-4D97-AF65-F5344CB8AC3E}">
        <p14:creationId xmlns:p14="http://schemas.microsoft.com/office/powerpoint/2010/main" val="19153003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57AE6AC-9427-433F-AC00-F723CA5DD87C}"/>
              </a:ext>
            </a:extLst>
          </p:cNvPr>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2467" y="0"/>
            <a:ext cx="12187066" cy="6858000"/>
          </a:xfrm>
          <a:prstGeom prst="rect">
            <a:avLst/>
          </a:prstGeom>
        </p:spPr>
      </p:pic>
      <p:sp>
        <p:nvSpPr>
          <p:cNvPr id="4" name="Date Placeholder 3"/>
          <p:cNvSpPr>
            <a:spLocks noGrp="1"/>
          </p:cNvSpPr>
          <p:nvPr>
            <p:ph type="dt" sz="half" idx="2"/>
          </p:nvPr>
        </p:nvSpPr>
        <p:spPr>
          <a:xfrm>
            <a:off x="741484" y="6362529"/>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54F4D4A-FD71-41E6-BED5-CF551BFDBC37}" type="datetimeFigureOut">
              <a:rPr lang="en-US" smtClean="0"/>
              <a:t>10/26/2026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86B6608-6F69-448F-99DC-C9E613BFB696}" type="slidenum">
              <a:rPr lang="en-US" smtClean="0"/>
              <a:t>‹#›</a:t>
            </a:fld>
            <a:endParaRPr lang="en-US"/>
          </a:p>
        </p:txBody>
      </p:sp>
      <p:grpSp>
        <p:nvGrpSpPr>
          <p:cNvPr id="7" name="Group 6"/>
          <p:cNvGrpSpPr/>
          <p:nvPr/>
        </p:nvGrpSpPr>
        <p:grpSpPr>
          <a:xfrm>
            <a:off x="0" y="6494093"/>
            <a:ext cx="12192000" cy="373091"/>
            <a:chOff x="0" y="1661375"/>
            <a:chExt cx="12192000" cy="373091"/>
          </a:xfrm>
        </p:grpSpPr>
        <p:sp>
          <p:nvSpPr>
            <p:cNvPr id="8" name="Rectangle 7"/>
            <p:cNvSpPr/>
            <p:nvPr/>
          </p:nvSpPr>
          <p:spPr>
            <a:xfrm>
              <a:off x="0" y="1661375"/>
              <a:ext cx="12192000" cy="109728"/>
            </a:xfrm>
            <a:prstGeom prst="rect">
              <a:avLst/>
            </a:prstGeom>
            <a:solidFill>
              <a:srgbClr val="F265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0" y="1760146"/>
              <a:ext cx="12192000" cy="274320"/>
            </a:xfrm>
            <a:prstGeom prst="rect">
              <a:avLst/>
            </a:prstGeom>
            <a:solidFill>
              <a:srgbClr val="2237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07083634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2" r:id="rId3"/>
    <p:sldLayoutId id="2147483661" r:id="rId4"/>
    <p:sldLayoutId id="2147483663" r:id="rId5"/>
    <p:sldLayoutId id="2147483660" r:id="rId6"/>
    <p:sldLayoutId id="2147483651" r:id="rId7"/>
    <p:sldLayoutId id="2147483652" r:id="rId8"/>
    <p:sldLayoutId id="2147483654" r:id="rId9"/>
    <p:sldLayoutId id="2147483655"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Arial" panose="020B0604020202020204" pitchFamily="34" charset="0"/>
          <a:ea typeface="+mj-ea"/>
          <a:cs typeface="Arial" panose="020B0604020202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93776" y="3520440"/>
            <a:ext cx="11219688" cy="1234440"/>
          </a:xfrm>
        </p:spPr>
        <p:txBody>
          <a:bodyPr anchor="ctr">
            <a:noAutofit/>
          </a:bodyPr>
          <a:lstStyle/>
          <a:p>
            <a:pPr algn="ctr">
              <a:spcBef>
                <a:spcPts val="0"/>
              </a:spcBef>
              <a:spcAft>
                <a:spcPts val="0"/>
              </a:spcAft>
              <a:buNone/>
            </a:pPr>
            <a:r>
              <a:rPr lang="vi-VN" sz="4000" b="1" i="0" dirty="0">
                <a:solidFill>
                  <a:srgbClr val="FFFFFF"/>
                </a:solidFill>
                <a:latin typeface="Times New Roman"/>
                <a:cs typeface="Times New Roman"/>
              </a:rPr>
              <a:t>FAHASA DIGITAL</a:t>
            </a:r>
          </a:p>
          <a:p>
            <a:pPr algn="ctr">
              <a:spcBef>
                <a:spcPts val="400"/>
              </a:spcBef>
              <a:spcAft>
                <a:spcPts val="0"/>
              </a:spcAft>
              <a:buNone/>
            </a:pPr>
            <a:r>
              <a:rPr lang="vi-VN" sz="2400" b="1" i="0" dirty="0">
                <a:solidFill>
                  <a:srgbClr val="FFFFFF"/>
                </a:solidFill>
                <a:latin typeface="Times New Roman"/>
                <a:cs typeface="Times New Roman"/>
              </a:rPr>
              <a:t>HỆ THỐNG QUẢN LÝ THƯ VIỆN CHO NHÀ SÁCH</a:t>
            </a:r>
          </a:p>
        </p:txBody>
      </p:sp>
      <p:sp>
        <p:nvSpPr>
          <p:cNvPr id="3" name="Subtitle 2"/>
          <p:cNvSpPr>
            <a:spLocks noGrp="1"/>
          </p:cNvSpPr>
          <p:nvPr>
            <p:ph type="subTitle" idx="1"/>
          </p:nvPr>
        </p:nvSpPr>
        <p:spPr>
          <a:xfrm>
            <a:off x="493776" y="4846320"/>
            <a:ext cx="11219688" cy="1097280"/>
          </a:xfrm>
        </p:spPr>
        <p:txBody>
          <a:bodyPr anchor="t">
            <a:noAutofit/>
          </a:bodyPr>
          <a:lstStyle/>
          <a:p>
            <a:pPr algn="ctr">
              <a:spcBef>
                <a:spcPts val="0"/>
              </a:spcBef>
              <a:spcAft>
                <a:spcPts val="0"/>
              </a:spcAft>
              <a:buNone/>
            </a:pPr>
            <a:r>
              <a:rPr lang="vi-VN" sz="1600" b="0" i="0" dirty="0">
                <a:solidFill>
                  <a:srgbClr val="FFFFFF"/>
                </a:solidFill>
                <a:latin typeface="Times New Roman"/>
                <a:cs typeface="Times New Roman"/>
              </a:rPr>
              <a:t>Đồ án chuyên ngành (CSE703096) · Khoa Công nghệ Thông tin – Trường Đại học Phenikaa</a:t>
            </a:r>
          </a:p>
          <a:p>
            <a:pPr algn="ctr">
              <a:spcBef>
                <a:spcPts val="800"/>
              </a:spcBef>
              <a:spcAft>
                <a:spcPts val="0"/>
              </a:spcAft>
              <a:buNone/>
            </a:pPr>
            <a:r>
              <a:rPr lang="vi-VN" sz="1800" b="0" i="0" dirty="0">
                <a:solidFill>
                  <a:srgbClr val="FFFFFF"/>
                </a:solidFill>
                <a:latin typeface="Times New Roman"/>
                <a:cs typeface="Times New Roman"/>
              </a:rPr>
              <a:t>Sinh viên: </a:t>
            </a:r>
            <a:r>
              <a:rPr lang="vi-VN" sz="1800" b="1" i="0" dirty="0">
                <a:solidFill>
                  <a:srgbClr val="FFFFFF"/>
                </a:solidFill>
                <a:latin typeface="Times New Roman"/>
                <a:cs typeface="Times New Roman"/>
              </a:rPr>
              <a:t>Đặng Nhất Nhất – MSSV 23010345</a:t>
            </a:r>
            <a:r>
              <a:rPr lang="vi-VN" sz="1800" b="0" i="0" dirty="0">
                <a:solidFill>
                  <a:srgbClr val="FFFFFF"/>
                </a:solidFill>
                <a:latin typeface="Times New Roman"/>
                <a:cs typeface="Times New Roman"/>
              </a:rPr>
              <a:t>     GVHD: </a:t>
            </a:r>
            <a:r>
              <a:rPr lang="vi-VN" sz="1800" b="1" i="0" dirty="0">
                <a:solidFill>
                  <a:srgbClr val="FFFFFF"/>
                </a:solidFill>
                <a:latin typeface="Times New Roman"/>
                <a:cs typeface="Times New Roman"/>
              </a:rPr>
              <a:t>Nguyễn Thị Vân</a:t>
            </a:r>
          </a:p>
          <a:p>
            <a:pPr algn="ctr">
              <a:spcBef>
                <a:spcPts val="800"/>
              </a:spcBef>
              <a:spcAft>
                <a:spcPts val="0"/>
              </a:spcAft>
              <a:buNone/>
            </a:pPr>
            <a:r>
              <a:rPr lang="vi-VN" sz="1400" b="0" i="0" dirty="0">
                <a:solidFill>
                  <a:srgbClr val="FFFFFF"/>
                </a:solidFill>
                <a:latin typeface="Times New Roman"/>
                <a:cs typeface="Times New Roman"/>
              </a:rPr>
              <a:t>Hà Nội, tháng 10/2026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b="1" dirty="0">
                <a:solidFill>
                  <a:srgbClr val="223771"/>
                </a:solidFill>
                <a:latin typeface="Times New Roman"/>
                <a:cs typeface="Times New Roman"/>
              </a:rPr>
              <a:t>MỤC LỤC</a:t>
            </a:r>
          </a:p>
        </p:txBody>
      </p:sp>
      <p:sp>
        <p:nvSpPr>
          <p:cNvPr id="4" name="Number 4"/>
          <p:cNvSpPr/>
          <p:nvPr/>
        </p:nvSpPr>
        <p:spPr>
          <a:xfrm>
            <a:off x="640080" y="1280160"/>
            <a:ext cx="685800" cy="685800"/>
          </a:xfrm>
          <a:prstGeom prst="ellipse">
            <a:avLst/>
          </a:prstGeom>
          <a:solidFill>
            <a:srgbClr val="223771"/>
          </a:solidFill>
          <a:ln>
            <a:noFill/>
          </a:ln>
        </p:spPr>
        <p:txBody>
          <a:bodyPr wrap="square" lIns="0" tIns="0" rIns="0" bIns="0" rtlCol="0" anchor="ctr">
            <a:noAutofit/>
          </a:bodyPr>
          <a:lstStyle/>
          <a:p>
            <a:pPr algn="ctr">
              <a:spcBef>
                <a:spcPts val="0"/>
              </a:spcBef>
              <a:spcAft>
                <a:spcPts val="0"/>
              </a:spcAft>
              <a:buNone/>
            </a:pPr>
            <a:r>
              <a:rPr lang="vi-VN" sz="2000" b="1" i="0" dirty="0">
                <a:solidFill>
                  <a:srgbClr val="FFFFFF"/>
                </a:solidFill>
                <a:latin typeface="Times New Roman"/>
                <a:cs typeface="Times New Roman"/>
              </a:rPr>
              <a:t>01</a:t>
            </a:r>
          </a:p>
        </p:txBody>
      </p:sp>
      <p:sp>
        <p:nvSpPr>
          <p:cNvPr id="5" name="TextBox 5"/>
          <p:cNvSpPr txBox="1"/>
          <p:nvPr/>
        </p:nvSpPr>
        <p:spPr>
          <a:xfrm>
            <a:off x="1554480" y="1188720"/>
            <a:ext cx="6858000" cy="868680"/>
          </a:xfrm>
          <a:prstGeom prst="rect">
            <a:avLst/>
          </a:prstGeom>
          <a:noFill/>
          <a:ln>
            <a:noFill/>
          </a:ln>
        </p:spPr>
        <p:txBody>
          <a:bodyPr wrap="square" lIns="0" tIns="0" rIns="0" bIns="0" rtlCol="0" anchor="ctr">
            <a:noAutofit/>
          </a:bodyPr>
          <a:lstStyle/>
          <a:p>
            <a:pPr algn="l">
              <a:spcBef>
                <a:spcPts val="0"/>
              </a:spcBef>
              <a:spcAft>
                <a:spcPts val="0"/>
              </a:spcAft>
              <a:buNone/>
            </a:pPr>
            <a:r>
              <a:rPr lang="vi-VN" sz="2200" b="1" i="0" dirty="0">
                <a:solidFill>
                  <a:srgbClr val="223771"/>
                </a:solidFill>
                <a:latin typeface="Times New Roman"/>
                <a:cs typeface="Times New Roman"/>
              </a:rPr>
              <a:t>Đặt vấn đề</a:t>
            </a:r>
          </a:p>
          <a:p>
            <a:pPr algn="l">
              <a:spcBef>
                <a:spcPts val="200"/>
              </a:spcBef>
              <a:spcAft>
                <a:spcPts val="0"/>
              </a:spcAft>
              <a:buNone/>
            </a:pPr>
            <a:r>
              <a:rPr lang="vi-VN" sz="1600" b="0" i="0" dirty="0">
                <a:solidFill>
                  <a:srgbClr val="5A6272"/>
                </a:solidFill>
                <a:latin typeface="Times New Roman"/>
                <a:cs typeface="Times New Roman"/>
              </a:rPr>
              <a:t>Bối cảnh, sáu vấn đề, khảo sát các giải pháp đã có</a:t>
            </a:r>
          </a:p>
        </p:txBody>
      </p:sp>
      <p:sp>
        <p:nvSpPr>
          <p:cNvPr id="6" name="Number 6"/>
          <p:cNvSpPr/>
          <p:nvPr/>
        </p:nvSpPr>
        <p:spPr>
          <a:xfrm>
            <a:off x="640080" y="2240280"/>
            <a:ext cx="685800" cy="685800"/>
          </a:xfrm>
          <a:prstGeom prst="ellipse">
            <a:avLst/>
          </a:prstGeom>
          <a:solidFill>
            <a:srgbClr val="F26522"/>
          </a:solidFill>
          <a:ln>
            <a:noFill/>
          </a:ln>
        </p:spPr>
        <p:txBody>
          <a:bodyPr wrap="square" lIns="0" tIns="0" rIns="0" bIns="0" rtlCol="0" anchor="ctr">
            <a:noAutofit/>
          </a:bodyPr>
          <a:lstStyle/>
          <a:p>
            <a:pPr algn="ctr">
              <a:spcBef>
                <a:spcPts val="0"/>
              </a:spcBef>
              <a:spcAft>
                <a:spcPts val="0"/>
              </a:spcAft>
              <a:buNone/>
            </a:pPr>
            <a:r>
              <a:rPr lang="vi-VN" sz="2000" b="1" i="0" dirty="0">
                <a:solidFill>
                  <a:srgbClr val="FFFFFF"/>
                </a:solidFill>
                <a:latin typeface="Times New Roman"/>
                <a:cs typeface="Times New Roman"/>
              </a:rPr>
              <a:t>02</a:t>
            </a:r>
          </a:p>
        </p:txBody>
      </p:sp>
      <p:sp>
        <p:nvSpPr>
          <p:cNvPr id="7" name="TextBox 7"/>
          <p:cNvSpPr txBox="1"/>
          <p:nvPr/>
        </p:nvSpPr>
        <p:spPr>
          <a:xfrm>
            <a:off x="1554480" y="2148840"/>
            <a:ext cx="6858000" cy="868680"/>
          </a:xfrm>
          <a:prstGeom prst="rect">
            <a:avLst/>
          </a:prstGeom>
          <a:noFill/>
          <a:ln>
            <a:noFill/>
          </a:ln>
        </p:spPr>
        <p:txBody>
          <a:bodyPr wrap="square" lIns="0" tIns="0" rIns="0" bIns="0" rtlCol="0" anchor="ctr">
            <a:noAutofit/>
          </a:bodyPr>
          <a:lstStyle/>
          <a:p>
            <a:pPr algn="l">
              <a:spcBef>
                <a:spcPts val="0"/>
              </a:spcBef>
              <a:spcAft>
                <a:spcPts val="0"/>
              </a:spcAft>
              <a:buNone/>
            </a:pPr>
            <a:r>
              <a:rPr lang="vi-VN" sz="2200" b="1" i="0" dirty="0">
                <a:solidFill>
                  <a:srgbClr val="223771"/>
                </a:solidFill>
                <a:latin typeface="Times New Roman"/>
                <a:cs typeface="Times New Roman"/>
              </a:rPr>
              <a:t>Giải pháp và thiết kế</a:t>
            </a:r>
          </a:p>
          <a:p>
            <a:pPr algn="l">
              <a:spcBef>
                <a:spcPts val="200"/>
              </a:spcBef>
              <a:spcAft>
                <a:spcPts val="0"/>
              </a:spcAft>
              <a:buNone/>
            </a:pPr>
            <a:r>
              <a:rPr lang="vi-VN" sz="1600" b="0" i="0" dirty="0">
                <a:solidFill>
                  <a:srgbClr val="5A6272"/>
                </a:solidFill>
                <a:latin typeface="Times New Roman"/>
                <a:cs typeface="Times New Roman"/>
              </a:rPr>
              <a:t>Giải pháp đề xuất, kiến trúc, yêu cầu, use case, quy tắc nghiệp vụ</a:t>
            </a:r>
          </a:p>
        </p:txBody>
      </p:sp>
      <p:sp>
        <p:nvSpPr>
          <p:cNvPr id="8" name="Number 8"/>
          <p:cNvSpPr/>
          <p:nvPr/>
        </p:nvSpPr>
        <p:spPr>
          <a:xfrm>
            <a:off x="640080" y="3200400"/>
            <a:ext cx="685800" cy="685800"/>
          </a:xfrm>
          <a:prstGeom prst="ellipse">
            <a:avLst/>
          </a:prstGeom>
          <a:solidFill>
            <a:srgbClr val="223771"/>
          </a:solidFill>
          <a:ln>
            <a:noFill/>
          </a:ln>
        </p:spPr>
        <p:txBody>
          <a:bodyPr wrap="square" lIns="0" tIns="0" rIns="0" bIns="0" rtlCol="0" anchor="ctr">
            <a:noAutofit/>
          </a:bodyPr>
          <a:lstStyle/>
          <a:p>
            <a:pPr algn="ctr">
              <a:spcBef>
                <a:spcPts val="0"/>
              </a:spcBef>
              <a:spcAft>
                <a:spcPts val="0"/>
              </a:spcAft>
              <a:buNone/>
            </a:pPr>
            <a:r>
              <a:rPr lang="vi-VN" sz="2000" b="1" i="0" dirty="0">
                <a:solidFill>
                  <a:srgbClr val="FFFFFF"/>
                </a:solidFill>
                <a:latin typeface="Times New Roman"/>
                <a:cs typeface="Times New Roman"/>
              </a:rPr>
              <a:t>03</a:t>
            </a:r>
          </a:p>
        </p:txBody>
      </p:sp>
      <p:sp>
        <p:nvSpPr>
          <p:cNvPr id="9" name="TextBox 9"/>
          <p:cNvSpPr txBox="1"/>
          <p:nvPr/>
        </p:nvSpPr>
        <p:spPr>
          <a:xfrm>
            <a:off x="1554480" y="3108960"/>
            <a:ext cx="6858000" cy="868680"/>
          </a:xfrm>
          <a:prstGeom prst="rect">
            <a:avLst/>
          </a:prstGeom>
          <a:noFill/>
          <a:ln>
            <a:noFill/>
          </a:ln>
        </p:spPr>
        <p:txBody>
          <a:bodyPr wrap="square" lIns="0" tIns="0" rIns="0" bIns="0" rtlCol="0" anchor="ctr">
            <a:noAutofit/>
          </a:bodyPr>
          <a:lstStyle/>
          <a:p>
            <a:pPr algn="l">
              <a:spcBef>
                <a:spcPts val="0"/>
              </a:spcBef>
              <a:spcAft>
                <a:spcPts val="0"/>
              </a:spcAft>
              <a:buNone/>
            </a:pPr>
            <a:r>
              <a:rPr lang="vi-VN" sz="2200" b="1" i="0" dirty="0">
                <a:solidFill>
                  <a:srgbClr val="223771"/>
                </a:solidFill>
                <a:latin typeface="Times New Roman"/>
                <a:cs typeface="Times New Roman"/>
              </a:rPr>
              <a:t>Sản phẩm</a:t>
            </a:r>
          </a:p>
          <a:p>
            <a:pPr algn="l">
              <a:spcBef>
                <a:spcPts val="200"/>
              </a:spcBef>
              <a:spcAft>
                <a:spcPts val="0"/>
              </a:spcAft>
              <a:buNone/>
            </a:pPr>
            <a:r>
              <a:rPr lang="vi-VN" sz="1600" b="0" i="0" dirty="0">
                <a:solidFill>
                  <a:srgbClr val="5A6272"/>
                </a:solidFill>
                <a:latin typeface="Times New Roman"/>
                <a:cs typeface="Times New Roman"/>
              </a:rPr>
              <a:t>Luồng mượn – duyệt – trả, trợ lý AI, tiền phạt, thống kê</a:t>
            </a:r>
          </a:p>
        </p:txBody>
      </p:sp>
      <p:sp>
        <p:nvSpPr>
          <p:cNvPr id="10" name="Number 10"/>
          <p:cNvSpPr/>
          <p:nvPr/>
        </p:nvSpPr>
        <p:spPr>
          <a:xfrm>
            <a:off x="640080" y="4160520"/>
            <a:ext cx="685800" cy="685800"/>
          </a:xfrm>
          <a:prstGeom prst="ellipse">
            <a:avLst/>
          </a:prstGeom>
          <a:solidFill>
            <a:srgbClr val="F26522"/>
          </a:solidFill>
          <a:ln>
            <a:noFill/>
          </a:ln>
        </p:spPr>
        <p:txBody>
          <a:bodyPr wrap="square" lIns="0" tIns="0" rIns="0" bIns="0" rtlCol="0" anchor="ctr">
            <a:noAutofit/>
          </a:bodyPr>
          <a:lstStyle/>
          <a:p>
            <a:pPr algn="ctr">
              <a:spcBef>
                <a:spcPts val="0"/>
              </a:spcBef>
              <a:spcAft>
                <a:spcPts val="0"/>
              </a:spcAft>
              <a:buNone/>
            </a:pPr>
            <a:r>
              <a:rPr lang="vi-VN" sz="2000" b="1" i="0" dirty="0">
                <a:solidFill>
                  <a:srgbClr val="FFFFFF"/>
                </a:solidFill>
                <a:latin typeface="Times New Roman"/>
                <a:cs typeface="Times New Roman"/>
              </a:rPr>
              <a:t>04</a:t>
            </a:r>
          </a:p>
        </p:txBody>
      </p:sp>
      <p:sp>
        <p:nvSpPr>
          <p:cNvPr id="11" name="TextBox 11"/>
          <p:cNvSpPr txBox="1"/>
          <p:nvPr/>
        </p:nvSpPr>
        <p:spPr>
          <a:xfrm>
            <a:off x="1554480" y="4069080"/>
            <a:ext cx="6858000" cy="868680"/>
          </a:xfrm>
          <a:prstGeom prst="rect">
            <a:avLst/>
          </a:prstGeom>
          <a:noFill/>
          <a:ln>
            <a:noFill/>
          </a:ln>
        </p:spPr>
        <p:txBody>
          <a:bodyPr wrap="square" lIns="0" tIns="0" rIns="0" bIns="0" rtlCol="0" anchor="ctr">
            <a:noAutofit/>
          </a:bodyPr>
          <a:lstStyle/>
          <a:p>
            <a:pPr algn="l">
              <a:spcBef>
                <a:spcPts val="0"/>
              </a:spcBef>
              <a:spcAft>
                <a:spcPts val="0"/>
              </a:spcAft>
              <a:buNone/>
            </a:pPr>
            <a:r>
              <a:rPr lang="vi-VN" sz="2200" b="1" i="0" dirty="0">
                <a:solidFill>
                  <a:srgbClr val="223771"/>
                </a:solidFill>
                <a:latin typeface="Times New Roman"/>
                <a:cs typeface="Times New Roman"/>
              </a:rPr>
              <a:t>Kiểm thử và đánh giá</a:t>
            </a:r>
          </a:p>
          <a:p>
            <a:pPr algn="l">
              <a:spcBef>
                <a:spcPts val="200"/>
              </a:spcBef>
              <a:spcAft>
                <a:spcPts val="0"/>
              </a:spcAft>
              <a:buNone/>
            </a:pPr>
            <a:r>
              <a:rPr lang="vi-VN" sz="1600" b="0" i="0" dirty="0">
                <a:solidFill>
                  <a:srgbClr val="5A6272"/>
                </a:solidFill>
                <a:latin typeface="Times New Roman"/>
                <a:cs typeface="Times New Roman"/>
              </a:rPr>
              <a:t>Kết quả kiểm thử, rà soát bảo mật, hạn chế còn lại</a:t>
            </a:r>
          </a:p>
        </p:txBody>
      </p:sp>
      <p:sp>
        <p:nvSpPr>
          <p:cNvPr id="12" name="Number 12"/>
          <p:cNvSpPr/>
          <p:nvPr/>
        </p:nvSpPr>
        <p:spPr>
          <a:xfrm>
            <a:off x="640080" y="5120640"/>
            <a:ext cx="685800" cy="685800"/>
          </a:xfrm>
          <a:prstGeom prst="ellipse">
            <a:avLst/>
          </a:prstGeom>
          <a:solidFill>
            <a:srgbClr val="223771"/>
          </a:solidFill>
          <a:ln>
            <a:noFill/>
          </a:ln>
        </p:spPr>
        <p:txBody>
          <a:bodyPr wrap="square" lIns="0" tIns="0" rIns="0" bIns="0" rtlCol="0" anchor="ctr">
            <a:noAutofit/>
          </a:bodyPr>
          <a:lstStyle/>
          <a:p>
            <a:pPr algn="ctr">
              <a:spcBef>
                <a:spcPts val="0"/>
              </a:spcBef>
              <a:spcAft>
                <a:spcPts val="0"/>
              </a:spcAft>
              <a:buNone/>
            </a:pPr>
            <a:r>
              <a:rPr lang="vi-VN" sz="2000" b="1" i="0" dirty="0">
                <a:solidFill>
                  <a:srgbClr val="FFFFFF"/>
                </a:solidFill>
                <a:latin typeface="Times New Roman"/>
                <a:cs typeface="Times New Roman"/>
              </a:rPr>
              <a:t>05</a:t>
            </a:r>
          </a:p>
        </p:txBody>
      </p:sp>
      <p:sp>
        <p:nvSpPr>
          <p:cNvPr id="13" name="TextBox 13"/>
          <p:cNvSpPr txBox="1"/>
          <p:nvPr/>
        </p:nvSpPr>
        <p:spPr>
          <a:xfrm>
            <a:off x="1554480" y="5029200"/>
            <a:ext cx="6858000" cy="868680"/>
          </a:xfrm>
          <a:prstGeom prst="rect">
            <a:avLst/>
          </a:prstGeom>
          <a:noFill/>
          <a:ln>
            <a:noFill/>
          </a:ln>
        </p:spPr>
        <p:txBody>
          <a:bodyPr wrap="square" lIns="0" tIns="0" rIns="0" bIns="0" rtlCol="0" anchor="ctr">
            <a:noAutofit/>
          </a:bodyPr>
          <a:lstStyle/>
          <a:p>
            <a:pPr algn="l">
              <a:spcBef>
                <a:spcPts val="0"/>
              </a:spcBef>
              <a:spcAft>
                <a:spcPts val="0"/>
              </a:spcAft>
              <a:buNone/>
            </a:pPr>
            <a:r>
              <a:rPr lang="vi-VN" sz="2200" b="1" i="0" dirty="0">
                <a:solidFill>
                  <a:srgbClr val="223771"/>
                </a:solidFill>
                <a:latin typeface="Times New Roman"/>
                <a:cs typeface="Times New Roman"/>
              </a:rPr>
              <a:t>Kết luận</a:t>
            </a:r>
          </a:p>
          <a:p>
            <a:pPr algn="l">
              <a:spcBef>
                <a:spcPts val="200"/>
              </a:spcBef>
              <a:spcAft>
                <a:spcPts val="0"/>
              </a:spcAft>
              <a:buNone/>
            </a:pPr>
            <a:r>
              <a:rPr lang="vi-VN" sz="1600" b="0" i="0" dirty="0">
                <a:solidFill>
                  <a:srgbClr val="5A6272"/>
                </a:solidFill>
                <a:latin typeface="Times New Roman"/>
                <a:cs typeface="Times New Roman"/>
              </a:rPr>
              <a:t>Kế hoạch thực hiện, kết quả đạt được, hướng phát triển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b="1" dirty="0">
                <a:solidFill>
                  <a:srgbClr val="223771"/>
                </a:solidFill>
                <a:latin typeface="Times New Roman"/>
                <a:cs typeface="Times New Roman"/>
              </a:rPr>
              <a:t>BỐI CẢNH ĐỀ TÀI</a:t>
            </a:r>
          </a:p>
        </p:txBody>
      </p:sp>
      <p:sp>
        <p:nvSpPr>
          <p:cNvPr id="4" name="TextBox 4"/>
          <p:cNvSpPr txBox="1"/>
          <p:nvPr/>
        </p:nvSpPr>
        <p:spPr>
          <a:xfrm>
            <a:off x="457200" y="896112"/>
            <a:ext cx="11274552" cy="411480"/>
          </a:xfrm>
          <a:prstGeom prst="rect">
            <a:avLst/>
          </a:prstGeom>
          <a:noFill/>
          <a:ln>
            <a:noFill/>
          </a:ln>
        </p:spPr>
        <p:txBody>
          <a:bodyPr wrap="square" lIns="0" tIns="0" rIns="0" bIns="0" rtlCol="0" anchor="ctr">
            <a:noAutofit/>
          </a:bodyPr>
          <a:lstStyle/>
          <a:p>
            <a:pPr algn="l">
              <a:spcBef>
                <a:spcPts val="0"/>
              </a:spcBef>
              <a:spcAft>
                <a:spcPts val="0"/>
              </a:spcAft>
              <a:buNone/>
            </a:pPr>
            <a:r>
              <a:rPr lang="vi-VN" sz="1800" b="0" i="1" dirty="0">
                <a:solidFill>
                  <a:srgbClr val="5A6272"/>
                </a:solidFill>
                <a:latin typeface="Times New Roman"/>
                <a:cs typeface="Times New Roman"/>
              </a:rPr>
              <a:t>Nhà sách mở khu cho mượn sách, nhưng vẫn quản lý bằng sổ và Excel</a:t>
            </a:r>
          </a:p>
        </p:txBody>
      </p:sp>
      <p:sp>
        <p:nvSpPr>
          <p:cNvPr id="5" name="TextBox 5"/>
          <p:cNvSpPr txBox="1"/>
          <p:nvPr/>
        </p:nvSpPr>
        <p:spPr>
          <a:xfrm>
            <a:off x="457200" y="1508760"/>
            <a:ext cx="5577840" cy="2651760"/>
          </a:xfrm>
          <a:prstGeom prst="rect">
            <a:avLst/>
          </a:prstGeom>
          <a:noFill/>
          <a:ln>
            <a:noFill/>
          </a:ln>
        </p:spPr>
        <p:txBody>
          <a:bodyPr wrap="square" lIns="0" tIns="0" rIns="0" bIns="0" rtlCol="0" anchor="t">
            <a:noAutofit/>
          </a:bodyPr>
          <a:lstStyle/>
          <a:p>
            <a:pPr algn="l">
              <a:lnSpc>
                <a:spcPct val="110000"/>
              </a:lnSpc>
              <a:spcBef>
                <a:spcPts val="0"/>
              </a:spcBef>
              <a:spcAft>
                <a:spcPts val="0"/>
              </a:spcAft>
              <a:buNone/>
            </a:pPr>
            <a:r>
              <a:rPr lang="vi-VN" sz="2000" b="1" i="0" dirty="0">
                <a:solidFill>
                  <a:srgbClr val="223771"/>
                </a:solidFill>
                <a:latin typeface="Times New Roman"/>
                <a:cs typeface="Times New Roman"/>
              </a:rPr>
              <a:t>Hình mẫu tham chiếu: </a:t>
            </a:r>
            <a:r>
              <a:rPr lang="vi-VN" sz="2000" b="0" i="0" dirty="0">
                <a:solidFill>
                  <a:srgbClr val="1F2433"/>
                </a:solidFill>
                <a:latin typeface="Times New Roman"/>
                <a:cs typeface="Times New Roman"/>
              </a:rPr>
              <a:t>FAHASA – một nhà sách mở thêm khu thư viện cho khách hàng thành viên mượn sách về nhà.</a:t>
            </a:r>
          </a:p>
          <a:p>
            <a:pPr algn="l">
              <a:lnSpc>
                <a:spcPct val="110000"/>
              </a:lnSpc>
              <a:spcBef>
                <a:spcPts val="1400"/>
              </a:spcBef>
              <a:spcAft>
                <a:spcPts val="0"/>
              </a:spcAft>
              <a:buNone/>
            </a:pPr>
            <a:r>
              <a:rPr lang="vi-VN" sz="2000" b="1" i="0" dirty="0">
                <a:solidFill>
                  <a:srgbClr val="223771"/>
                </a:solidFill>
                <a:latin typeface="Times New Roman"/>
                <a:cs typeface="Times New Roman"/>
              </a:rPr>
              <a:t>Hiện trạng: </a:t>
            </a:r>
            <a:r>
              <a:rPr lang="vi-VN" sz="2000" b="0" i="0" dirty="0">
                <a:solidFill>
                  <a:srgbClr val="1F2433"/>
                </a:solidFill>
                <a:latin typeface="Times New Roman"/>
                <a:cs typeface="Times New Roman"/>
              </a:rPr>
              <a:t>tra sổ, ghi phiếu, tính phạt và nhắc hạn đều do nhân viên làm thủ công tại quầy.</a:t>
            </a:r>
          </a:p>
        </p:txBody>
      </p:sp>
      <p:sp>
        <p:nvSpPr>
          <p:cNvPr id="6" name="Shape 6"/>
          <p:cNvSpPr/>
          <p:nvPr/>
        </p:nvSpPr>
        <p:spPr>
          <a:xfrm>
            <a:off x="457200" y="4343400"/>
            <a:ext cx="5577840" cy="1234440"/>
          </a:xfrm>
          <a:prstGeom prst="roundRect">
            <a:avLst>
              <a:gd name="adj" fmla="val 5925"/>
            </a:avLst>
          </a:prstGeom>
          <a:solidFill>
            <a:srgbClr val="FDEEE4"/>
          </a:solidFill>
          <a:ln>
            <a:noFill/>
          </a:ln>
        </p:spPr>
        <p:txBody>
          <a:bodyPr wrap="square" lIns="228600" tIns="91440" rIns="228600" bIns="91440" rtlCol="0" anchor="ctr">
            <a:noAutofit/>
          </a:bodyPr>
          <a:lstStyle/>
          <a:p>
            <a:pPr algn="l">
              <a:lnSpc>
                <a:spcPct val="105000"/>
              </a:lnSpc>
              <a:spcBef>
                <a:spcPts val="0"/>
              </a:spcBef>
              <a:spcAft>
                <a:spcPts val="0"/>
              </a:spcAft>
              <a:buNone/>
            </a:pPr>
            <a:r>
              <a:rPr lang="vi-VN" sz="1600" b="1" i="0" dirty="0">
                <a:solidFill>
                  <a:srgbClr val="B4470F"/>
                </a:solidFill>
                <a:latin typeface="Times New Roman"/>
                <a:cs typeface="Times New Roman"/>
              </a:rPr>
              <a:t>Lưu ý: </a:t>
            </a:r>
            <a:r>
              <a:rPr lang="vi-VN" sz="1600" b="0" i="0" dirty="0">
                <a:solidFill>
                  <a:srgbClr val="1F2433"/>
                </a:solidFill>
                <a:latin typeface="Times New Roman"/>
                <a:cs typeface="Times New Roman"/>
              </a:rPr>
              <a:t>đây là kịch bản giả định. Em không hợp tác với FAHASA; quy mô bên phải là giả định thiết kế, không phải số liệu khảo sát.</a:t>
            </a:r>
          </a:p>
        </p:txBody>
      </p:sp>
      <p:sp>
        <p:nvSpPr>
          <p:cNvPr id="7" name="TextBox 7"/>
          <p:cNvSpPr txBox="1"/>
          <p:nvPr/>
        </p:nvSpPr>
        <p:spPr>
          <a:xfrm>
            <a:off x="6400800" y="1417320"/>
            <a:ext cx="5330952" cy="365760"/>
          </a:xfrm>
          <a:prstGeom prst="rect">
            <a:avLst/>
          </a:prstGeom>
          <a:noFill/>
          <a:ln>
            <a:noFill/>
          </a:ln>
        </p:spPr>
        <p:txBody>
          <a:bodyPr wrap="square" lIns="0" tIns="0" rIns="0" bIns="0" rtlCol="0" anchor="ctr">
            <a:noAutofit/>
          </a:bodyPr>
          <a:lstStyle/>
          <a:p>
            <a:pPr algn="l">
              <a:spcBef>
                <a:spcPts val="0"/>
              </a:spcBef>
              <a:spcAft>
                <a:spcPts val="0"/>
              </a:spcAft>
              <a:buNone/>
            </a:pPr>
            <a:r>
              <a:rPr lang="vi-VN" sz="1400" b="1" i="0" dirty="0">
                <a:solidFill>
                  <a:srgbClr val="5A6272"/>
                </a:solidFill>
                <a:latin typeface="Times New Roman"/>
                <a:cs typeface="Times New Roman"/>
              </a:rPr>
              <a:t>GIẢ ĐỊNH THIẾT KẾ</a:t>
            </a:r>
          </a:p>
        </p:txBody>
      </p:sp>
      <p:sp>
        <p:nvSpPr>
          <p:cNvPr id="8" name="Shape 8"/>
          <p:cNvSpPr/>
          <p:nvPr/>
        </p:nvSpPr>
        <p:spPr>
          <a:xfrm>
            <a:off x="6400800" y="1828800"/>
            <a:ext cx="5330952" cy="1161288"/>
          </a:xfrm>
          <a:prstGeom prst="roundRect">
            <a:avLst>
              <a:gd name="adj" fmla="val 6299"/>
            </a:avLst>
          </a:prstGeom>
          <a:solidFill>
            <a:srgbClr val="E9EDF6"/>
          </a:solidFill>
          <a:ln>
            <a:noFill/>
          </a:ln>
        </p:spPr>
        <p:txBody>
          <a:bodyPr wrap="square" lIns="274320" tIns="45720" rIns="274320" bIns="45720" rtlCol="0" anchor="ctr">
            <a:noAutofit/>
          </a:bodyPr>
          <a:lstStyle/>
          <a:p>
            <a:pPr algn="l">
              <a:spcBef>
                <a:spcPts val="0"/>
              </a:spcBef>
              <a:spcAft>
                <a:spcPts val="0"/>
              </a:spcAft>
              <a:buNone/>
            </a:pPr>
            <a:r>
              <a:rPr lang="vi-VN" sz="2200" b="1" i="0" dirty="0">
                <a:solidFill>
                  <a:srgbClr val="223771"/>
                </a:solidFill>
                <a:latin typeface="Times New Roman"/>
                <a:cs typeface="Times New Roman"/>
              </a:rPr>
              <a:t>Vài trăm – vài nghìn đầu sách</a:t>
            </a:r>
          </a:p>
          <a:p>
            <a:pPr algn="l">
              <a:spcBef>
                <a:spcPts val="300"/>
              </a:spcBef>
              <a:spcAft>
                <a:spcPts val="0"/>
              </a:spcAft>
              <a:buNone/>
            </a:pPr>
            <a:r>
              <a:rPr lang="vi-VN" sz="1500" b="0" i="0" dirty="0">
                <a:solidFill>
                  <a:srgbClr val="5A6272"/>
                </a:solidFill>
                <a:latin typeface="Times New Roman"/>
                <a:cs typeface="Times New Roman"/>
              </a:rPr>
              <a:t>mỗi đầu sách có một hoặc nhiều bản</a:t>
            </a:r>
          </a:p>
        </p:txBody>
      </p:sp>
      <p:sp>
        <p:nvSpPr>
          <p:cNvPr id="9" name="Shape 9"/>
          <p:cNvSpPr/>
          <p:nvPr/>
        </p:nvSpPr>
        <p:spPr>
          <a:xfrm>
            <a:off x="6400800" y="3127248"/>
            <a:ext cx="5330952" cy="1161288"/>
          </a:xfrm>
          <a:prstGeom prst="roundRect">
            <a:avLst>
              <a:gd name="adj" fmla="val 6299"/>
            </a:avLst>
          </a:prstGeom>
          <a:solidFill>
            <a:srgbClr val="E9EDF6"/>
          </a:solidFill>
          <a:ln>
            <a:noFill/>
          </a:ln>
        </p:spPr>
        <p:txBody>
          <a:bodyPr wrap="square" lIns="274320" tIns="45720" rIns="274320" bIns="45720" rtlCol="0" anchor="ctr">
            <a:noAutofit/>
          </a:bodyPr>
          <a:lstStyle/>
          <a:p>
            <a:pPr algn="l">
              <a:spcBef>
                <a:spcPts val="0"/>
              </a:spcBef>
              <a:spcAft>
                <a:spcPts val="0"/>
              </a:spcAft>
              <a:buNone/>
            </a:pPr>
            <a:r>
              <a:rPr lang="vi-VN" sz="2200" b="1" i="0" dirty="0">
                <a:solidFill>
                  <a:srgbClr val="223771"/>
                </a:solidFill>
                <a:latin typeface="Times New Roman"/>
                <a:cs typeface="Times New Roman"/>
              </a:rPr>
              <a:t>Vài trăm – vài nghìn độc giả</a:t>
            </a:r>
          </a:p>
          <a:p>
            <a:pPr algn="l">
              <a:spcBef>
                <a:spcPts val="300"/>
              </a:spcBef>
              <a:spcAft>
                <a:spcPts val="0"/>
              </a:spcAft>
              <a:buNone/>
            </a:pPr>
            <a:r>
              <a:rPr lang="vi-VN" sz="1500" b="0" i="0" dirty="0">
                <a:solidFill>
                  <a:srgbClr val="5A6272"/>
                </a:solidFill>
                <a:latin typeface="Times New Roman"/>
                <a:cs typeface="Times New Roman"/>
              </a:rPr>
              <a:t>là khách hàng thành viên của nhà sách</a:t>
            </a:r>
          </a:p>
        </p:txBody>
      </p:sp>
      <p:sp>
        <p:nvSpPr>
          <p:cNvPr id="10" name="Shape 10"/>
          <p:cNvSpPr/>
          <p:nvPr/>
        </p:nvSpPr>
        <p:spPr>
          <a:xfrm>
            <a:off x="6400800" y="4425696"/>
            <a:ext cx="5330952" cy="1161288"/>
          </a:xfrm>
          <a:prstGeom prst="roundRect">
            <a:avLst>
              <a:gd name="adj" fmla="val 6299"/>
            </a:avLst>
          </a:prstGeom>
          <a:solidFill>
            <a:srgbClr val="E9EDF6"/>
          </a:solidFill>
          <a:ln>
            <a:noFill/>
          </a:ln>
        </p:spPr>
        <p:txBody>
          <a:bodyPr wrap="square" lIns="274320" tIns="45720" rIns="274320" bIns="45720" rtlCol="0" anchor="ctr">
            <a:noAutofit/>
          </a:bodyPr>
          <a:lstStyle/>
          <a:p>
            <a:pPr algn="l">
              <a:spcBef>
                <a:spcPts val="0"/>
              </a:spcBef>
              <a:spcAft>
                <a:spcPts val="0"/>
              </a:spcAft>
              <a:buNone/>
            </a:pPr>
            <a:r>
              <a:rPr lang="vi-VN" sz="2200" b="1" i="0" dirty="0">
                <a:solidFill>
                  <a:srgbClr val="223771"/>
                </a:solidFill>
                <a:latin typeface="Times New Roman"/>
                <a:cs typeface="Times New Roman"/>
              </a:rPr>
              <a:t>1–3 nhân viên kiêm thủ thư</a:t>
            </a:r>
          </a:p>
          <a:p>
            <a:pPr algn="l">
              <a:spcBef>
                <a:spcPts val="300"/>
              </a:spcBef>
              <a:spcAft>
                <a:spcPts val="0"/>
              </a:spcAft>
              <a:buNone/>
            </a:pPr>
            <a:r>
              <a:rPr lang="vi-VN" sz="1500" b="0" i="0" dirty="0">
                <a:solidFill>
                  <a:srgbClr val="5A6272"/>
                </a:solidFill>
                <a:latin typeface="Times New Roman"/>
                <a:cs typeface="Times New Roman"/>
              </a:rPr>
              <a:t>mỗi ca; không có bộ phận công nghệ thông tin riêng</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b="1" dirty="0">
                <a:solidFill>
                  <a:srgbClr val="223771"/>
                </a:solidFill>
                <a:latin typeface="Times New Roman"/>
                <a:cs typeface="Times New Roman"/>
              </a:rPr>
              <a:t>VẤN ĐỀ CẦN GIẢI QUYẾT</a:t>
            </a:r>
          </a:p>
        </p:txBody>
      </p:sp>
      <p:sp>
        <p:nvSpPr>
          <p:cNvPr id="4" name="TextBox 4"/>
          <p:cNvSpPr txBox="1"/>
          <p:nvPr/>
        </p:nvSpPr>
        <p:spPr>
          <a:xfrm>
            <a:off x="457200" y="896112"/>
            <a:ext cx="11274552" cy="411480"/>
          </a:xfrm>
          <a:prstGeom prst="rect">
            <a:avLst/>
          </a:prstGeom>
          <a:noFill/>
          <a:ln>
            <a:noFill/>
          </a:ln>
        </p:spPr>
        <p:txBody>
          <a:bodyPr wrap="square" lIns="0" tIns="0" rIns="0" bIns="0" rtlCol="0" anchor="ctr">
            <a:noAutofit/>
          </a:bodyPr>
          <a:lstStyle/>
          <a:p>
            <a:pPr algn="l">
              <a:spcBef>
                <a:spcPts val="0"/>
              </a:spcBef>
              <a:spcAft>
                <a:spcPts val="0"/>
              </a:spcAft>
              <a:buNone/>
            </a:pPr>
            <a:r>
              <a:rPr lang="vi-VN" sz="1800" b="0" i="1" dirty="0">
                <a:solidFill>
                  <a:srgbClr val="5A6272"/>
                </a:solidFill>
                <a:latin typeface="Times New Roman"/>
                <a:cs typeface="Times New Roman"/>
              </a:rPr>
              <a:t>Sáu vấn đề của quy trình thủ công, đánh mã VĐ-01 … VĐ-06 để truy vết tới giải pháp</a:t>
            </a:r>
          </a:p>
        </p:txBody>
      </p:sp>
      <p:sp>
        <p:nvSpPr>
          <p:cNvPr id="5" name="Card 5"/>
          <p:cNvSpPr/>
          <p:nvPr/>
        </p:nvSpPr>
        <p:spPr>
          <a:xfrm>
            <a:off x="457200" y="1463040"/>
            <a:ext cx="3575304" cy="2103120"/>
          </a:xfrm>
          <a:prstGeom prst="roundRect">
            <a:avLst>
              <a:gd name="adj" fmla="val 3478"/>
            </a:avLst>
          </a:prstGeom>
          <a:solidFill>
            <a:srgbClr val="FFFFFF"/>
          </a:solidFill>
          <a:ln w="9525">
            <a:solidFill>
              <a:srgbClr val="C9D1E3"/>
            </a:solidFill>
          </a:ln>
        </p:spPr>
      </p:sp>
      <p:sp>
        <p:nvSpPr>
          <p:cNvPr id="6" name="Chip 6"/>
          <p:cNvSpPr/>
          <p:nvPr/>
        </p:nvSpPr>
        <p:spPr>
          <a:xfrm>
            <a:off x="685800" y="1691640"/>
            <a:ext cx="1005840" cy="347472"/>
          </a:xfrm>
          <a:prstGeom prst="roundRect">
            <a:avLst>
              <a:gd name="adj" fmla="val 50000"/>
            </a:avLst>
          </a:prstGeom>
          <a:solidFill>
            <a:srgbClr val="223771"/>
          </a:solidFill>
          <a:ln>
            <a:noFill/>
          </a:ln>
        </p:spPr>
        <p:txBody>
          <a:bodyPr wrap="square" lIns="45720" tIns="0" rIns="45720" bIns="0" rtlCol="0" anchor="ctr">
            <a:noAutofit/>
          </a:bodyPr>
          <a:lstStyle/>
          <a:p>
            <a:pPr algn="ctr">
              <a:spcBef>
                <a:spcPts val="0"/>
              </a:spcBef>
              <a:spcAft>
                <a:spcPts val="0"/>
              </a:spcAft>
              <a:buNone/>
            </a:pPr>
            <a:r>
              <a:rPr lang="vi-VN" sz="1400" b="1" i="0" dirty="0">
                <a:solidFill>
                  <a:srgbClr val="FFFFFF"/>
                </a:solidFill>
                <a:latin typeface="Times New Roman"/>
                <a:cs typeface="Times New Roman"/>
              </a:rPr>
              <a:t>VĐ-01</a:t>
            </a:r>
          </a:p>
        </p:txBody>
      </p:sp>
      <p:sp>
        <p:nvSpPr>
          <p:cNvPr id="7" name="TextBox 7"/>
          <p:cNvSpPr txBox="1"/>
          <p:nvPr/>
        </p:nvSpPr>
        <p:spPr>
          <a:xfrm>
            <a:off x="685800" y="2194560"/>
            <a:ext cx="3118104" cy="1280160"/>
          </a:xfrm>
          <a:prstGeom prst="rect">
            <a:avLst/>
          </a:prstGeom>
          <a:noFill/>
          <a:ln>
            <a:noFill/>
          </a:ln>
        </p:spPr>
        <p:txBody>
          <a:bodyPr wrap="square" lIns="0" tIns="0" rIns="0" bIns="0" rtlCol="0" anchor="t">
            <a:noAutofit/>
          </a:bodyPr>
          <a:lstStyle/>
          <a:p>
            <a:pPr algn="l">
              <a:spcBef>
                <a:spcPts val="0"/>
              </a:spcBef>
              <a:spcAft>
                <a:spcPts val="0"/>
              </a:spcAft>
              <a:buNone/>
            </a:pPr>
            <a:r>
              <a:rPr lang="vi-VN" sz="1800" b="1" i="0" dirty="0">
                <a:solidFill>
                  <a:srgbClr val="1F2433"/>
                </a:solidFill>
                <a:latin typeface="Times New Roman"/>
                <a:cs typeface="Times New Roman"/>
              </a:rPr>
              <a:t>Kho sách không chính xác, không theo thời gian thực</a:t>
            </a:r>
          </a:p>
          <a:p>
            <a:pPr algn="l">
              <a:spcBef>
                <a:spcPts val="600"/>
              </a:spcBef>
              <a:spcAft>
                <a:spcPts val="0"/>
              </a:spcAft>
              <a:buNone/>
            </a:pPr>
            <a:r>
              <a:rPr lang="vi-VN" sz="1500" b="0" i="0" dirty="0">
                <a:solidFill>
                  <a:srgbClr val="5A6272"/>
                </a:solidFill>
                <a:latin typeface="Times New Roman"/>
                <a:cs typeface="Times New Roman"/>
              </a:rPr>
              <a:t>Độc giả không tự tra được sách còn hay hết</a:t>
            </a:r>
          </a:p>
        </p:txBody>
      </p:sp>
      <p:sp>
        <p:nvSpPr>
          <p:cNvPr id="8" name="Card 8"/>
          <p:cNvSpPr/>
          <p:nvPr/>
        </p:nvSpPr>
        <p:spPr>
          <a:xfrm>
            <a:off x="4306824" y="1463040"/>
            <a:ext cx="3575304" cy="2103120"/>
          </a:xfrm>
          <a:prstGeom prst="roundRect">
            <a:avLst>
              <a:gd name="adj" fmla="val 3478"/>
            </a:avLst>
          </a:prstGeom>
          <a:solidFill>
            <a:srgbClr val="FFFFFF"/>
          </a:solidFill>
          <a:ln w="9525">
            <a:solidFill>
              <a:srgbClr val="C9D1E3"/>
            </a:solidFill>
          </a:ln>
        </p:spPr>
      </p:sp>
      <p:sp>
        <p:nvSpPr>
          <p:cNvPr id="9" name="Chip 9"/>
          <p:cNvSpPr/>
          <p:nvPr/>
        </p:nvSpPr>
        <p:spPr>
          <a:xfrm>
            <a:off x="4535424" y="1691640"/>
            <a:ext cx="1005840" cy="347472"/>
          </a:xfrm>
          <a:prstGeom prst="roundRect">
            <a:avLst>
              <a:gd name="adj" fmla="val 50000"/>
            </a:avLst>
          </a:prstGeom>
          <a:solidFill>
            <a:srgbClr val="223771"/>
          </a:solidFill>
          <a:ln>
            <a:noFill/>
          </a:ln>
        </p:spPr>
        <p:txBody>
          <a:bodyPr wrap="square" lIns="45720" tIns="0" rIns="45720" bIns="0" rtlCol="0" anchor="ctr">
            <a:noAutofit/>
          </a:bodyPr>
          <a:lstStyle/>
          <a:p>
            <a:pPr algn="ctr">
              <a:spcBef>
                <a:spcPts val="0"/>
              </a:spcBef>
              <a:spcAft>
                <a:spcPts val="0"/>
              </a:spcAft>
              <a:buNone/>
            </a:pPr>
            <a:r>
              <a:rPr lang="vi-VN" sz="1400" b="1" i="0" dirty="0">
                <a:solidFill>
                  <a:srgbClr val="FFFFFF"/>
                </a:solidFill>
                <a:latin typeface="Times New Roman"/>
                <a:cs typeface="Times New Roman"/>
              </a:rPr>
              <a:t>VĐ-02</a:t>
            </a:r>
          </a:p>
        </p:txBody>
      </p:sp>
      <p:sp>
        <p:nvSpPr>
          <p:cNvPr id="10" name="TextBox 10"/>
          <p:cNvSpPr txBox="1"/>
          <p:nvPr/>
        </p:nvSpPr>
        <p:spPr>
          <a:xfrm>
            <a:off x="4535424" y="2194560"/>
            <a:ext cx="3118104" cy="1280160"/>
          </a:xfrm>
          <a:prstGeom prst="rect">
            <a:avLst/>
          </a:prstGeom>
          <a:noFill/>
          <a:ln>
            <a:noFill/>
          </a:ln>
        </p:spPr>
        <p:txBody>
          <a:bodyPr wrap="square" lIns="0" tIns="0" rIns="0" bIns="0" rtlCol="0" anchor="t">
            <a:noAutofit/>
          </a:bodyPr>
          <a:lstStyle/>
          <a:p>
            <a:pPr algn="l">
              <a:spcBef>
                <a:spcPts val="0"/>
              </a:spcBef>
              <a:spcAft>
                <a:spcPts val="0"/>
              </a:spcAft>
              <a:buNone/>
            </a:pPr>
            <a:r>
              <a:rPr lang="vi-VN" sz="1800" b="1" i="0" dirty="0">
                <a:solidFill>
                  <a:srgbClr val="1F2433"/>
                </a:solidFill>
                <a:latin typeface="Times New Roman"/>
                <a:cs typeface="Times New Roman"/>
              </a:rPr>
              <a:t>Mượn, trả, gia hạn phụ thuộc hoàn toàn vào quầy</a:t>
            </a:r>
          </a:p>
          <a:p>
            <a:pPr algn="l">
              <a:spcBef>
                <a:spcPts val="600"/>
              </a:spcBef>
              <a:spcAft>
                <a:spcPts val="0"/>
              </a:spcAft>
              <a:buNone/>
            </a:pPr>
            <a:r>
              <a:rPr lang="vi-VN" sz="1500" b="0" i="0" dirty="0">
                <a:solidFill>
                  <a:srgbClr val="5A6272"/>
                </a:solidFill>
                <a:latin typeface="Times New Roman"/>
                <a:cs typeface="Times New Roman"/>
              </a:rPr>
              <a:t>Phiếu giấy dễ thất lạc, khó tra lịch sử</a:t>
            </a:r>
          </a:p>
        </p:txBody>
      </p:sp>
      <p:sp>
        <p:nvSpPr>
          <p:cNvPr id="11" name="Card 11"/>
          <p:cNvSpPr/>
          <p:nvPr/>
        </p:nvSpPr>
        <p:spPr>
          <a:xfrm>
            <a:off x="8156448" y="1463040"/>
            <a:ext cx="3575304" cy="2103120"/>
          </a:xfrm>
          <a:prstGeom prst="roundRect">
            <a:avLst>
              <a:gd name="adj" fmla="val 3478"/>
            </a:avLst>
          </a:prstGeom>
          <a:solidFill>
            <a:srgbClr val="FFFFFF"/>
          </a:solidFill>
          <a:ln w="9525">
            <a:solidFill>
              <a:srgbClr val="C9D1E3"/>
            </a:solidFill>
          </a:ln>
        </p:spPr>
      </p:sp>
      <p:sp>
        <p:nvSpPr>
          <p:cNvPr id="12" name="Chip 12"/>
          <p:cNvSpPr/>
          <p:nvPr/>
        </p:nvSpPr>
        <p:spPr>
          <a:xfrm>
            <a:off x="8385048" y="1691640"/>
            <a:ext cx="1005840" cy="347472"/>
          </a:xfrm>
          <a:prstGeom prst="roundRect">
            <a:avLst>
              <a:gd name="adj" fmla="val 50000"/>
            </a:avLst>
          </a:prstGeom>
          <a:solidFill>
            <a:srgbClr val="223771"/>
          </a:solidFill>
          <a:ln>
            <a:noFill/>
          </a:ln>
        </p:spPr>
        <p:txBody>
          <a:bodyPr wrap="square" lIns="45720" tIns="0" rIns="45720" bIns="0" rtlCol="0" anchor="ctr">
            <a:noAutofit/>
          </a:bodyPr>
          <a:lstStyle/>
          <a:p>
            <a:pPr algn="ctr">
              <a:spcBef>
                <a:spcPts val="0"/>
              </a:spcBef>
              <a:spcAft>
                <a:spcPts val="0"/>
              </a:spcAft>
              <a:buNone/>
            </a:pPr>
            <a:r>
              <a:rPr lang="vi-VN" sz="1400" b="1" i="0" dirty="0">
                <a:solidFill>
                  <a:srgbClr val="FFFFFF"/>
                </a:solidFill>
                <a:latin typeface="Times New Roman"/>
                <a:cs typeface="Times New Roman"/>
              </a:rPr>
              <a:t>VĐ-03</a:t>
            </a:r>
          </a:p>
        </p:txBody>
      </p:sp>
      <p:sp>
        <p:nvSpPr>
          <p:cNvPr id="13" name="TextBox 13"/>
          <p:cNvSpPr txBox="1"/>
          <p:nvPr/>
        </p:nvSpPr>
        <p:spPr>
          <a:xfrm>
            <a:off x="8385048" y="2194560"/>
            <a:ext cx="3118104" cy="1280160"/>
          </a:xfrm>
          <a:prstGeom prst="rect">
            <a:avLst/>
          </a:prstGeom>
          <a:noFill/>
          <a:ln>
            <a:noFill/>
          </a:ln>
        </p:spPr>
        <p:txBody>
          <a:bodyPr wrap="square" lIns="0" tIns="0" rIns="0" bIns="0" rtlCol="0" anchor="t">
            <a:noAutofit/>
          </a:bodyPr>
          <a:lstStyle/>
          <a:p>
            <a:pPr algn="l">
              <a:spcBef>
                <a:spcPts val="0"/>
              </a:spcBef>
              <a:spcAft>
                <a:spcPts val="0"/>
              </a:spcAft>
              <a:buNone/>
            </a:pPr>
            <a:r>
              <a:rPr lang="vi-VN" sz="1800" b="1" i="0" dirty="0">
                <a:solidFill>
                  <a:srgbClr val="1F2433"/>
                </a:solidFill>
                <a:latin typeface="Times New Roman"/>
                <a:cs typeface="Times New Roman"/>
              </a:rPr>
              <a:t>Tính tiền phạt thủ công, thiếu minh bạch</a:t>
            </a:r>
          </a:p>
          <a:p>
            <a:pPr algn="l">
              <a:spcBef>
                <a:spcPts val="600"/>
              </a:spcBef>
              <a:spcAft>
                <a:spcPts val="0"/>
              </a:spcAft>
              <a:buNone/>
            </a:pPr>
            <a:r>
              <a:rPr lang="vi-VN" sz="1500" b="0" i="0" dirty="0">
                <a:solidFill>
                  <a:srgbClr val="5A6272"/>
                </a:solidFill>
                <a:latin typeface="Times New Roman"/>
                <a:cs typeface="Times New Roman"/>
              </a:rPr>
              <a:t>Dễ sai sót, dễ phát sinh tranh cãi</a:t>
            </a:r>
          </a:p>
        </p:txBody>
      </p:sp>
      <p:sp>
        <p:nvSpPr>
          <p:cNvPr id="14" name="Card 14"/>
          <p:cNvSpPr/>
          <p:nvPr/>
        </p:nvSpPr>
        <p:spPr>
          <a:xfrm>
            <a:off x="457200" y="3749040"/>
            <a:ext cx="3575304" cy="2103120"/>
          </a:xfrm>
          <a:prstGeom prst="roundRect">
            <a:avLst>
              <a:gd name="adj" fmla="val 3478"/>
            </a:avLst>
          </a:prstGeom>
          <a:solidFill>
            <a:srgbClr val="FFFFFF"/>
          </a:solidFill>
          <a:ln w="9525">
            <a:solidFill>
              <a:srgbClr val="C9D1E3"/>
            </a:solidFill>
          </a:ln>
        </p:spPr>
      </p:sp>
      <p:sp>
        <p:nvSpPr>
          <p:cNvPr id="15" name="Chip 15"/>
          <p:cNvSpPr/>
          <p:nvPr/>
        </p:nvSpPr>
        <p:spPr>
          <a:xfrm>
            <a:off x="685800" y="3977640"/>
            <a:ext cx="1005840" cy="347472"/>
          </a:xfrm>
          <a:prstGeom prst="roundRect">
            <a:avLst>
              <a:gd name="adj" fmla="val 50000"/>
            </a:avLst>
          </a:prstGeom>
          <a:solidFill>
            <a:srgbClr val="223771"/>
          </a:solidFill>
          <a:ln>
            <a:noFill/>
          </a:ln>
        </p:spPr>
        <p:txBody>
          <a:bodyPr wrap="square" lIns="45720" tIns="0" rIns="45720" bIns="0" rtlCol="0" anchor="ctr">
            <a:noAutofit/>
          </a:bodyPr>
          <a:lstStyle/>
          <a:p>
            <a:pPr algn="ctr">
              <a:spcBef>
                <a:spcPts val="0"/>
              </a:spcBef>
              <a:spcAft>
                <a:spcPts val="0"/>
              </a:spcAft>
              <a:buNone/>
            </a:pPr>
            <a:r>
              <a:rPr lang="vi-VN" sz="1400" b="1" i="0" dirty="0">
                <a:solidFill>
                  <a:srgbClr val="FFFFFF"/>
                </a:solidFill>
                <a:latin typeface="Times New Roman"/>
                <a:cs typeface="Times New Roman"/>
              </a:rPr>
              <a:t>VĐ-04</a:t>
            </a:r>
          </a:p>
        </p:txBody>
      </p:sp>
      <p:sp>
        <p:nvSpPr>
          <p:cNvPr id="16" name="TextBox 16"/>
          <p:cNvSpPr txBox="1"/>
          <p:nvPr/>
        </p:nvSpPr>
        <p:spPr>
          <a:xfrm>
            <a:off x="685800" y="4480560"/>
            <a:ext cx="3118104" cy="1280160"/>
          </a:xfrm>
          <a:prstGeom prst="rect">
            <a:avLst/>
          </a:prstGeom>
          <a:noFill/>
          <a:ln>
            <a:noFill/>
          </a:ln>
        </p:spPr>
        <p:txBody>
          <a:bodyPr wrap="square" lIns="0" tIns="0" rIns="0" bIns="0" rtlCol="0" anchor="t">
            <a:noAutofit/>
          </a:bodyPr>
          <a:lstStyle/>
          <a:p>
            <a:pPr algn="l">
              <a:spcBef>
                <a:spcPts val="0"/>
              </a:spcBef>
              <a:spcAft>
                <a:spcPts val="0"/>
              </a:spcAft>
              <a:buNone/>
            </a:pPr>
            <a:r>
              <a:rPr lang="vi-VN" sz="1800" b="1" i="0" dirty="0">
                <a:solidFill>
                  <a:srgbClr val="1F2433"/>
                </a:solidFill>
                <a:latin typeface="Times New Roman"/>
                <a:cs typeface="Times New Roman"/>
              </a:rPr>
              <a:t>Không có nhắc hạn và hàng chờ</a:t>
            </a:r>
          </a:p>
          <a:p>
            <a:pPr algn="l">
              <a:spcBef>
                <a:spcPts val="600"/>
              </a:spcBef>
              <a:spcAft>
                <a:spcPts val="0"/>
              </a:spcAft>
              <a:buNone/>
            </a:pPr>
            <a:r>
              <a:rPr lang="vi-VN" sz="1500" b="0" i="0" dirty="0">
                <a:solidFill>
                  <a:srgbClr val="5A6272"/>
                </a:solidFill>
                <a:latin typeface="Times New Roman"/>
                <a:cs typeface="Times New Roman"/>
              </a:rPr>
              <a:t>Sách hết thì người đến sau phải hỏi lại nhiều lần</a:t>
            </a:r>
          </a:p>
        </p:txBody>
      </p:sp>
      <p:sp>
        <p:nvSpPr>
          <p:cNvPr id="17" name="Card 17"/>
          <p:cNvSpPr/>
          <p:nvPr/>
        </p:nvSpPr>
        <p:spPr>
          <a:xfrm>
            <a:off x="4306824" y="3749040"/>
            <a:ext cx="3575304" cy="2103120"/>
          </a:xfrm>
          <a:prstGeom prst="roundRect">
            <a:avLst>
              <a:gd name="adj" fmla="val 3478"/>
            </a:avLst>
          </a:prstGeom>
          <a:solidFill>
            <a:srgbClr val="FFFFFF"/>
          </a:solidFill>
          <a:ln w="9525">
            <a:solidFill>
              <a:srgbClr val="C9D1E3"/>
            </a:solidFill>
          </a:ln>
        </p:spPr>
      </p:sp>
      <p:sp>
        <p:nvSpPr>
          <p:cNvPr id="18" name="Chip 18"/>
          <p:cNvSpPr/>
          <p:nvPr/>
        </p:nvSpPr>
        <p:spPr>
          <a:xfrm>
            <a:off x="4535424" y="3977640"/>
            <a:ext cx="1005840" cy="347472"/>
          </a:xfrm>
          <a:prstGeom prst="roundRect">
            <a:avLst>
              <a:gd name="adj" fmla="val 50000"/>
            </a:avLst>
          </a:prstGeom>
          <a:solidFill>
            <a:srgbClr val="223771"/>
          </a:solidFill>
          <a:ln>
            <a:noFill/>
          </a:ln>
        </p:spPr>
        <p:txBody>
          <a:bodyPr wrap="square" lIns="45720" tIns="0" rIns="45720" bIns="0" rtlCol="0" anchor="ctr">
            <a:noAutofit/>
          </a:bodyPr>
          <a:lstStyle/>
          <a:p>
            <a:pPr algn="ctr">
              <a:spcBef>
                <a:spcPts val="0"/>
              </a:spcBef>
              <a:spcAft>
                <a:spcPts val="0"/>
              </a:spcAft>
              <a:buNone/>
            </a:pPr>
            <a:r>
              <a:rPr lang="vi-VN" sz="1400" b="1" i="0" dirty="0">
                <a:solidFill>
                  <a:srgbClr val="FFFFFF"/>
                </a:solidFill>
                <a:latin typeface="Times New Roman"/>
                <a:cs typeface="Times New Roman"/>
              </a:rPr>
              <a:t>VĐ-05</a:t>
            </a:r>
          </a:p>
        </p:txBody>
      </p:sp>
      <p:sp>
        <p:nvSpPr>
          <p:cNvPr id="19" name="TextBox 19"/>
          <p:cNvSpPr txBox="1"/>
          <p:nvPr/>
        </p:nvSpPr>
        <p:spPr>
          <a:xfrm>
            <a:off x="4535424" y="4480560"/>
            <a:ext cx="3118104" cy="1280160"/>
          </a:xfrm>
          <a:prstGeom prst="rect">
            <a:avLst/>
          </a:prstGeom>
          <a:noFill/>
          <a:ln>
            <a:noFill/>
          </a:ln>
        </p:spPr>
        <p:txBody>
          <a:bodyPr wrap="square" lIns="0" tIns="0" rIns="0" bIns="0" rtlCol="0" anchor="t">
            <a:noAutofit/>
          </a:bodyPr>
          <a:lstStyle/>
          <a:p>
            <a:pPr algn="l">
              <a:spcBef>
                <a:spcPts val="0"/>
              </a:spcBef>
              <a:spcAft>
                <a:spcPts val="0"/>
              </a:spcAft>
              <a:buNone/>
            </a:pPr>
            <a:r>
              <a:rPr lang="vi-VN" sz="1800" b="1" i="0" dirty="0">
                <a:solidFill>
                  <a:srgbClr val="1F2433"/>
                </a:solidFill>
                <a:latin typeface="Times New Roman"/>
                <a:cs typeface="Times New Roman"/>
              </a:rPr>
              <a:t>Thiếu số liệu phục vụ quản lý</a:t>
            </a:r>
          </a:p>
          <a:p>
            <a:pPr algn="l">
              <a:spcBef>
                <a:spcPts val="600"/>
              </a:spcBef>
              <a:spcAft>
                <a:spcPts val="0"/>
              </a:spcAft>
              <a:buNone/>
            </a:pPr>
            <a:r>
              <a:rPr lang="vi-VN" sz="1500" b="0" i="0" dirty="0">
                <a:solidFill>
                  <a:srgbClr val="5A6272"/>
                </a:solidFill>
                <a:latin typeface="Times New Roman"/>
                <a:cs typeface="Times New Roman"/>
              </a:rPr>
              <a:t>Không biết sách nào được quan tâm, bao nhiêu phiếu quá hạn</a:t>
            </a:r>
          </a:p>
        </p:txBody>
      </p:sp>
      <p:sp>
        <p:nvSpPr>
          <p:cNvPr id="20" name="Card 20"/>
          <p:cNvSpPr/>
          <p:nvPr/>
        </p:nvSpPr>
        <p:spPr>
          <a:xfrm>
            <a:off x="8156448" y="3749040"/>
            <a:ext cx="3575304" cy="2103120"/>
          </a:xfrm>
          <a:prstGeom prst="roundRect">
            <a:avLst>
              <a:gd name="adj" fmla="val 3478"/>
            </a:avLst>
          </a:prstGeom>
          <a:solidFill>
            <a:srgbClr val="FFFFFF"/>
          </a:solidFill>
          <a:ln w="9525">
            <a:solidFill>
              <a:srgbClr val="C9D1E3"/>
            </a:solidFill>
          </a:ln>
        </p:spPr>
      </p:sp>
      <p:sp>
        <p:nvSpPr>
          <p:cNvPr id="21" name="Chip 21"/>
          <p:cNvSpPr/>
          <p:nvPr/>
        </p:nvSpPr>
        <p:spPr>
          <a:xfrm>
            <a:off x="8385048" y="3977640"/>
            <a:ext cx="1005840" cy="347472"/>
          </a:xfrm>
          <a:prstGeom prst="roundRect">
            <a:avLst>
              <a:gd name="adj" fmla="val 50000"/>
            </a:avLst>
          </a:prstGeom>
          <a:solidFill>
            <a:srgbClr val="223771"/>
          </a:solidFill>
          <a:ln>
            <a:noFill/>
          </a:ln>
        </p:spPr>
        <p:txBody>
          <a:bodyPr wrap="square" lIns="45720" tIns="0" rIns="45720" bIns="0" rtlCol="0" anchor="ctr">
            <a:noAutofit/>
          </a:bodyPr>
          <a:lstStyle/>
          <a:p>
            <a:pPr algn="ctr">
              <a:spcBef>
                <a:spcPts val="0"/>
              </a:spcBef>
              <a:spcAft>
                <a:spcPts val="0"/>
              </a:spcAft>
              <a:buNone/>
            </a:pPr>
            <a:r>
              <a:rPr lang="vi-VN" sz="1400" b="1" i="0" dirty="0">
                <a:solidFill>
                  <a:srgbClr val="FFFFFF"/>
                </a:solidFill>
                <a:latin typeface="Times New Roman"/>
                <a:cs typeface="Times New Roman"/>
              </a:rPr>
              <a:t>VĐ-06</a:t>
            </a:r>
          </a:p>
        </p:txBody>
      </p:sp>
      <p:sp>
        <p:nvSpPr>
          <p:cNvPr id="22" name="TextBox 22"/>
          <p:cNvSpPr txBox="1"/>
          <p:nvPr/>
        </p:nvSpPr>
        <p:spPr>
          <a:xfrm>
            <a:off x="8385048" y="4480560"/>
            <a:ext cx="3118104" cy="1280160"/>
          </a:xfrm>
          <a:prstGeom prst="rect">
            <a:avLst/>
          </a:prstGeom>
          <a:noFill/>
          <a:ln>
            <a:noFill/>
          </a:ln>
        </p:spPr>
        <p:txBody>
          <a:bodyPr wrap="square" lIns="0" tIns="0" rIns="0" bIns="0" rtlCol="0" anchor="t">
            <a:noAutofit/>
          </a:bodyPr>
          <a:lstStyle/>
          <a:p>
            <a:pPr algn="l">
              <a:spcBef>
                <a:spcPts val="0"/>
              </a:spcBef>
              <a:spcAft>
                <a:spcPts val="0"/>
              </a:spcAft>
              <a:buNone/>
            </a:pPr>
            <a:r>
              <a:rPr lang="vi-VN" sz="1800" b="1" i="0" dirty="0">
                <a:solidFill>
                  <a:srgbClr val="1F2433"/>
                </a:solidFill>
                <a:latin typeface="Times New Roman"/>
                <a:cs typeface="Times New Roman"/>
              </a:rPr>
              <a:t>Khó tìm được sách phù hợp</a:t>
            </a:r>
          </a:p>
          <a:p>
            <a:pPr algn="l">
              <a:spcBef>
                <a:spcPts val="600"/>
              </a:spcBef>
              <a:spcAft>
                <a:spcPts val="0"/>
              </a:spcAft>
              <a:buNone/>
            </a:pPr>
            <a:r>
              <a:rPr lang="vi-VN" sz="1500" b="0" i="0" dirty="0">
                <a:solidFill>
                  <a:srgbClr val="5A6272"/>
                </a:solidFill>
                <a:latin typeface="Times New Roman"/>
                <a:cs typeface="Times New Roman"/>
              </a:rPr>
              <a:t>Không có kênh gợi ý theo sở thích, lịch sử đọc</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b="1" dirty="0">
                <a:solidFill>
                  <a:srgbClr val="223771"/>
                </a:solidFill>
                <a:latin typeface="Times New Roman"/>
                <a:cs typeface="Times New Roman"/>
              </a:rPr>
              <a:t>KHẢO SÁT GIẢI PHÁP</a:t>
            </a:r>
          </a:p>
        </p:txBody>
      </p:sp>
      <p:sp>
        <p:nvSpPr>
          <p:cNvPr id="4" name="TextBox 4"/>
          <p:cNvSpPr txBox="1"/>
          <p:nvPr/>
        </p:nvSpPr>
        <p:spPr>
          <a:xfrm>
            <a:off x="457200" y="896112"/>
            <a:ext cx="11274552" cy="411480"/>
          </a:xfrm>
          <a:prstGeom prst="rect">
            <a:avLst/>
          </a:prstGeom>
          <a:noFill/>
          <a:ln>
            <a:noFill/>
          </a:ln>
        </p:spPr>
        <p:txBody>
          <a:bodyPr wrap="square" lIns="0" tIns="0" rIns="0" bIns="0" rtlCol="0" anchor="ctr">
            <a:noAutofit/>
          </a:bodyPr>
          <a:lstStyle/>
          <a:p>
            <a:pPr algn="l">
              <a:spcBef>
                <a:spcPts val="0"/>
              </a:spcBef>
              <a:spcAft>
                <a:spcPts val="0"/>
              </a:spcAft>
              <a:buNone/>
            </a:pPr>
            <a:r>
              <a:rPr lang="vi-VN" sz="1800" b="0" i="1" dirty="0">
                <a:solidFill>
                  <a:srgbClr val="5A6272"/>
                </a:solidFill>
                <a:latin typeface="Times New Roman"/>
                <a:cs typeface="Times New Roman"/>
              </a:rPr>
              <a:t>Phần mềm thư viện quá nặng, phần mềm bán hàng thì thiếu nghiệp vụ</a:t>
            </a:r>
          </a:p>
        </p:txBody>
      </p:sp>
      <p:graphicFrame>
        <p:nvGraphicFramePr>
          <p:cNvPr id="5" name="Table 5"/>
          <p:cNvGraphicFramePr>
            <a:graphicFrameLocks noGrp="1"/>
          </p:cNvGraphicFramePr>
          <p:nvPr/>
        </p:nvGraphicFramePr>
        <p:xfrm>
          <a:off x="457200" y="1463040"/>
          <a:ext cx="11274552" cy="3941064"/>
        </p:xfrm>
        <a:graphic>
          <a:graphicData uri="http://schemas.openxmlformats.org/drawingml/2006/table">
            <a:tbl>
              <a:tblPr firstRow="1" bandRow="1"/>
              <a:tblGrid>
                <a:gridCol w="2862072">
                  <a:extLst>
                    <a:ext uri="{9D8B030D-6E8A-4147-A177-3AD203B41FA5}">
                      <a16:colId xmlns:a16="http://schemas.microsoft.com/office/drawing/2014/main" val="20000"/>
                    </a:ext>
                  </a:extLst>
                </a:gridCol>
                <a:gridCol w="2011680">
                  <a:extLst>
                    <a:ext uri="{9D8B030D-6E8A-4147-A177-3AD203B41FA5}">
                      <a16:colId xmlns:a16="http://schemas.microsoft.com/office/drawing/2014/main" val="20001"/>
                    </a:ext>
                  </a:extLst>
                </a:gridCol>
                <a:gridCol w="2011680">
                  <a:extLst>
                    <a:ext uri="{9D8B030D-6E8A-4147-A177-3AD203B41FA5}">
                      <a16:colId xmlns:a16="http://schemas.microsoft.com/office/drawing/2014/main" val="20002"/>
                    </a:ext>
                  </a:extLst>
                </a:gridCol>
                <a:gridCol w="2011680">
                  <a:extLst>
                    <a:ext uri="{9D8B030D-6E8A-4147-A177-3AD203B41FA5}">
                      <a16:colId xmlns:a16="http://schemas.microsoft.com/office/drawing/2014/main" val="20003"/>
                    </a:ext>
                  </a:extLst>
                </a:gridCol>
                <a:gridCol w="2377440">
                  <a:extLst>
                    <a:ext uri="{9D8B030D-6E8A-4147-A177-3AD203B41FA5}">
                      <a16:colId xmlns:a16="http://schemas.microsoft.com/office/drawing/2014/main" val="20004"/>
                    </a:ext>
                  </a:extLst>
                </a:gridCol>
              </a:tblGrid>
              <a:tr h="502920">
                <a:tc>
                  <a:txBody>
                    <a:bodyPr/>
                    <a:lstStyle/>
                    <a:p>
                      <a:pPr algn="l">
                        <a:spcBef>
                          <a:spcPts val="0"/>
                        </a:spcBef>
                        <a:spcAft>
                          <a:spcPts val="0"/>
                        </a:spcAft>
                        <a:buNone/>
                      </a:pPr>
                      <a:r>
                        <a:rPr lang="vi-VN" sz="1500" b="1" i="0" dirty="0">
                          <a:solidFill>
                            <a:srgbClr val="FFFFFF"/>
                          </a:solidFill>
                          <a:latin typeface="Times New Roman"/>
                          <a:cs typeface="Times New Roman"/>
                        </a:rPr>
                        <a:t>Tiêu chí</a:t>
                      </a:r>
                    </a:p>
                  </a:txBody>
                  <a:tcPr marL="109728" marR="109728" marT="36576" marB="36576" anchor="ctr">
                    <a:lnL w="9525" cap="flat" cmpd="sng" algn="ctr">
                      <a:solidFill>
                        <a:srgbClr val="C9D1E3"/>
                      </a:solidFill>
                      <a:prstDash val="solid"/>
                    </a:lnL>
                    <a:lnR w="9525" cap="flat" cmpd="sng" algn="ctr">
                      <a:solidFill>
                        <a:srgbClr val="C9D1E3"/>
                      </a:solidFill>
                      <a:prstDash val="solid"/>
                    </a:lnR>
                    <a:lnT w="9525" cap="flat" cmpd="sng" algn="ctr">
                      <a:solidFill>
                        <a:srgbClr val="C9D1E3"/>
                      </a:solidFill>
                      <a:prstDash val="solid"/>
                    </a:lnT>
                    <a:lnB w="9525" cap="flat" cmpd="sng" algn="ctr">
                      <a:solidFill>
                        <a:srgbClr val="C9D1E3"/>
                      </a:solidFill>
                      <a:prstDash val="solid"/>
                    </a:lnB>
                    <a:solidFill>
                      <a:srgbClr val="223771"/>
                    </a:solidFill>
                  </a:tcPr>
                </a:tc>
                <a:tc>
                  <a:txBody>
                    <a:bodyPr/>
                    <a:lstStyle/>
                    <a:p>
                      <a:pPr algn="ctr">
                        <a:spcBef>
                          <a:spcPts val="0"/>
                        </a:spcBef>
                        <a:spcAft>
                          <a:spcPts val="0"/>
                        </a:spcAft>
                        <a:buNone/>
                      </a:pPr>
                      <a:r>
                        <a:rPr lang="vi-VN" sz="1500" b="1" i="0" dirty="0">
                          <a:solidFill>
                            <a:srgbClr val="FFFFFF"/>
                          </a:solidFill>
                          <a:latin typeface="Times New Roman"/>
                          <a:cs typeface="Times New Roman"/>
                        </a:rPr>
                        <a:t>Koha (tự triển khai)</a:t>
                      </a:r>
                    </a:p>
                  </a:txBody>
                  <a:tcPr marL="109728" marR="109728" marT="36576" marB="36576" anchor="ctr">
                    <a:lnL w="9525" cap="flat" cmpd="sng" algn="ctr">
                      <a:solidFill>
                        <a:srgbClr val="C9D1E3"/>
                      </a:solidFill>
                      <a:prstDash val="solid"/>
                    </a:lnL>
                    <a:lnR w="9525" cap="flat" cmpd="sng" algn="ctr">
                      <a:solidFill>
                        <a:srgbClr val="C9D1E3"/>
                      </a:solidFill>
                      <a:prstDash val="solid"/>
                    </a:lnR>
                    <a:lnT w="9525" cap="flat" cmpd="sng" algn="ctr">
                      <a:solidFill>
                        <a:srgbClr val="C9D1E3"/>
                      </a:solidFill>
                      <a:prstDash val="solid"/>
                    </a:lnT>
                    <a:lnB w="9525" cap="flat" cmpd="sng" algn="ctr">
                      <a:solidFill>
                        <a:srgbClr val="C9D1E3"/>
                      </a:solidFill>
                      <a:prstDash val="solid"/>
                    </a:lnB>
                    <a:solidFill>
                      <a:srgbClr val="223771"/>
                    </a:solidFill>
                  </a:tcPr>
                </a:tc>
                <a:tc>
                  <a:txBody>
                    <a:bodyPr/>
                    <a:lstStyle/>
                    <a:p>
                      <a:pPr algn="ctr">
                        <a:spcBef>
                          <a:spcPts val="0"/>
                        </a:spcBef>
                        <a:spcAft>
                          <a:spcPts val="0"/>
                        </a:spcAft>
                        <a:buNone/>
                      </a:pPr>
                      <a:r>
                        <a:rPr lang="vi-VN" sz="1500" b="1" i="0" dirty="0">
                          <a:solidFill>
                            <a:srgbClr val="FFFFFF"/>
                          </a:solidFill>
                          <a:latin typeface="Times New Roman"/>
                          <a:cs typeface="Times New Roman"/>
                        </a:rPr>
                        <a:t>Libol</a:t>
                      </a:r>
                    </a:p>
                  </a:txBody>
                  <a:tcPr marL="109728" marR="109728" marT="36576" marB="36576" anchor="ctr">
                    <a:lnL w="9525" cap="flat" cmpd="sng" algn="ctr">
                      <a:solidFill>
                        <a:srgbClr val="C9D1E3"/>
                      </a:solidFill>
                      <a:prstDash val="solid"/>
                    </a:lnL>
                    <a:lnR w="9525" cap="flat" cmpd="sng" algn="ctr">
                      <a:solidFill>
                        <a:srgbClr val="C9D1E3"/>
                      </a:solidFill>
                      <a:prstDash val="solid"/>
                    </a:lnR>
                    <a:lnT w="9525" cap="flat" cmpd="sng" algn="ctr">
                      <a:solidFill>
                        <a:srgbClr val="C9D1E3"/>
                      </a:solidFill>
                      <a:prstDash val="solid"/>
                    </a:lnT>
                    <a:lnB w="9525" cap="flat" cmpd="sng" algn="ctr">
                      <a:solidFill>
                        <a:srgbClr val="C9D1E3"/>
                      </a:solidFill>
                      <a:prstDash val="solid"/>
                    </a:lnB>
                    <a:solidFill>
                      <a:srgbClr val="223771"/>
                    </a:solidFill>
                  </a:tcPr>
                </a:tc>
                <a:tc>
                  <a:txBody>
                    <a:bodyPr/>
                    <a:lstStyle/>
                    <a:p>
                      <a:pPr algn="ctr">
                        <a:spcBef>
                          <a:spcPts val="0"/>
                        </a:spcBef>
                        <a:spcAft>
                          <a:spcPts val="0"/>
                        </a:spcAft>
                        <a:buNone/>
                      </a:pPr>
                      <a:r>
                        <a:rPr lang="vi-VN" sz="1500" b="1" i="0" dirty="0">
                          <a:solidFill>
                            <a:srgbClr val="FFFFFF"/>
                          </a:solidFill>
                          <a:latin typeface="Times New Roman"/>
                          <a:cs typeface="Times New Roman"/>
                        </a:rPr>
                        <a:t>Bán hàng / Excel</a:t>
                      </a:r>
                    </a:p>
                  </a:txBody>
                  <a:tcPr marL="109728" marR="109728" marT="36576" marB="36576" anchor="ctr">
                    <a:lnL w="9525" cap="flat" cmpd="sng" algn="ctr">
                      <a:solidFill>
                        <a:srgbClr val="C9D1E3"/>
                      </a:solidFill>
                      <a:prstDash val="solid"/>
                    </a:lnL>
                    <a:lnR w="9525" cap="flat" cmpd="sng" algn="ctr">
                      <a:solidFill>
                        <a:srgbClr val="C9D1E3"/>
                      </a:solidFill>
                      <a:prstDash val="solid"/>
                    </a:lnR>
                    <a:lnT w="9525" cap="flat" cmpd="sng" algn="ctr">
                      <a:solidFill>
                        <a:srgbClr val="C9D1E3"/>
                      </a:solidFill>
                      <a:prstDash val="solid"/>
                    </a:lnT>
                    <a:lnB w="9525" cap="flat" cmpd="sng" algn="ctr">
                      <a:solidFill>
                        <a:srgbClr val="C9D1E3"/>
                      </a:solidFill>
                      <a:prstDash val="solid"/>
                    </a:lnB>
                    <a:solidFill>
                      <a:srgbClr val="223771"/>
                    </a:solidFill>
                  </a:tcPr>
                </a:tc>
                <a:tc>
                  <a:txBody>
                    <a:bodyPr/>
                    <a:lstStyle/>
                    <a:p>
                      <a:pPr algn="ctr">
                        <a:spcBef>
                          <a:spcPts val="0"/>
                        </a:spcBef>
                        <a:spcAft>
                          <a:spcPts val="0"/>
                        </a:spcAft>
                        <a:buNone/>
                      </a:pPr>
                      <a:r>
                        <a:rPr lang="vi-VN" sz="1500" b="1" i="0" dirty="0">
                          <a:solidFill>
                            <a:srgbClr val="FFFFFF"/>
                          </a:solidFill>
                          <a:latin typeface="Times New Roman"/>
                          <a:cs typeface="Times New Roman"/>
                        </a:rPr>
                        <a:t>Fahasa Digital</a:t>
                      </a:r>
                    </a:p>
                  </a:txBody>
                  <a:tcPr marL="109728" marR="109728" marT="36576" marB="36576" anchor="ctr">
                    <a:lnL w="9525" cap="flat" cmpd="sng" algn="ctr">
                      <a:solidFill>
                        <a:srgbClr val="C9D1E3"/>
                      </a:solidFill>
                      <a:prstDash val="solid"/>
                    </a:lnL>
                    <a:lnR w="9525" cap="flat" cmpd="sng" algn="ctr">
                      <a:solidFill>
                        <a:srgbClr val="C9D1E3"/>
                      </a:solidFill>
                      <a:prstDash val="solid"/>
                    </a:lnR>
                    <a:lnT w="9525" cap="flat" cmpd="sng" algn="ctr">
                      <a:solidFill>
                        <a:srgbClr val="C9D1E3"/>
                      </a:solidFill>
                      <a:prstDash val="solid"/>
                    </a:lnT>
                    <a:lnB w="9525" cap="flat" cmpd="sng" algn="ctr">
                      <a:solidFill>
                        <a:srgbClr val="C9D1E3"/>
                      </a:solidFill>
                      <a:prstDash val="solid"/>
                    </a:lnB>
                    <a:solidFill>
                      <a:srgbClr val="F26522"/>
                    </a:solidFill>
                  </a:tcPr>
                </a:tc>
                <a:extLst>
                  <a:ext uri="{0D108BD9-81ED-4DB2-BD59-A6C34878D82A}">
                    <a16:rowId xmlns:a16="http://schemas.microsoft.com/office/drawing/2014/main" val="10000"/>
                  </a:ext>
                </a:extLst>
              </a:tr>
              <a:tr h="429768">
                <a:tc>
                  <a:txBody>
                    <a:bodyPr/>
                    <a:lstStyle/>
                    <a:p>
                      <a:pPr algn="l">
                        <a:spcBef>
                          <a:spcPts val="0"/>
                        </a:spcBef>
                        <a:spcAft>
                          <a:spcPts val="0"/>
                        </a:spcAft>
                        <a:buNone/>
                      </a:pPr>
                      <a:r>
                        <a:rPr lang="vi-VN" sz="1400" b="1" i="0" dirty="0">
                          <a:solidFill>
                            <a:srgbClr val="1F2433"/>
                          </a:solidFill>
                          <a:latin typeface="Times New Roman"/>
                          <a:cs typeface="Times New Roman"/>
                        </a:rPr>
                        <a:t>Tra cứu sách trực tuyến</a:t>
                      </a:r>
                    </a:p>
                  </a:txBody>
                  <a:tcPr marL="109728" marR="109728" marT="36576" marB="36576" anchor="ctr">
                    <a:lnL w="9525" cap="flat" cmpd="sng" algn="ctr">
                      <a:solidFill>
                        <a:srgbClr val="C9D1E3"/>
                      </a:solidFill>
                      <a:prstDash val="solid"/>
                    </a:lnL>
                    <a:lnR w="9525" cap="flat" cmpd="sng" algn="ctr">
                      <a:solidFill>
                        <a:srgbClr val="C9D1E3"/>
                      </a:solidFill>
                      <a:prstDash val="solid"/>
                    </a:lnR>
                    <a:lnT w="9525" cap="flat" cmpd="sng" algn="ctr">
                      <a:solidFill>
                        <a:srgbClr val="C9D1E3"/>
                      </a:solidFill>
                      <a:prstDash val="solid"/>
                    </a:lnT>
                    <a:lnB w="9525" cap="flat" cmpd="sng" algn="ctr">
                      <a:solidFill>
                        <a:srgbClr val="C9D1E3"/>
                      </a:solidFill>
                      <a:prstDash val="solid"/>
                    </a:lnB>
                    <a:solidFill>
                      <a:srgbClr val="FFFFFF"/>
                    </a:solidFill>
                  </a:tcPr>
                </a:tc>
                <a:tc>
                  <a:txBody>
                    <a:bodyPr/>
                    <a:lstStyle/>
                    <a:p>
                      <a:pPr algn="ctr">
                        <a:spcBef>
                          <a:spcPts val="0"/>
                        </a:spcBef>
                        <a:spcAft>
                          <a:spcPts val="0"/>
                        </a:spcAft>
                        <a:buNone/>
                      </a:pPr>
                      <a:r>
                        <a:rPr lang="vi-VN" sz="1400" b="0" i="0" dirty="0">
                          <a:solidFill>
                            <a:srgbClr val="1F2433"/>
                          </a:solidFill>
                          <a:latin typeface="Times New Roman"/>
                          <a:cs typeface="Times New Roman"/>
                        </a:rPr>
                        <a:t>Có</a:t>
                      </a:r>
                    </a:p>
                  </a:txBody>
                  <a:tcPr marL="109728" marR="109728" marT="36576" marB="36576" anchor="ctr">
                    <a:lnL w="9525" cap="flat" cmpd="sng" algn="ctr">
                      <a:solidFill>
                        <a:srgbClr val="C9D1E3"/>
                      </a:solidFill>
                      <a:prstDash val="solid"/>
                    </a:lnL>
                    <a:lnR w="9525" cap="flat" cmpd="sng" algn="ctr">
                      <a:solidFill>
                        <a:srgbClr val="C9D1E3"/>
                      </a:solidFill>
                      <a:prstDash val="solid"/>
                    </a:lnR>
                    <a:lnT w="9525" cap="flat" cmpd="sng" algn="ctr">
                      <a:solidFill>
                        <a:srgbClr val="C9D1E3"/>
                      </a:solidFill>
                      <a:prstDash val="solid"/>
                    </a:lnT>
                    <a:lnB w="9525" cap="flat" cmpd="sng" algn="ctr">
                      <a:solidFill>
                        <a:srgbClr val="C9D1E3"/>
                      </a:solidFill>
                      <a:prstDash val="solid"/>
                    </a:lnB>
                    <a:solidFill>
                      <a:srgbClr val="FFFFFF"/>
                    </a:solidFill>
                  </a:tcPr>
                </a:tc>
                <a:tc>
                  <a:txBody>
                    <a:bodyPr/>
                    <a:lstStyle/>
                    <a:p>
                      <a:pPr algn="ctr">
                        <a:spcBef>
                          <a:spcPts val="0"/>
                        </a:spcBef>
                        <a:spcAft>
                          <a:spcPts val="0"/>
                        </a:spcAft>
                        <a:buNone/>
                      </a:pPr>
                      <a:r>
                        <a:rPr lang="vi-VN" sz="1400" b="0" i="0" dirty="0">
                          <a:solidFill>
                            <a:srgbClr val="1F2433"/>
                          </a:solidFill>
                          <a:latin typeface="Times New Roman"/>
                          <a:cs typeface="Times New Roman"/>
                        </a:rPr>
                        <a:t>Có</a:t>
                      </a:r>
                    </a:p>
                  </a:txBody>
                  <a:tcPr marL="109728" marR="109728" marT="36576" marB="36576" anchor="ctr">
                    <a:lnL w="9525" cap="flat" cmpd="sng" algn="ctr">
                      <a:solidFill>
                        <a:srgbClr val="C9D1E3"/>
                      </a:solidFill>
                      <a:prstDash val="solid"/>
                    </a:lnL>
                    <a:lnR w="9525" cap="flat" cmpd="sng" algn="ctr">
                      <a:solidFill>
                        <a:srgbClr val="C9D1E3"/>
                      </a:solidFill>
                      <a:prstDash val="solid"/>
                    </a:lnR>
                    <a:lnT w="9525" cap="flat" cmpd="sng" algn="ctr">
                      <a:solidFill>
                        <a:srgbClr val="C9D1E3"/>
                      </a:solidFill>
                      <a:prstDash val="solid"/>
                    </a:lnT>
                    <a:lnB w="9525" cap="flat" cmpd="sng" algn="ctr">
                      <a:solidFill>
                        <a:srgbClr val="C9D1E3"/>
                      </a:solidFill>
                      <a:prstDash val="solid"/>
                    </a:lnB>
                    <a:solidFill>
                      <a:srgbClr val="FFFFFF"/>
                    </a:solidFill>
                  </a:tcPr>
                </a:tc>
                <a:tc>
                  <a:txBody>
                    <a:bodyPr/>
                    <a:lstStyle/>
                    <a:p>
                      <a:pPr algn="ctr">
                        <a:spcBef>
                          <a:spcPts val="0"/>
                        </a:spcBef>
                        <a:spcAft>
                          <a:spcPts val="0"/>
                        </a:spcAft>
                        <a:buNone/>
                      </a:pPr>
                      <a:r>
                        <a:rPr lang="vi-VN" sz="1400" b="0" i="0" dirty="0">
                          <a:solidFill>
                            <a:srgbClr val="1F2433"/>
                          </a:solidFill>
                          <a:latin typeface="Times New Roman"/>
                          <a:cs typeface="Times New Roman"/>
                        </a:rPr>
                        <a:t>Không</a:t>
                      </a:r>
                    </a:p>
                  </a:txBody>
                  <a:tcPr marL="109728" marR="109728" marT="36576" marB="36576" anchor="ctr">
                    <a:lnL w="9525" cap="flat" cmpd="sng" algn="ctr">
                      <a:solidFill>
                        <a:srgbClr val="C9D1E3"/>
                      </a:solidFill>
                      <a:prstDash val="solid"/>
                    </a:lnL>
                    <a:lnR w="9525" cap="flat" cmpd="sng" algn="ctr">
                      <a:solidFill>
                        <a:srgbClr val="C9D1E3"/>
                      </a:solidFill>
                      <a:prstDash val="solid"/>
                    </a:lnR>
                    <a:lnT w="9525" cap="flat" cmpd="sng" algn="ctr">
                      <a:solidFill>
                        <a:srgbClr val="C9D1E3"/>
                      </a:solidFill>
                      <a:prstDash val="solid"/>
                    </a:lnT>
                    <a:lnB w="9525" cap="flat" cmpd="sng" algn="ctr">
                      <a:solidFill>
                        <a:srgbClr val="C9D1E3"/>
                      </a:solidFill>
                      <a:prstDash val="solid"/>
                    </a:lnB>
                    <a:solidFill>
                      <a:srgbClr val="FFFFFF"/>
                    </a:solidFill>
                  </a:tcPr>
                </a:tc>
                <a:tc>
                  <a:txBody>
                    <a:bodyPr/>
                    <a:lstStyle/>
                    <a:p>
                      <a:pPr algn="ctr">
                        <a:spcBef>
                          <a:spcPts val="0"/>
                        </a:spcBef>
                        <a:spcAft>
                          <a:spcPts val="0"/>
                        </a:spcAft>
                        <a:buNone/>
                      </a:pPr>
                      <a:r>
                        <a:rPr lang="vi-VN" sz="1400" b="1" i="0" dirty="0">
                          <a:solidFill>
                            <a:srgbClr val="223771"/>
                          </a:solidFill>
                          <a:latin typeface="Times New Roman"/>
                          <a:cs typeface="Times New Roman"/>
                        </a:rPr>
                        <a:t>Có</a:t>
                      </a:r>
                    </a:p>
                  </a:txBody>
                  <a:tcPr marL="109728" marR="109728" marT="36576" marB="36576" anchor="ctr">
                    <a:lnL w="9525" cap="flat" cmpd="sng" algn="ctr">
                      <a:solidFill>
                        <a:srgbClr val="C9D1E3"/>
                      </a:solidFill>
                      <a:prstDash val="solid"/>
                    </a:lnL>
                    <a:lnR w="9525" cap="flat" cmpd="sng" algn="ctr">
                      <a:solidFill>
                        <a:srgbClr val="C9D1E3"/>
                      </a:solidFill>
                      <a:prstDash val="solid"/>
                    </a:lnR>
                    <a:lnT w="9525" cap="flat" cmpd="sng" algn="ctr">
                      <a:solidFill>
                        <a:srgbClr val="C9D1E3"/>
                      </a:solidFill>
                      <a:prstDash val="solid"/>
                    </a:lnT>
                    <a:lnB w="9525" cap="flat" cmpd="sng" algn="ctr">
                      <a:solidFill>
                        <a:srgbClr val="C9D1E3"/>
                      </a:solidFill>
                      <a:prstDash val="solid"/>
                    </a:lnB>
                    <a:solidFill>
                      <a:srgbClr val="FDEEE4"/>
                    </a:solidFill>
                  </a:tcPr>
                </a:tc>
                <a:extLst>
                  <a:ext uri="{0D108BD9-81ED-4DB2-BD59-A6C34878D82A}">
                    <a16:rowId xmlns:a16="http://schemas.microsoft.com/office/drawing/2014/main" val="10001"/>
                  </a:ext>
                </a:extLst>
              </a:tr>
              <a:tr h="429768">
                <a:tc>
                  <a:txBody>
                    <a:bodyPr/>
                    <a:lstStyle/>
                    <a:p>
                      <a:pPr algn="l">
                        <a:spcBef>
                          <a:spcPts val="0"/>
                        </a:spcBef>
                        <a:spcAft>
                          <a:spcPts val="0"/>
                        </a:spcAft>
                        <a:buNone/>
                      </a:pPr>
                      <a:r>
                        <a:rPr lang="vi-VN" sz="1400" b="1" i="0" dirty="0">
                          <a:solidFill>
                            <a:srgbClr val="1F2433"/>
                          </a:solidFill>
                          <a:latin typeface="Times New Roman"/>
                          <a:cs typeface="Times New Roman"/>
                        </a:rPr>
                        <a:t>Đặt mượn trực tuyến</a:t>
                      </a:r>
                    </a:p>
                  </a:txBody>
                  <a:tcPr marL="109728" marR="109728" marT="36576" marB="36576" anchor="ctr">
                    <a:lnL w="9525" cap="flat" cmpd="sng" algn="ctr">
                      <a:solidFill>
                        <a:srgbClr val="C9D1E3"/>
                      </a:solidFill>
                      <a:prstDash val="solid"/>
                    </a:lnL>
                    <a:lnR w="9525" cap="flat" cmpd="sng" algn="ctr">
                      <a:solidFill>
                        <a:srgbClr val="C9D1E3"/>
                      </a:solidFill>
                      <a:prstDash val="solid"/>
                    </a:lnR>
                    <a:lnT w="9525" cap="flat" cmpd="sng" algn="ctr">
                      <a:solidFill>
                        <a:srgbClr val="C9D1E3"/>
                      </a:solidFill>
                      <a:prstDash val="solid"/>
                    </a:lnT>
                    <a:lnB w="9525" cap="flat" cmpd="sng" algn="ctr">
                      <a:solidFill>
                        <a:srgbClr val="C9D1E3"/>
                      </a:solidFill>
                      <a:prstDash val="solid"/>
                    </a:lnB>
                    <a:solidFill>
                      <a:srgbClr val="F4F6FA"/>
                    </a:solidFill>
                  </a:tcPr>
                </a:tc>
                <a:tc>
                  <a:txBody>
                    <a:bodyPr/>
                    <a:lstStyle/>
                    <a:p>
                      <a:pPr algn="ctr">
                        <a:spcBef>
                          <a:spcPts val="0"/>
                        </a:spcBef>
                        <a:spcAft>
                          <a:spcPts val="0"/>
                        </a:spcAft>
                        <a:buNone/>
                      </a:pPr>
                      <a:r>
                        <a:rPr lang="vi-VN" sz="1400" b="0" i="0" dirty="0">
                          <a:solidFill>
                            <a:srgbClr val="1F2433"/>
                          </a:solidFill>
                          <a:latin typeface="Times New Roman"/>
                          <a:cs typeface="Times New Roman"/>
                        </a:rPr>
                        <a:t>Có, đặt giữ</a:t>
                      </a:r>
                    </a:p>
                  </a:txBody>
                  <a:tcPr marL="109728" marR="109728" marT="36576" marB="36576" anchor="ctr">
                    <a:lnL w="9525" cap="flat" cmpd="sng" algn="ctr">
                      <a:solidFill>
                        <a:srgbClr val="C9D1E3"/>
                      </a:solidFill>
                      <a:prstDash val="solid"/>
                    </a:lnL>
                    <a:lnR w="9525" cap="flat" cmpd="sng" algn="ctr">
                      <a:solidFill>
                        <a:srgbClr val="C9D1E3"/>
                      </a:solidFill>
                      <a:prstDash val="solid"/>
                    </a:lnR>
                    <a:lnT w="9525" cap="flat" cmpd="sng" algn="ctr">
                      <a:solidFill>
                        <a:srgbClr val="C9D1E3"/>
                      </a:solidFill>
                      <a:prstDash val="solid"/>
                    </a:lnT>
                    <a:lnB w="9525" cap="flat" cmpd="sng" algn="ctr">
                      <a:solidFill>
                        <a:srgbClr val="C9D1E3"/>
                      </a:solidFill>
                      <a:prstDash val="solid"/>
                    </a:lnB>
                    <a:solidFill>
                      <a:srgbClr val="F4F6FA"/>
                    </a:solidFill>
                  </a:tcPr>
                </a:tc>
                <a:tc>
                  <a:txBody>
                    <a:bodyPr/>
                    <a:lstStyle/>
                    <a:p>
                      <a:pPr algn="ctr">
                        <a:spcBef>
                          <a:spcPts val="0"/>
                        </a:spcBef>
                        <a:spcAft>
                          <a:spcPts val="0"/>
                        </a:spcAft>
                        <a:buNone/>
                      </a:pPr>
                      <a:r>
                        <a:rPr lang="vi-VN" sz="1400" b="0" i="0" dirty="0">
                          <a:solidFill>
                            <a:srgbClr val="1F2433"/>
                          </a:solidFill>
                          <a:latin typeface="Times New Roman"/>
                          <a:cs typeface="Times New Roman"/>
                        </a:rPr>
                        <a:t>Tài liệu điện tử</a:t>
                      </a:r>
                    </a:p>
                  </a:txBody>
                  <a:tcPr marL="109728" marR="109728" marT="36576" marB="36576" anchor="ctr">
                    <a:lnL w="9525" cap="flat" cmpd="sng" algn="ctr">
                      <a:solidFill>
                        <a:srgbClr val="C9D1E3"/>
                      </a:solidFill>
                      <a:prstDash val="solid"/>
                    </a:lnL>
                    <a:lnR w="9525" cap="flat" cmpd="sng" algn="ctr">
                      <a:solidFill>
                        <a:srgbClr val="C9D1E3"/>
                      </a:solidFill>
                      <a:prstDash val="solid"/>
                    </a:lnR>
                    <a:lnT w="9525" cap="flat" cmpd="sng" algn="ctr">
                      <a:solidFill>
                        <a:srgbClr val="C9D1E3"/>
                      </a:solidFill>
                      <a:prstDash val="solid"/>
                    </a:lnT>
                    <a:lnB w="9525" cap="flat" cmpd="sng" algn="ctr">
                      <a:solidFill>
                        <a:srgbClr val="C9D1E3"/>
                      </a:solidFill>
                      <a:prstDash val="solid"/>
                    </a:lnB>
                    <a:solidFill>
                      <a:srgbClr val="F4F6FA"/>
                    </a:solidFill>
                  </a:tcPr>
                </a:tc>
                <a:tc>
                  <a:txBody>
                    <a:bodyPr/>
                    <a:lstStyle/>
                    <a:p>
                      <a:pPr algn="ctr">
                        <a:spcBef>
                          <a:spcPts val="0"/>
                        </a:spcBef>
                        <a:spcAft>
                          <a:spcPts val="0"/>
                        </a:spcAft>
                        <a:buNone/>
                      </a:pPr>
                      <a:r>
                        <a:rPr lang="vi-VN" sz="1400" b="0" i="0" dirty="0">
                          <a:solidFill>
                            <a:srgbClr val="1F2433"/>
                          </a:solidFill>
                          <a:latin typeface="Times New Roman"/>
                          <a:cs typeface="Times New Roman"/>
                        </a:rPr>
                        <a:t>Không</a:t>
                      </a:r>
                    </a:p>
                  </a:txBody>
                  <a:tcPr marL="109728" marR="109728" marT="36576" marB="36576" anchor="ctr">
                    <a:lnL w="9525" cap="flat" cmpd="sng" algn="ctr">
                      <a:solidFill>
                        <a:srgbClr val="C9D1E3"/>
                      </a:solidFill>
                      <a:prstDash val="solid"/>
                    </a:lnL>
                    <a:lnR w="9525" cap="flat" cmpd="sng" algn="ctr">
                      <a:solidFill>
                        <a:srgbClr val="C9D1E3"/>
                      </a:solidFill>
                      <a:prstDash val="solid"/>
                    </a:lnR>
                    <a:lnT w="9525" cap="flat" cmpd="sng" algn="ctr">
                      <a:solidFill>
                        <a:srgbClr val="C9D1E3"/>
                      </a:solidFill>
                      <a:prstDash val="solid"/>
                    </a:lnT>
                    <a:lnB w="9525" cap="flat" cmpd="sng" algn="ctr">
                      <a:solidFill>
                        <a:srgbClr val="C9D1E3"/>
                      </a:solidFill>
                      <a:prstDash val="solid"/>
                    </a:lnB>
                    <a:solidFill>
                      <a:srgbClr val="F4F6FA"/>
                    </a:solidFill>
                  </a:tcPr>
                </a:tc>
                <a:tc>
                  <a:txBody>
                    <a:bodyPr/>
                    <a:lstStyle/>
                    <a:p>
                      <a:pPr algn="ctr">
                        <a:spcBef>
                          <a:spcPts val="0"/>
                        </a:spcBef>
                        <a:spcAft>
                          <a:spcPts val="0"/>
                        </a:spcAft>
                        <a:buNone/>
                      </a:pPr>
                      <a:r>
                        <a:rPr lang="vi-VN" sz="1400" b="1" i="0" dirty="0">
                          <a:solidFill>
                            <a:srgbClr val="223771"/>
                          </a:solidFill>
                          <a:latin typeface="Times New Roman"/>
                          <a:cs typeface="Times New Roman"/>
                        </a:rPr>
                        <a:t>Có, thủ thư duyệt</a:t>
                      </a:r>
                    </a:p>
                  </a:txBody>
                  <a:tcPr marL="109728" marR="109728" marT="36576" marB="36576" anchor="ctr">
                    <a:lnL w="9525" cap="flat" cmpd="sng" algn="ctr">
                      <a:solidFill>
                        <a:srgbClr val="C9D1E3"/>
                      </a:solidFill>
                      <a:prstDash val="solid"/>
                    </a:lnL>
                    <a:lnR w="9525" cap="flat" cmpd="sng" algn="ctr">
                      <a:solidFill>
                        <a:srgbClr val="C9D1E3"/>
                      </a:solidFill>
                      <a:prstDash val="solid"/>
                    </a:lnR>
                    <a:lnT w="9525" cap="flat" cmpd="sng" algn="ctr">
                      <a:solidFill>
                        <a:srgbClr val="C9D1E3"/>
                      </a:solidFill>
                      <a:prstDash val="solid"/>
                    </a:lnT>
                    <a:lnB w="9525" cap="flat" cmpd="sng" algn="ctr">
                      <a:solidFill>
                        <a:srgbClr val="C9D1E3"/>
                      </a:solidFill>
                      <a:prstDash val="solid"/>
                    </a:lnB>
                    <a:solidFill>
                      <a:srgbClr val="FDEEE4"/>
                    </a:solidFill>
                  </a:tcPr>
                </a:tc>
                <a:extLst>
                  <a:ext uri="{0D108BD9-81ED-4DB2-BD59-A6C34878D82A}">
                    <a16:rowId xmlns:a16="http://schemas.microsoft.com/office/drawing/2014/main" val="10002"/>
                  </a:ext>
                </a:extLst>
              </a:tr>
              <a:tr h="429768">
                <a:tc>
                  <a:txBody>
                    <a:bodyPr/>
                    <a:lstStyle/>
                    <a:p>
                      <a:pPr algn="l">
                        <a:spcBef>
                          <a:spcPts val="0"/>
                        </a:spcBef>
                        <a:spcAft>
                          <a:spcPts val="0"/>
                        </a:spcAft>
                        <a:buNone/>
                      </a:pPr>
                      <a:r>
                        <a:rPr lang="vi-VN" sz="1400" b="1" i="0" dirty="0">
                          <a:solidFill>
                            <a:srgbClr val="1F2433"/>
                          </a:solidFill>
                          <a:latin typeface="Times New Roman"/>
                          <a:cs typeface="Times New Roman"/>
                        </a:rPr>
                        <a:t>Gia hạn trực tuyến</a:t>
                      </a:r>
                    </a:p>
                  </a:txBody>
                  <a:tcPr marL="109728" marR="109728" marT="36576" marB="36576" anchor="ctr">
                    <a:lnL w="9525" cap="flat" cmpd="sng" algn="ctr">
                      <a:solidFill>
                        <a:srgbClr val="C9D1E3"/>
                      </a:solidFill>
                      <a:prstDash val="solid"/>
                    </a:lnL>
                    <a:lnR w="9525" cap="flat" cmpd="sng" algn="ctr">
                      <a:solidFill>
                        <a:srgbClr val="C9D1E3"/>
                      </a:solidFill>
                      <a:prstDash val="solid"/>
                    </a:lnR>
                    <a:lnT w="9525" cap="flat" cmpd="sng" algn="ctr">
                      <a:solidFill>
                        <a:srgbClr val="C9D1E3"/>
                      </a:solidFill>
                      <a:prstDash val="solid"/>
                    </a:lnT>
                    <a:lnB w="9525" cap="flat" cmpd="sng" algn="ctr">
                      <a:solidFill>
                        <a:srgbClr val="C9D1E3"/>
                      </a:solidFill>
                      <a:prstDash val="solid"/>
                    </a:lnB>
                    <a:solidFill>
                      <a:srgbClr val="FFFFFF"/>
                    </a:solidFill>
                  </a:tcPr>
                </a:tc>
                <a:tc>
                  <a:txBody>
                    <a:bodyPr/>
                    <a:lstStyle/>
                    <a:p>
                      <a:pPr algn="ctr">
                        <a:spcBef>
                          <a:spcPts val="0"/>
                        </a:spcBef>
                        <a:spcAft>
                          <a:spcPts val="0"/>
                        </a:spcAft>
                        <a:buNone/>
                      </a:pPr>
                      <a:r>
                        <a:rPr lang="vi-VN" sz="1400" b="0" i="0" dirty="0">
                          <a:solidFill>
                            <a:srgbClr val="1F2433"/>
                          </a:solidFill>
                          <a:latin typeface="Times New Roman"/>
                          <a:cs typeface="Times New Roman"/>
                        </a:rPr>
                        <a:t>Nếu được phép</a:t>
                      </a:r>
                    </a:p>
                  </a:txBody>
                  <a:tcPr marL="109728" marR="109728" marT="36576" marB="36576" anchor="ctr">
                    <a:lnL w="9525" cap="flat" cmpd="sng" algn="ctr">
                      <a:solidFill>
                        <a:srgbClr val="C9D1E3"/>
                      </a:solidFill>
                      <a:prstDash val="solid"/>
                    </a:lnL>
                    <a:lnR w="9525" cap="flat" cmpd="sng" algn="ctr">
                      <a:solidFill>
                        <a:srgbClr val="C9D1E3"/>
                      </a:solidFill>
                      <a:prstDash val="solid"/>
                    </a:lnR>
                    <a:lnT w="9525" cap="flat" cmpd="sng" algn="ctr">
                      <a:solidFill>
                        <a:srgbClr val="C9D1E3"/>
                      </a:solidFill>
                      <a:prstDash val="solid"/>
                    </a:lnT>
                    <a:lnB w="9525" cap="flat" cmpd="sng" algn="ctr">
                      <a:solidFill>
                        <a:srgbClr val="C9D1E3"/>
                      </a:solidFill>
                      <a:prstDash val="solid"/>
                    </a:lnB>
                    <a:solidFill>
                      <a:srgbClr val="FFFFFF"/>
                    </a:solidFill>
                  </a:tcPr>
                </a:tc>
                <a:tc>
                  <a:txBody>
                    <a:bodyPr/>
                    <a:lstStyle/>
                    <a:p>
                      <a:pPr algn="ctr">
                        <a:spcBef>
                          <a:spcPts val="0"/>
                        </a:spcBef>
                        <a:spcAft>
                          <a:spcPts val="0"/>
                        </a:spcAft>
                        <a:buNone/>
                      </a:pPr>
                      <a:r>
                        <a:rPr lang="vi-VN" sz="1400" b="0" i="0" dirty="0">
                          <a:solidFill>
                            <a:srgbClr val="1F2433"/>
                          </a:solidFill>
                          <a:latin typeface="Times New Roman"/>
                          <a:cs typeface="Times New Roman"/>
                        </a:rPr>
                        <a:t>Tài liệu điện tử</a:t>
                      </a:r>
                    </a:p>
                  </a:txBody>
                  <a:tcPr marL="109728" marR="109728" marT="36576" marB="36576" anchor="ctr">
                    <a:lnL w="9525" cap="flat" cmpd="sng" algn="ctr">
                      <a:solidFill>
                        <a:srgbClr val="C9D1E3"/>
                      </a:solidFill>
                      <a:prstDash val="solid"/>
                    </a:lnL>
                    <a:lnR w="9525" cap="flat" cmpd="sng" algn="ctr">
                      <a:solidFill>
                        <a:srgbClr val="C9D1E3"/>
                      </a:solidFill>
                      <a:prstDash val="solid"/>
                    </a:lnR>
                    <a:lnT w="9525" cap="flat" cmpd="sng" algn="ctr">
                      <a:solidFill>
                        <a:srgbClr val="C9D1E3"/>
                      </a:solidFill>
                      <a:prstDash val="solid"/>
                    </a:lnT>
                    <a:lnB w="9525" cap="flat" cmpd="sng" algn="ctr">
                      <a:solidFill>
                        <a:srgbClr val="C9D1E3"/>
                      </a:solidFill>
                      <a:prstDash val="solid"/>
                    </a:lnB>
                    <a:solidFill>
                      <a:srgbClr val="FFFFFF"/>
                    </a:solidFill>
                  </a:tcPr>
                </a:tc>
                <a:tc>
                  <a:txBody>
                    <a:bodyPr/>
                    <a:lstStyle/>
                    <a:p>
                      <a:pPr algn="ctr">
                        <a:spcBef>
                          <a:spcPts val="0"/>
                        </a:spcBef>
                        <a:spcAft>
                          <a:spcPts val="0"/>
                        </a:spcAft>
                        <a:buNone/>
                      </a:pPr>
                      <a:r>
                        <a:rPr lang="vi-VN" sz="1400" b="0" i="0" dirty="0">
                          <a:solidFill>
                            <a:srgbClr val="1F2433"/>
                          </a:solidFill>
                          <a:latin typeface="Times New Roman"/>
                          <a:cs typeface="Times New Roman"/>
                        </a:rPr>
                        <a:t>Không</a:t>
                      </a:r>
                    </a:p>
                  </a:txBody>
                  <a:tcPr marL="109728" marR="109728" marT="36576" marB="36576" anchor="ctr">
                    <a:lnL w="9525" cap="flat" cmpd="sng" algn="ctr">
                      <a:solidFill>
                        <a:srgbClr val="C9D1E3"/>
                      </a:solidFill>
                      <a:prstDash val="solid"/>
                    </a:lnL>
                    <a:lnR w="9525" cap="flat" cmpd="sng" algn="ctr">
                      <a:solidFill>
                        <a:srgbClr val="C9D1E3"/>
                      </a:solidFill>
                      <a:prstDash val="solid"/>
                    </a:lnR>
                    <a:lnT w="9525" cap="flat" cmpd="sng" algn="ctr">
                      <a:solidFill>
                        <a:srgbClr val="C9D1E3"/>
                      </a:solidFill>
                      <a:prstDash val="solid"/>
                    </a:lnT>
                    <a:lnB w="9525" cap="flat" cmpd="sng" algn="ctr">
                      <a:solidFill>
                        <a:srgbClr val="C9D1E3"/>
                      </a:solidFill>
                      <a:prstDash val="solid"/>
                    </a:lnB>
                    <a:solidFill>
                      <a:srgbClr val="FFFFFF"/>
                    </a:solidFill>
                  </a:tcPr>
                </a:tc>
                <a:tc>
                  <a:txBody>
                    <a:bodyPr/>
                    <a:lstStyle/>
                    <a:p>
                      <a:pPr algn="ctr">
                        <a:spcBef>
                          <a:spcPts val="0"/>
                        </a:spcBef>
                        <a:spcAft>
                          <a:spcPts val="0"/>
                        </a:spcAft>
                        <a:buNone/>
                      </a:pPr>
                      <a:r>
                        <a:rPr lang="vi-VN" sz="1400" b="1" i="0" dirty="0">
                          <a:solidFill>
                            <a:srgbClr val="223771"/>
                          </a:solidFill>
                          <a:latin typeface="Times New Roman"/>
                          <a:cs typeface="Times New Roman"/>
                        </a:rPr>
                        <a:t>Tối đa 2 lần</a:t>
                      </a:r>
                    </a:p>
                  </a:txBody>
                  <a:tcPr marL="109728" marR="109728" marT="36576" marB="36576" anchor="ctr">
                    <a:lnL w="9525" cap="flat" cmpd="sng" algn="ctr">
                      <a:solidFill>
                        <a:srgbClr val="C9D1E3"/>
                      </a:solidFill>
                      <a:prstDash val="solid"/>
                    </a:lnL>
                    <a:lnR w="9525" cap="flat" cmpd="sng" algn="ctr">
                      <a:solidFill>
                        <a:srgbClr val="C9D1E3"/>
                      </a:solidFill>
                      <a:prstDash val="solid"/>
                    </a:lnR>
                    <a:lnT w="9525" cap="flat" cmpd="sng" algn="ctr">
                      <a:solidFill>
                        <a:srgbClr val="C9D1E3"/>
                      </a:solidFill>
                      <a:prstDash val="solid"/>
                    </a:lnT>
                    <a:lnB w="9525" cap="flat" cmpd="sng" algn="ctr">
                      <a:solidFill>
                        <a:srgbClr val="C9D1E3"/>
                      </a:solidFill>
                      <a:prstDash val="solid"/>
                    </a:lnB>
                    <a:solidFill>
                      <a:srgbClr val="FDEEE4"/>
                    </a:solidFill>
                  </a:tcPr>
                </a:tc>
                <a:extLst>
                  <a:ext uri="{0D108BD9-81ED-4DB2-BD59-A6C34878D82A}">
                    <a16:rowId xmlns:a16="http://schemas.microsoft.com/office/drawing/2014/main" val="10003"/>
                  </a:ext>
                </a:extLst>
              </a:tr>
              <a:tr h="429768">
                <a:tc>
                  <a:txBody>
                    <a:bodyPr/>
                    <a:lstStyle/>
                    <a:p>
                      <a:pPr algn="l">
                        <a:spcBef>
                          <a:spcPts val="0"/>
                        </a:spcBef>
                        <a:spcAft>
                          <a:spcPts val="0"/>
                        </a:spcAft>
                        <a:buNone/>
                      </a:pPr>
                      <a:r>
                        <a:rPr lang="vi-VN" sz="1400" b="1" i="0" dirty="0">
                          <a:solidFill>
                            <a:srgbClr val="1F2433"/>
                          </a:solidFill>
                          <a:latin typeface="Times New Roman"/>
                          <a:cs typeface="Times New Roman"/>
                        </a:rPr>
                        <a:t>Tính tiền phạt</a:t>
                      </a:r>
                    </a:p>
                  </a:txBody>
                  <a:tcPr marL="109728" marR="109728" marT="36576" marB="36576" anchor="ctr">
                    <a:lnL w="9525" cap="flat" cmpd="sng" algn="ctr">
                      <a:solidFill>
                        <a:srgbClr val="C9D1E3"/>
                      </a:solidFill>
                      <a:prstDash val="solid"/>
                    </a:lnL>
                    <a:lnR w="9525" cap="flat" cmpd="sng" algn="ctr">
                      <a:solidFill>
                        <a:srgbClr val="C9D1E3"/>
                      </a:solidFill>
                      <a:prstDash val="solid"/>
                    </a:lnR>
                    <a:lnT w="9525" cap="flat" cmpd="sng" algn="ctr">
                      <a:solidFill>
                        <a:srgbClr val="C9D1E3"/>
                      </a:solidFill>
                      <a:prstDash val="solid"/>
                    </a:lnT>
                    <a:lnB w="9525" cap="flat" cmpd="sng" algn="ctr">
                      <a:solidFill>
                        <a:srgbClr val="C9D1E3"/>
                      </a:solidFill>
                      <a:prstDash val="solid"/>
                    </a:lnB>
                    <a:solidFill>
                      <a:srgbClr val="F4F6FA"/>
                    </a:solidFill>
                  </a:tcPr>
                </a:tc>
                <a:tc>
                  <a:txBody>
                    <a:bodyPr/>
                    <a:lstStyle/>
                    <a:p>
                      <a:pPr algn="ctr">
                        <a:spcBef>
                          <a:spcPts val="0"/>
                        </a:spcBef>
                        <a:spcAft>
                          <a:spcPts val="0"/>
                        </a:spcAft>
                        <a:buNone/>
                      </a:pPr>
                      <a:r>
                        <a:rPr lang="vi-VN" sz="1400" b="0" i="0" dirty="0">
                          <a:solidFill>
                            <a:srgbClr val="1F2433"/>
                          </a:solidFill>
                          <a:latin typeface="Times New Roman"/>
                          <a:cs typeface="Times New Roman"/>
                        </a:rPr>
                        <a:t>Có</a:t>
                      </a:r>
                    </a:p>
                  </a:txBody>
                  <a:tcPr marL="109728" marR="109728" marT="36576" marB="36576" anchor="ctr">
                    <a:lnL w="9525" cap="flat" cmpd="sng" algn="ctr">
                      <a:solidFill>
                        <a:srgbClr val="C9D1E3"/>
                      </a:solidFill>
                      <a:prstDash val="solid"/>
                    </a:lnL>
                    <a:lnR w="9525" cap="flat" cmpd="sng" algn="ctr">
                      <a:solidFill>
                        <a:srgbClr val="C9D1E3"/>
                      </a:solidFill>
                      <a:prstDash val="solid"/>
                    </a:lnR>
                    <a:lnT w="9525" cap="flat" cmpd="sng" algn="ctr">
                      <a:solidFill>
                        <a:srgbClr val="C9D1E3"/>
                      </a:solidFill>
                      <a:prstDash val="solid"/>
                    </a:lnT>
                    <a:lnB w="9525" cap="flat" cmpd="sng" algn="ctr">
                      <a:solidFill>
                        <a:srgbClr val="C9D1E3"/>
                      </a:solidFill>
                      <a:prstDash val="solid"/>
                    </a:lnB>
                    <a:solidFill>
                      <a:srgbClr val="F4F6FA"/>
                    </a:solidFill>
                  </a:tcPr>
                </a:tc>
                <a:tc>
                  <a:txBody>
                    <a:bodyPr/>
                    <a:lstStyle/>
                    <a:p>
                      <a:pPr algn="ctr">
                        <a:spcBef>
                          <a:spcPts val="0"/>
                        </a:spcBef>
                        <a:spcAft>
                          <a:spcPts val="0"/>
                        </a:spcAft>
                        <a:buNone/>
                      </a:pPr>
                      <a:r>
                        <a:rPr lang="vi-VN" sz="1400" b="0" i="0" dirty="0">
                          <a:solidFill>
                            <a:srgbClr val="1F2433"/>
                          </a:solidFill>
                          <a:latin typeface="Times New Roman"/>
                          <a:cs typeface="Times New Roman"/>
                        </a:rPr>
                        <a:t>Chưa rõ</a:t>
                      </a:r>
                    </a:p>
                  </a:txBody>
                  <a:tcPr marL="109728" marR="109728" marT="36576" marB="36576" anchor="ctr">
                    <a:lnL w="9525" cap="flat" cmpd="sng" algn="ctr">
                      <a:solidFill>
                        <a:srgbClr val="C9D1E3"/>
                      </a:solidFill>
                      <a:prstDash val="solid"/>
                    </a:lnL>
                    <a:lnR w="9525" cap="flat" cmpd="sng" algn="ctr">
                      <a:solidFill>
                        <a:srgbClr val="C9D1E3"/>
                      </a:solidFill>
                      <a:prstDash val="solid"/>
                    </a:lnR>
                    <a:lnT w="9525" cap="flat" cmpd="sng" algn="ctr">
                      <a:solidFill>
                        <a:srgbClr val="C9D1E3"/>
                      </a:solidFill>
                      <a:prstDash val="solid"/>
                    </a:lnT>
                    <a:lnB w="9525" cap="flat" cmpd="sng" algn="ctr">
                      <a:solidFill>
                        <a:srgbClr val="C9D1E3"/>
                      </a:solidFill>
                      <a:prstDash val="solid"/>
                    </a:lnB>
                    <a:solidFill>
                      <a:srgbClr val="F4F6FA"/>
                    </a:solidFill>
                  </a:tcPr>
                </a:tc>
                <a:tc>
                  <a:txBody>
                    <a:bodyPr/>
                    <a:lstStyle/>
                    <a:p>
                      <a:pPr algn="ctr">
                        <a:spcBef>
                          <a:spcPts val="0"/>
                        </a:spcBef>
                        <a:spcAft>
                          <a:spcPts val="0"/>
                        </a:spcAft>
                        <a:buNone/>
                      </a:pPr>
                      <a:r>
                        <a:rPr lang="vi-VN" sz="1400" b="0" i="0" dirty="0">
                          <a:solidFill>
                            <a:srgbClr val="1F2433"/>
                          </a:solidFill>
                          <a:latin typeface="Times New Roman"/>
                          <a:cs typeface="Times New Roman"/>
                        </a:rPr>
                        <a:t>Không</a:t>
                      </a:r>
                    </a:p>
                  </a:txBody>
                  <a:tcPr marL="109728" marR="109728" marT="36576" marB="36576" anchor="ctr">
                    <a:lnL w="9525" cap="flat" cmpd="sng" algn="ctr">
                      <a:solidFill>
                        <a:srgbClr val="C9D1E3"/>
                      </a:solidFill>
                      <a:prstDash val="solid"/>
                    </a:lnL>
                    <a:lnR w="9525" cap="flat" cmpd="sng" algn="ctr">
                      <a:solidFill>
                        <a:srgbClr val="C9D1E3"/>
                      </a:solidFill>
                      <a:prstDash val="solid"/>
                    </a:lnR>
                    <a:lnT w="9525" cap="flat" cmpd="sng" algn="ctr">
                      <a:solidFill>
                        <a:srgbClr val="C9D1E3"/>
                      </a:solidFill>
                      <a:prstDash val="solid"/>
                    </a:lnT>
                    <a:lnB w="9525" cap="flat" cmpd="sng" algn="ctr">
                      <a:solidFill>
                        <a:srgbClr val="C9D1E3"/>
                      </a:solidFill>
                      <a:prstDash val="solid"/>
                    </a:lnB>
                    <a:solidFill>
                      <a:srgbClr val="F4F6FA"/>
                    </a:solidFill>
                  </a:tcPr>
                </a:tc>
                <a:tc>
                  <a:txBody>
                    <a:bodyPr/>
                    <a:lstStyle/>
                    <a:p>
                      <a:pPr algn="ctr">
                        <a:spcBef>
                          <a:spcPts val="0"/>
                        </a:spcBef>
                        <a:spcAft>
                          <a:spcPts val="0"/>
                        </a:spcAft>
                        <a:buNone/>
                      </a:pPr>
                      <a:r>
                        <a:rPr lang="vi-VN" sz="1400" b="1" i="0" dirty="0">
                          <a:solidFill>
                            <a:srgbClr val="223771"/>
                          </a:solidFill>
                          <a:latin typeface="Times New Roman"/>
                          <a:cs typeface="Times New Roman"/>
                        </a:rPr>
                        <a:t>Tự động</a:t>
                      </a:r>
                    </a:p>
                  </a:txBody>
                  <a:tcPr marL="109728" marR="109728" marT="36576" marB="36576" anchor="ctr">
                    <a:lnL w="9525" cap="flat" cmpd="sng" algn="ctr">
                      <a:solidFill>
                        <a:srgbClr val="C9D1E3"/>
                      </a:solidFill>
                      <a:prstDash val="solid"/>
                    </a:lnL>
                    <a:lnR w="9525" cap="flat" cmpd="sng" algn="ctr">
                      <a:solidFill>
                        <a:srgbClr val="C9D1E3"/>
                      </a:solidFill>
                      <a:prstDash val="solid"/>
                    </a:lnR>
                    <a:lnT w="9525" cap="flat" cmpd="sng" algn="ctr">
                      <a:solidFill>
                        <a:srgbClr val="C9D1E3"/>
                      </a:solidFill>
                      <a:prstDash val="solid"/>
                    </a:lnT>
                    <a:lnB w="9525" cap="flat" cmpd="sng" algn="ctr">
                      <a:solidFill>
                        <a:srgbClr val="C9D1E3"/>
                      </a:solidFill>
                      <a:prstDash val="solid"/>
                    </a:lnB>
                    <a:solidFill>
                      <a:srgbClr val="FDEEE4"/>
                    </a:solidFill>
                  </a:tcPr>
                </a:tc>
                <a:extLst>
                  <a:ext uri="{0D108BD9-81ED-4DB2-BD59-A6C34878D82A}">
                    <a16:rowId xmlns:a16="http://schemas.microsoft.com/office/drawing/2014/main" val="10004"/>
                  </a:ext>
                </a:extLst>
              </a:tr>
              <a:tr h="429768">
                <a:tc>
                  <a:txBody>
                    <a:bodyPr/>
                    <a:lstStyle/>
                    <a:p>
                      <a:pPr algn="l">
                        <a:spcBef>
                          <a:spcPts val="0"/>
                        </a:spcBef>
                        <a:spcAft>
                          <a:spcPts val="0"/>
                        </a:spcAft>
                        <a:buNone/>
                      </a:pPr>
                      <a:r>
                        <a:rPr lang="vi-VN" sz="1400" b="1" i="0" dirty="0">
                          <a:solidFill>
                            <a:srgbClr val="1F2433"/>
                          </a:solidFill>
                          <a:latin typeface="Times New Roman"/>
                          <a:cs typeface="Times New Roman"/>
                        </a:rPr>
                        <a:t>Thanh toán phạt trực tuyến</a:t>
                      </a:r>
                    </a:p>
                  </a:txBody>
                  <a:tcPr marL="109728" marR="109728" marT="36576" marB="36576" anchor="ctr">
                    <a:lnL w="9525" cap="flat" cmpd="sng" algn="ctr">
                      <a:solidFill>
                        <a:srgbClr val="C9D1E3"/>
                      </a:solidFill>
                      <a:prstDash val="solid"/>
                    </a:lnL>
                    <a:lnR w="9525" cap="flat" cmpd="sng" algn="ctr">
                      <a:solidFill>
                        <a:srgbClr val="C9D1E3"/>
                      </a:solidFill>
                      <a:prstDash val="solid"/>
                    </a:lnR>
                    <a:lnT w="9525" cap="flat" cmpd="sng" algn="ctr">
                      <a:solidFill>
                        <a:srgbClr val="C9D1E3"/>
                      </a:solidFill>
                      <a:prstDash val="solid"/>
                    </a:lnT>
                    <a:lnB w="9525" cap="flat" cmpd="sng" algn="ctr">
                      <a:solidFill>
                        <a:srgbClr val="C9D1E3"/>
                      </a:solidFill>
                      <a:prstDash val="solid"/>
                    </a:lnB>
                    <a:solidFill>
                      <a:srgbClr val="FFFFFF"/>
                    </a:solidFill>
                  </a:tcPr>
                </a:tc>
                <a:tc>
                  <a:txBody>
                    <a:bodyPr/>
                    <a:lstStyle/>
                    <a:p>
                      <a:pPr algn="ctr">
                        <a:spcBef>
                          <a:spcPts val="0"/>
                        </a:spcBef>
                        <a:spcAft>
                          <a:spcPts val="0"/>
                        </a:spcAft>
                        <a:buNone/>
                      </a:pPr>
                      <a:r>
                        <a:rPr lang="vi-VN" sz="1400" b="0" i="0" dirty="0">
                          <a:solidFill>
                            <a:srgbClr val="1F2433"/>
                          </a:solidFill>
                          <a:latin typeface="Times New Roman"/>
                          <a:cs typeface="Times New Roman"/>
                        </a:rPr>
                        <a:t>Chưa rõ</a:t>
                      </a:r>
                    </a:p>
                  </a:txBody>
                  <a:tcPr marL="109728" marR="109728" marT="36576" marB="36576" anchor="ctr">
                    <a:lnL w="9525" cap="flat" cmpd="sng" algn="ctr">
                      <a:solidFill>
                        <a:srgbClr val="C9D1E3"/>
                      </a:solidFill>
                      <a:prstDash val="solid"/>
                    </a:lnL>
                    <a:lnR w="9525" cap="flat" cmpd="sng" algn="ctr">
                      <a:solidFill>
                        <a:srgbClr val="C9D1E3"/>
                      </a:solidFill>
                      <a:prstDash val="solid"/>
                    </a:lnR>
                    <a:lnT w="9525" cap="flat" cmpd="sng" algn="ctr">
                      <a:solidFill>
                        <a:srgbClr val="C9D1E3"/>
                      </a:solidFill>
                      <a:prstDash val="solid"/>
                    </a:lnT>
                    <a:lnB w="9525" cap="flat" cmpd="sng" algn="ctr">
                      <a:solidFill>
                        <a:srgbClr val="C9D1E3"/>
                      </a:solidFill>
                      <a:prstDash val="solid"/>
                    </a:lnB>
                    <a:solidFill>
                      <a:srgbClr val="FFFFFF"/>
                    </a:solidFill>
                  </a:tcPr>
                </a:tc>
                <a:tc>
                  <a:txBody>
                    <a:bodyPr/>
                    <a:lstStyle/>
                    <a:p>
                      <a:pPr algn="ctr">
                        <a:spcBef>
                          <a:spcPts val="0"/>
                        </a:spcBef>
                        <a:spcAft>
                          <a:spcPts val="0"/>
                        </a:spcAft>
                        <a:buNone/>
                      </a:pPr>
                      <a:r>
                        <a:rPr lang="vi-VN" sz="1400" b="0" i="0" dirty="0">
                          <a:solidFill>
                            <a:srgbClr val="1F2433"/>
                          </a:solidFill>
                          <a:latin typeface="Times New Roman"/>
                          <a:cs typeface="Times New Roman"/>
                        </a:rPr>
                        <a:t>Chưa rõ</a:t>
                      </a:r>
                    </a:p>
                  </a:txBody>
                  <a:tcPr marL="109728" marR="109728" marT="36576" marB="36576" anchor="ctr">
                    <a:lnL w="9525" cap="flat" cmpd="sng" algn="ctr">
                      <a:solidFill>
                        <a:srgbClr val="C9D1E3"/>
                      </a:solidFill>
                      <a:prstDash val="solid"/>
                    </a:lnL>
                    <a:lnR w="9525" cap="flat" cmpd="sng" algn="ctr">
                      <a:solidFill>
                        <a:srgbClr val="C9D1E3"/>
                      </a:solidFill>
                      <a:prstDash val="solid"/>
                    </a:lnR>
                    <a:lnT w="9525" cap="flat" cmpd="sng" algn="ctr">
                      <a:solidFill>
                        <a:srgbClr val="C9D1E3"/>
                      </a:solidFill>
                      <a:prstDash val="solid"/>
                    </a:lnT>
                    <a:lnB w="9525" cap="flat" cmpd="sng" algn="ctr">
                      <a:solidFill>
                        <a:srgbClr val="C9D1E3"/>
                      </a:solidFill>
                      <a:prstDash val="solid"/>
                    </a:lnB>
                    <a:solidFill>
                      <a:srgbClr val="FFFFFF"/>
                    </a:solidFill>
                  </a:tcPr>
                </a:tc>
                <a:tc>
                  <a:txBody>
                    <a:bodyPr/>
                    <a:lstStyle/>
                    <a:p>
                      <a:pPr algn="ctr">
                        <a:spcBef>
                          <a:spcPts val="0"/>
                        </a:spcBef>
                        <a:spcAft>
                          <a:spcPts val="0"/>
                        </a:spcAft>
                        <a:buNone/>
                      </a:pPr>
                      <a:r>
                        <a:rPr lang="vi-VN" sz="1400" b="0" i="0" dirty="0">
                          <a:solidFill>
                            <a:srgbClr val="1F2433"/>
                          </a:solidFill>
                          <a:latin typeface="Times New Roman"/>
                          <a:cs typeface="Times New Roman"/>
                        </a:rPr>
                        <a:t>Không</a:t>
                      </a:r>
                    </a:p>
                  </a:txBody>
                  <a:tcPr marL="109728" marR="109728" marT="36576" marB="36576" anchor="ctr">
                    <a:lnL w="9525" cap="flat" cmpd="sng" algn="ctr">
                      <a:solidFill>
                        <a:srgbClr val="C9D1E3"/>
                      </a:solidFill>
                      <a:prstDash val="solid"/>
                    </a:lnL>
                    <a:lnR w="9525" cap="flat" cmpd="sng" algn="ctr">
                      <a:solidFill>
                        <a:srgbClr val="C9D1E3"/>
                      </a:solidFill>
                      <a:prstDash val="solid"/>
                    </a:lnR>
                    <a:lnT w="9525" cap="flat" cmpd="sng" algn="ctr">
                      <a:solidFill>
                        <a:srgbClr val="C9D1E3"/>
                      </a:solidFill>
                      <a:prstDash val="solid"/>
                    </a:lnT>
                    <a:lnB w="9525" cap="flat" cmpd="sng" algn="ctr">
                      <a:solidFill>
                        <a:srgbClr val="C9D1E3"/>
                      </a:solidFill>
                      <a:prstDash val="solid"/>
                    </a:lnB>
                    <a:solidFill>
                      <a:srgbClr val="FFFFFF"/>
                    </a:solidFill>
                  </a:tcPr>
                </a:tc>
                <a:tc>
                  <a:txBody>
                    <a:bodyPr/>
                    <a:lstStyle/>
                    <a:p>
                      <a:pPr algn="ctr">
                        <a:spcBef>
                          <a:spcPts val="0"/>
                        </a:spcBef>
                        <a:spcAft>
                          <a:spcPts val="0"/>
                        </a:spcAft>
                        <a:buNone/>
                      </a:pPr>
                      <a:r>
                        <a:rPr lang="vi-VN" sz="1400" b="1" i="0" dirty="0">
                          <a:solidFill>
                            <a:srgbClr val="223771"/>
                          </a:solidFill>
                          <a:latin typeface="Times New Roman"/>
                          <a:cs typeface="Times New Roman"/>
                        </a:rPr>
                        <a:t>VNPay, MoMo</a:t>
                      </a:r>
                    </a:p>
                  </a:txBody>
                  <a:tcPr marL="109728" marR="109728" marT="36576" marB="36576" anchor="ctr">
                    <a:lnL w="9525" cap="flat" cmpd="sng" algn="ctr">
                      <a:solidFill>
                        <a:srgbClr val="C9D1E3"/>
                      </a:solidFill>
                      <a:prstDash val="solid"/>
                    </a:lnL>
                    <a:lnR w="9525" cap="flat" cmpd="sng" algn="ctr">
                      <a:solidFill>
                        <a:srgbClr val="C9D1E3"/>
                      </a:solidFill>
                      <a:prstDash val="solid"/>
                    </a:lnR>
                    <a:lnT w="9525" cap="flat" cmpd="sng" algn="ctr">
                      <a:solidFill>
                        <a:srgbClr val="C9D1E3"/>
                      </a:solidFill>
                      <a:prstDash val="solid"/>
                    </a:lnT>
                    <a:lnB w="9525" cap="flat" cmpd="sng" algn="ctr">
                      <a:solidFill>
                        <a:srgbClr val="C9D1E3"/>
                      </a:solidFill>
                      <a:prstDash val="solid"/>
                    </a:lnB>
                    <a:solidFill>
                      <a:srgbClr val="FDEEE4"/>
                    </a:solidFill>
                  </a:tcPr>
                </a:tc>
                <a:extLst>
                  <a:ext uri="{0D108BD9-81ED-4DB2-BD59-A6C34878D82A}">
                    <a16:rowId xmlns:a16="http://schemas.microsoft.com/office/drawing/2014/main" val="10005"/>
                  </a:ext>
                </a:extLst>
              </a:tr>
              <a:tr h="429768">
                <a:tc>
                  <a:txBody>
                    <a:bodyPr/>
                    <a:lstStyle/>
                    <a:p>
                      <a:pPr algn="l">
                        <a:spcBef>
                          <a:spcPts val="0"/>
                        </a:spcBef>
                        <a:spcAft>
                          <a:spcPts val="0"/>
                        </a:spcAft>
                        <a:buNone/>
                      </a:pPr>
                      <a:r>
                        <a:rPr lang="vi-VN" sz="1400" b="1" i="0" dirty="0">
                          <a:solidFill>
                            <a:srgbClr val="1F2433"/>
                          </a:solidFill>
                          <a:latin typeface="Times New Roman"/>
                          <a:cs typeface="Times New Roman"/>
                        </a:rPr>
                        <a:t>Đặt trước, nhắc hạn</a:t>
                      </a:r>
                    </a:p>
                  </a:txBody>
                  <a:tcPr marL="109728" marR="109728" marT="36576" marB="36576" anchor="ctr">
                    <a:lnL w="9525" cap="flat" cmpd="sng" algn="ctr">
                      <a:solidFill>
                        <a:srgbClr val="C9D1E3"/>
                      </a:solidFill>
                      <a:prstDash val="solid"/>
                    </a:lnL>
                    <a:lnR w="9525" cap="flat" cmpd="sng" algn="ctr">
                      <a:solidFill>
                        <a:srgbClr val="C9D1E3"/>
                      </a:solidFill>
                      <a:prstDash val="solid"/>
                    </a:lnR>
                    <a:lnT w="9525" cap="flat" cmpd="sng" algn="ctr">
                      <a:solidFill>
                        <a:srgbClr val="C9D1E3"/>
                      </a:solidFill>
                      <a:prstDash val="solid"/>
                    </a:lnT>
                    <a:lnB w="9525" cap="flat" cmpd="sng" algn="ctr">
                      <a:solidFill>
                        <a:srgbClr val="C9D1E3"/>
                      </a:solidFill>
                      <a:prstDash val="solid"/>
                    </a:lnB>
                    <a:solidFill>
                      <a:srgbClr val="F4F6FA"/>
                    </a:solidFill>
                  </a:tcPr>
                </a:tc>
                <a:tc>
                  <a:txBody>
                    <a:bodyPr/>
                    <a:lstStyle/>
                    <a:p>
                      <a:pPr algn="ctr">
                        <a:spcBef>
                          <a:spcPts val="0"/>
                        </a:spcBef>
                        <a:spcAft>
                          <a:spcPts val="0"/>
                        </a:spcAft>
                        <a:buNone/>
                      </a:pPr>
                      <a:r>
                        <a:rPr lang="vi-VN" sz="1400" b="0" i="0" dirty="0">
                          <a:solidFill>
                            <a:srgbClr val="1F2433"/>
                          </a:solidFill>
                          <a:latin typeface="Times New Roman"/>
                          <a:cs typeface="Times New Roman"/>
                        </a:rPr>
                        <a:t>Có</a:t>
                      </a:r>
                    </a:p>
                  </a:txBody>
                  <a:tcPr marL="109728" marR="109728" marT="36576" marB="36576" anchor="ctr">
                    <a:lnL w="9525" cap="flat" cmpd="sng" algn="ctr">
                      <a:solidFill>
                        <a:srgbClr val="C9D1E3"/>
                      </a:solidFill>
                      <a:prstDash val="solid"/>
                    </a:lnL>
                    <a:lnR w="9525" cap="flat" cmpd="sng" algn="ctr">
                      <a:solidFill>
                        <a:srgbClr val="C9D1E3"/>
                      </a:solidFill>
                      <a:prstDash val="solid"/>
                    </a:lnR>
                    <a:lnT w="9525" cap="flat" cmpd="sng" algn="ctr">
                      <a:solidFill>
                        <a:srgbClr val="C9D1E3"/>
                      </a:solidFill>
                      <a:prstDash val="solid"/>
                    </a:lnT>
                    <a:lnB w="9525" cap="flat" cmpd="sng" algn="ctr">
                      <a:solidFill>
                        <a:srgbClr val="C9D1E3"/>
                      </a:solidFill>
                      <a:prstDash val="solid"/>
                    </a:lnB>
                    <a:solidFill>
                      <a:srgbClr val="F4F6FA"/>
                    </a:solidFill>
                  </a:tcPr>
                </a:tc>
                <a:tc>
                  <a:txBody>
                    <a:bodyPr/>
                    <a:lstStyle/>
                    <a:p>
                      <a:pPr algn="ctr">
                        <a:spcBef>
                          <a:spcPts val="0"/>
                        </a:spcBef>
                        <a:spcAft>
                          <a:spcPts val="0"/>
                        </a:spcAft>
                        <a:buNone/>
                      </a:pPr>
                      <a:r>
                        <a:rPr lang="vi-VN" sz="1400" b="0" i="0" dirty="0">
                          <a:solidFill>
                            <a:srgbClr val="1F2433"/>
                          </a:solidFill>
                          <a:latin typeface="Times New Roman"/>
                          <a:cs typeface="Times New Roman"/>
                        </a:rPr>
                        <a:t>Đặt trước</a:t>
                      </a:r>
                    </a:p>
                  </a:txBody>
                  <a:tcPr marL="109728" marR="109728" marT="36576" marB="36576" anchor="ctr">
                    <a:lnL w="9525" cap="flat" cmpd="sng" algn="ctr">
                      <a:solidFill>
                        <a:srgbClr val="C9D1E3"/>
                      </a:solidFill>
                      <a:prstDash val="solid"/>
                    </a:lnL>
                    <a:lnR w="9525" cap="flat" cmpd="sng" algn="ctr">
                      <a:solidFill>
                        <a:srgbClr val="C9D1E3"/>
                      </a:solidFill>
                      <a:prstDash val="solid"/>
                    </a:lnR>
                    <a:lnT w="9525" cap="flat" cmpd="sng" algn="ctr">
                      <a:solidFill>
                        <a:srgbClr val="C9D1E3"/>
                      </a:solidFill>
                      <a:prstDash val="solid"/>
                    </a:lnT>
                    <a:lnB w="9525" cap="flat" cmpd="sng" algn="ctr">
                      <a:solidFill>
                        <a:srgbClr val="C9D1E3"/>
                      </a:solidFill>
                      <a:prstDash val="solid"/>
                    </a:lnB>
                    <a:solidFill>
                      <a:srgbClr val="F4F6FA"/>
                    </a:solidFill>
                  </a:tcPr>
                </a:tc>
                <a:tc>
                  <a:txBody>
                    <a:bodyPr/>
                    <a:lstStyle/>
                    <a:p>
                      <a:pPr algn="ctr">
                        <a:spcBef>
                          <a:spcPts val="0"/>
                        </a:spcBef>
                        <a:spcAft>
                          <a:spcPts val="0"/>
                        </a:spcAft>
                        <a:buNone/>
                      </a:pPr>
                      <a:r>
                        <a:rPr lang="vi-VN" sz="1400" b="0" i="0" dirty="0">
                          <a:solidFill>
                            <a:srgbClr val="1F2433"/>
                          </a:solidFill>
                          <a:latin typeface="Times New Roman"/>
                          <a:cs typeface="Times New Roman"/>
                        </a:rPr>
                        <a:t>Không</a:t>
                      </a:r>
                    </a:p>
                  </a:txBody>
                  <a:tcPr marL="109728" marR="109728" marT="36576" marB="36576" anchor="ctr">
                    <a:lnL w="9525" cap="flat" cmpd="sng" algn="ctr">
                      <a:solidFill>
                        <a:srgbClr val="C9D1E3"/>
                      </a:solidFill>
                      <a:prstDash val="solid"/>
                    </a:lnL>
                    <a:lnR w="9525" cap="flat" cmpd="sng" algn="ctr">
                      <a:solidFill>
                        <a:srgbClr val="C9D1E3"/>
                      </a:solidFill>
                      <a:prstDash val="solid"/>
                    </a:lnR>
                    <a:lnT w="9525" cap="flat" cmpd="sng" algn="ctr">
                      <a:solidFill>
                        <a:srgbClr val="C9D1E3"/>
                      </a:solidFill>
                      <a:prstDash val="solid"/>
                    </a:lnT>
                    <a:lnB w="9525" cap="flat" cmpd="sng" algn="ctr">
                      <a:solidFill>
                        <a:srgbClr val="C9D1E3"/>
                      </a:solidFill>
                      <a:prstDash val="solid"/>
                    </a:lnB>
                    <a:solidFill>
                      <a:srgbClr val="F4F6FA"/>
                    </a:solidFill>
                  </a:tcPr>
                </a:tc>
                <a:tc>
                  <a:txBody>
                    <a:bodyPr/>
                    <a:lstStyle/>
                    <a:p>
                      <a:pPr algn="ctr">
                        <a:spcBef>
                          <a:spcPts val="0"/>
                        </a:spcBef>
                        <a:spcAft>
                          <a:spcPts val="0"/>
                        </a:spcAft>
                        <a:buNone/>
                      </a:pPr>
                      <a:r>
                        <a:rPr lang="vi-VN" sz="1400" b="1" i="0" dirty="0">
                          <a:solidFill>
                            <a:srgbClr val="223771"/>
                          </a:solidFill>
                          <a:latin typeface="Times New Roman"/>
                          <a:cs typeface="Times New Roman"/>
                        </a:rPr>
                        <a:t>Hàng chờ, nhắc tự động</a:t>
                      </a:r>
                    </a:p>
                  </a:txBody>
                  <a:tcPr marL="109728" marR="109728" marT="36576" marB="36576" anchor="ctr">
                    <a:lnL w="9525" cap="flat" cmpd="sng" algn="ctr">
                      <a:solidFill>
                        <a:srgbClr val="C9D1E3"/>
                      </a:solidFill>
                      <a:prstDash val="solid"/>
                    </a:lnL>
                    <a:lnR w="9525" cap="flat" cmpd="sng" algn="ctr">
                      <a:solidFill>
                        <a:srgbClr val="C9D1E3"/>
                      </a:solidFill>
                      <a:prstDash val="solid"/>
                    </a:lnR>
                    <a:lnT w="9525" cap="flat" cmpd="sng" algn="ctr">
                      <a:solidFill>
                        <a:srgbClr val="C9D1E3"/>
                      </a:solidFill>
                      <a:prstDash val="solid"/>
                    </a:lnT>
                    <a:lnB w="9525" cap="flat" cmpd="sng" algn="ctr">
                      <a:solidFill>
                        <a:srgbClr val="C9D1E3"/>
                      </a:solidFill>
                      <a:prstDash val="solid"/>
                    </a:lnB>
                    <a:solidFill>
                      <a:srgbClr val="FDEEE4"/>
                    </a:solidFill>
                  </a:tcPr>
                </a:tc>
                <a:extLst>
                  <a:ext uri="{0D108BD9-81ED-4DB2-BD59-A6C34878D82A}">
                    <a16:rowId xmlns:a16="http://schemas.microsoft.com/office/drawing/2014/main" val="10006"/>
                  </a:ext>
                </a:extLst>
              </a:tr>
              <a:tr h="429768">
                <a:tc>
                  <a:txBody>
                    <a:bodyPr/>
                    <a:lstStyle/>
                    <a:p>
                      <a:pPr algn="l">
                        <a:spcBef>
                          <a:spcPts val="0"/>
                        </a:spcBef>
                        <a:spcAft>
                          <a:spcPts val="0"/>
                        </a:spcAft>
                        <a:buNone/>
                      </a:pPr>
                      <a:r>
                        <a:rPr lang="vi-VN" sz="1400" b="1" i="0" dirty="0">
                          <a:solidFill>
                            <a:srgbClr val="1F2433"/>
                          </a:solidFill>
                          <a:latin typeface="Times New Roman"/>
                          <a:cs typeface="Times New Roman"/>
                        </a:rPr>
                        <a:t>Gợi ý sách bằng AI</a:t>
                      </a:r>
                    </a:p>
                  </a:txBody>
                  <a:tcPr marL="109728" marR="109728" marT="36576" marB="36576" anchor="ctr">
                    <a:lnL w="9525" cap="flat" cmpd="sng" algn="ctr">
                      <a:solidFill>
                        <a:srgbClr val="C9D1E3"/>
                      </a:solidFill>
                      <a:prstDash val="solid"/>
                    </a:lnL>
                    <a:lnR w="9525" cap="flat" cmpd="sng" algn="ctr">
                      <a:solidFill>
                        <a:srgbClr val="C9D1E3"/>
                      </a:solidFill>
                      <a:prstDash val="solid"/>
                    </a:lnR>
                    <a:lnT w="9525" cap="flat" cmpd="sng" algn="ctr">
                      <a:solidFill>
                        <a:srgbClr val="C9D1E3"/>
                      </a:solidFill>
                      <a:prstDash val="solid"/>
                    </a:lnT>
                    <a:lnB w="9525" cap="flat" cmpd="sng" algn="ctr">
                      <a:solidFill>
                        <a:srgbClr val="C9D1E3"/>
                      </a:solidFill>
                      <a:prstDash val="solid"/>
                    </a:lnB>
                    <a:solidFill>
                      <a:srgbClr val="FFFFFF"/>
                    </a:solidFill>
                  </a:tcPr>
                </a:tc>
                <a:tc>
                  <a:txBody>
                    <a:bodyPr/>
                    <a:lstStyle/>
                    <a:p>
                      <a:pPr algn="ctr">
                        <a:spcBef>
                          <a:spcPts val="0"/>
                        </a:spcBef>
                        <a:spcAft>
                          <a:spcPts val="0"/>
                        </a:spcAft>
                        <a:buNone/>
                      </a:pPr>
                      <a:r>
                        <a:rPr lang="vi-VN" sz="1400" b="0" i="0" dirty="0">
                          <a:solidFill>
                            <a:srgbClr val="1F2433"/>
                          </a:solidFill>
                          <a:latin typeface="Times New Roman"/>
                          <a:cs typeface="Times New Roman"/>
                        </a:rPr>
                        <a:t>Không có sẵn</a:t>
                      </a:r>
                    </a:p>
                  </a:txBody>
                  <a:tcPr marL="109728" marR="109728" marT="36576" marB="36576" anchor="ctr">
                    <a:lnL w="9525" cap="flat" cmpd="sng" algn="ctr">
                      <a:solidFill>
                        <a:srgbClr val="C9D1E3"/>
                      </a:solidFill>
                      <a:prstDash val="solid"/>
                    </a:lnL>
                    <a:lnR w="9525" cap="flat" cmpd="sng" algn="ctr">
                      <a:solidFill>
                        <a:srgbClr val="C9D1E3"/>
                      </a:solidFill>
                      <a:prstDash val="solid"/>
                    </a:lnR>
                    <a:lnT w="9525" cap="flat" cmpd="sng" algn="ctr">
                      <a:solidFill>
                        <a:srgbClr val="C9D1E3"/>
                      </a:solidFill>
                      <a:prstDash val="solid"/>
                    </a:lnT>
                    <a:lnB w="9525" cap="flat" cmpd="sng" algn="ctr">
                      <a:solidFill>
                        <a:srgbClr val="C9D1E3"/>
                      </a:solidFill>
                      <a:prstDash val="solid"/>
                    </a:lnB>
                    <a:solidFill>
                      <a:srgbClr val="FFFFFF"/>
                    </a:solidFill>
                  </a:tcPr>
                </a:tc>
                <a:tc>
                  <a:txBody>
                    <a:bodyPr/>
                    <a:lstStyle/>
                    <a:p>
                      <a:pPr algn="ctr">
                        <a:spcBef>
                          <a:spcPts val="0"/>
                        </a:spcBef>
                        <a:spcAft>
                          <a:spcPts val="0"/>
                        </a:spcAft>
                        <a:buNone/>
                      </a:pPr>
                      <a:r>
                        <a:rPr lang="vi-VN" sz="1400" b="0" i="0" dirty="0">
                          <a:solidFill>
                            <a:srgbClr val="1F2433"/>
                          </a:solidFill>
                          <a:latin typeface="Times New Roman"/>
                          <a:cs typeface="Times New Roman"/>
                        </a:rPr>
                        <a:t>Chưa rõ</a:t>
                      </a:r>
                    </a:p>
                  </a:txBody>
                  <a:tcPr marL="109728" marR="109728" marT="36576" marB="36576" anchor="ctr">
                    <a:lnL w="9525" cap="flat" cmpd="sng" algn="ctr">
                      <a:solidFill>
                        <a:srgbClr val="C9D1E3"/>
                      </a:solidFill>
                      <a:prstDash val="solid"/>
                    </a:lnL>
                    <a:lnR w="9525" cap="flat" cmpd="sng" algn="ctr">
                      <a:solidFill>
                        <a:srgbClr val="C9D1E3"/>
                      </a:solidFill>
                      <a:prstDash val="solid"/>
                    </a:lnR>
                    <a:lnT w="9525" cap="flat" cmpd="sng" algn="ctr">
                      <a:solidFill>
                        <a:srgbClr val="C9D1E3"/>
                      </a:solidFill>
                      <a:prstDash val="solid"/>
                    </a:lnT>
                    <a:lnB w="9525" cap="flat" cmpd="sng" algn="ctr">
                      <a:solidFill>
                        <a:srgbClr val="C9D1E3"/>
                      </a:solidFill>
                      <a:prstDash val="solid"/>
                    </a:lnB>
                    <a:solidFill>
                      <a:srgbClr val="FFFFFF"/>
                    </a:solidFill>
                  </a:tcPr>
                </a:tc>
                <a:tc>
                  <a:txBody>
                    <a:bodyPr/>
                    <a:lstStyle/>
                    <a:p>
                      <a:pPr algn="ctr">
                        <a:spcBef>
                          <a:spcPts val="0"/>
                        </a:spcBef>
                        <a:spcAft>
                          <a:spcPts val="0"/>
                        </a:spcAft>
                        <a:buNone/>
                      </a:pPr>
                      <a:r>
                        <a:rPr lang="vi-VN" sz="1400" b="0" i="0" dirty="0">
                          <a:solidFill>
                            <a:srgbClr val="1F2433"/>
                          </a:solidFill>
                          <a:latin typeface="Times New Roman"/>
                          <a:cs typeface="Times New Roman"/>
                        </a:rPr>
                        <a:t>Không</a:t>
                      </a:r>
                    </a:p>
                  </a:txBody>
                  <a:tcPr marL="109728" marR="109728" marT="36576" marB="36576" anchor="ctr">
                    <a:lnL w="9525" cap="flat" cmpd="sng" algn="ctr">
                      <a:solidFill>
                        <a:srgbClr val="C9D1E3"/>
                      </a:solidFill>
                      <a:prstDash val="solid"/>
                    </a:lnL>
                    <a:lnR w="9525" cap="flat" cmpd="sng" algn="ctr">
                      <a:solidFill>
                        <a:srgbClr val="C9D1E3"/>
                      </a:solidFill>
                      <a:prstDash val="solid"/>
                    </a:lnR>
                    <a:lnT w="9525" cap="flat" cmpd="sng" algn="ctr">
                      <a:solidFill>
                        <a:srgbClr val="C9D1E3"/>
                      </a:solidFill>
                      <a:prstDash val="solid"/>
                    </a:lnT>
                    <a:lnB w="9525" cap="flat" cmpd="sng" algn="ctr">
                      <a:solidFill>
                        <a:srgbClr val="C9D1E3"/>
                      </a:solidFill>
                      <a:prstDash val="solid"/>
                    </a:lnB>
                    <a:solidFill>
                      <a:srgbClr val="FFFFFF"/>
                    </a:solidFill>
                  </a:tcPr>
                </a:tc>
                <a:tc>
                  <a:txBody>
                    <a:bodyPr/>
                    <a:lstStyle/>
                    <a:p>
                      <a:pPr algn="ctr">
                        <a:spcBef>
                          <a:spcPts val="0"/>
                        </a:spcBef>
                        <a:spcAft>
                          <a:spcPts val="0"/>
                        </a:spcAft>
                        <a:buNone/>
                      </a:pPr>
                      <a:r>
                        <a:rPr lang="vi-VN" sz="1400" b="1" i="0" dirty="0">
                          <a:solidFill>
                            <a:srgbClr val="223771"/>
                          </a:solidFill>
                          <a:latin typeface="Times New Roman"/>
                          <a:cs typeface="Times New Roman"/>
                        </a:rPr>
                        <a:t>Có</a:t>
                      </a:r>
                    </a:p>
                  </a:txBody>
                  <a:tcPr marL="109728" marR="109728" marT="36576" marB="36576" anchor="ctr">
                    <a:lnL w="9525" cap="flat" cmpd="sng" algn="ctr">
                      <a:solidFill>
                        <a:srgbClr val="C9D1E3"/>
                      </a:solidFill>
                      <a:prstDash val="solid"/>
                    </a:lnL>
                    <a:lnR w="9525" cap="flat" cmpd="sng" algn="ctr">
                      <a:solidFill>
                        <a:srgbClr val="C9D1E3"/>
                      </a:solidFill>
                      <a:prstDash val="solid"/>
                    </a:lnR>
                    <a:lnT w="9525" cap="flat" cmpd="sng" algn="ctr">
                      <a:solidFill>
                        <a:srgbClr val="C9D1E3"/>
                      </a:solidFill>
                      <a:prstDash val="solid"/>
                    </a:lnT>
                    <a:lnB w="9525" cap="flat" cmpd="sng" algn="ctr">
                      <a:solidFill>
                        <a:srgbClr val="C9D1E3"/>
                      </a:solidFill>
                      <a:prstDash val="solid"/>
                    </a:lnB>
                    <a:solidFill>
                      <a:srgbClr val="FDEEE4"/>
                    </a:solidFill>
                  </a:tcPr>
                </a:tc>
                <a:extLst>
                  <a:ext uri="{0D108BD9-81ED-4DB2-BD59-A6C34878D82A}">
                    <a16:rowId xmlns:a16="http://schemas.microsoft.com/office/drawing/2014/main" val="10007"/>
                  </a:ext>
                </a:extLst>
              </a:tr>
              <a:tr h="429768">
                <a:tc>
                  <a:txBody>
                    <a:bodyPr/>
                    <a:lstStyle/>
                    <a:p>
                      <a:pPr algn="l">
                        <a:spcBef>
                          <a:spcPts val="0"/>
                        </a:spcBef>
                        <a:spcAft>
                          <a:spcPts val="0"/>
                        </a:spcAft>
                        <a:buNone/>
                      </a:pPr>
                      <a:r>
                        <a:rPr lang="vi-VN" sz="1400" b="1" i="0" dirty="0">
                          <a:solidFill>
                            <a:srgbClr val="1F2433"/>
                          </a:solidFill>
                          <a:latin typeface="Times New Roman"/>
                          <a:cs typeface="Times New Roman"/>
                        </a:rPr>
                        <a:t>Yêu cầu chuyên môn</a:t>
                      </a:r>
                    </a:p>
                  </a:txBody>
                  <a:tcPr marL="109728" marR="109728" marT="36576" marB="36576" anchor="ctr">
                    <a:lnL w="9525" cap="flat" cmpd="sng" algn="ctr">
                      <a:solidFill>
                        <a:srgbClr val="C9D1E3"/>
                      </a:solidFill>
                      <a:prstDash val="solid"/>
                    </a:lnL>
                    <a:lnR w="9525" cap="flat" cmpd="sng" algn="ctr">
                      <a:solidFill>
                        <a:srgbClr val="C9D1E3"/>
                      </a:solidFill>
                      <a:prstDash val="solid"/>
                    </a:lnR>
                    <a:lnT w="9525" cap="flat" cmpd="sng" algn="ctr">
                      <a:solidFill>
                        <a:srgbClr val="C9D1E3"/>
                      </a:solidFill>
                      <a:prstDash val="solid"/>
                    </a:lnT>
                    <a:lnB w="9525" cap="flat" cmpd="sng" algn="ctr">
                      <a:solidFill>
                        <a:srgbClr val="C9D1E3"/>
                      </a:solidFill>
                      <a:prstDash val="solid"/>
                    </a:lnB>
                    <a:solidFill>
                      <a:srgbClr val="F4F6FA"/>
                    </a:solidFill>
                  </a:tcPr>
                </a:tc>
                <a:tc>
                  <a:txBody>
                    <a:bodyPr/>
                    <a:lstStyle/>
                    <a:p>
                      <a:pPr algn="ctr">
                        <a:spcBef>
                          <a:spcPts val="0"/>
                        </a:spcBef>
                        <a:spcAft>
                          <a:spcPts val="0"/>
                        </a:spcAft>
                        <a:buNone/>
                      </a:pPr>
                      <a:r>
                        <a:rPr lang="vi-VN" sz="1400" b="0" i="0" dirty="0">
                          <a:solidFill>
                            <a:srgbClr val="1F2433"/>
                          </a:solidFill>
                          <a:latin typeface="Times New Roman"/>
                          <a:cs typeface="Times New Roman"/>
                        </a:rPr>
                        <a:t>Cao</a:t>
                      </a:r>
                    </a:p>
                  </a:txBody>
                  <a:tcPr marL="109728" marR="109728" marT="36576" marB="36576" anchor="ctr">
                    <a:lnL w="9525" cap="flat" cmpd="sng" algn="ctr">
                      <a:solidFill>
                        <a:srgbClr val="C9D1E3"/>
                      </a:solidFill>
                      <a:prstDash val="solid"/>
                    </a:lnL>
                    <a:lnR w="9525" cap="flat" cmpd="sng" algn="ctr">
                      <a:solidFill>
                        <a:srgbClr val="C9D1E3"/>
                      </a:solidFill>
                      <a:prstDash val="solid"/>
                    </a:lnR>
                    <a:lnT w="9525" cap="flat" cmpd="sng" algn="ctr">
                      <a:solidFill>
                        <a:srgbClr val="C9D1E3"/>
                      </a:solidFill>
                      <a:prstDash val="solid"/>
                    </a:lnT>
                    <a:lnB w="9525" cap="flat" cmpd="sng" algn="ctr">
                      <a:solidFill>
                        <a:srgbClr val="C9D1E3"/>
                      </a:solidFill>
                      <a:prstDash val="solid"/>
                    </a:lnB>
                    <a:solidFill>
                      <a:srgbClr val="F4F6FA"/>
                    </a:solidFill>
                  </a:tcPr>
                </a:tc>
                <a:tc>
                  <a:txBody>
                    <a:bodyPr/>
                    <a:lstStyle/>
                    <a:p>
                      <a:pPr algn="ctr">
                        <a:spcBef>
                          <a:spcPts val="0"/>
                        </a:spcBef>
                        <a:spcAft>
                          <a:spcPts val="0"/>
                        </a:spcAft>
                        <a:buNone/>
                      </a:pPr>
                      <a:r>
                        <a:rPr lang="vi-VN" sz="1400" b="0" i="0" dirty="0">
                          <a:solidFill>
                            <a:srgbClr val="1F2433"/>
                          </a:solidFill>
                          <a:latin typeface="Times New Roman"/>
                          <a:cs typeface="Times New Roman"/>
                        </a:rPr>
                        <a:t>Trung bình – cao</a:t>
                      </a:r>
                    </a:p>
                  </a:txBody>
                  <a:tcPr marL="109728" marR="109728" marT="36576" marB="36576" anchor="ctr">
                    <a:lnL w="9525" cap="flat" cmpd="sng" algn="ctr">
                      <a:solidFill>
                        <a:srgbClr val="C9D1E3"/>
                      </a:solidFill>
                      <a:prstDash val="solid"/>
                    </a:lnL>
                    <a:lnR w="9525" cap="flat" cmpd="sng" algn="ctr">
                      <a:solidFill>
                        <a:srgbClr val="C9D1E3"/>
                      </a:solidFill>
                      <a:prstDash val="solid"/>
                    </a:lnR>
                    <a:lnT w="9525" cap="flat" cmpd="sng" algn="ctr">
                      <a:solidFill>
                        <a:srgbClr val="C9D1E3"/>
                      </a:solidFill>
                      <a:prstDash val="solid"/>
                    </a:lnT>
                    <a:lnB w="9525" cap="flat" cmpd="sng" algn="ctr">
                      <a:solidFill>
                        <a:srgbClr val="C9D1E3"/>
                      </a:solidFill>
                      <a:prstDash val="solid"/>
                    </a:lnB>
                    <a:solidFill>
                      <a:srgbClr val="F4F6FA"/>
                    </a:solidFill>
                  </a:tcPr>
                </a:tc>
                <a:tc>
                  <a:txBody>
                    <a:bodyPr/>
                    <a:lstStyle/>
                    <a:p>
                      <a:pPr algn="ctr">
                        <a:spcBef>
                          <a:spcPts val="0"/>
                        </a:spcBef>
                        <a:spcAft>
                          <a:spcPts val="0"/>
                        </a:spcAft>
                        <a:buNone/>
                      </a:pPr>
                      <a:r>
                        <a:rPr lang="vi-VN" sz="1400" b="0" i="0" dirty="0">
                          <a:solidFill>
                            <a:srgbClr val="1F2433"/>
                          </a:solidFill>
                          <a:latin typeface="Times New Roman"/>
                          <a:cs typeface="Times New Roman"/>
                        </a:rPr>
                        <a:t>Thấp</a:t>
                      </a:r>
                    </a:p>
                  </a:txBody>
                  <a:tcPr marL="109728" marR="109728" marT="36576" marB="36576" anchor="ctr">
                    <a:lnL w="9525" cap="flat" cmpd="sng" algn="ctr">
                      <a:solidFill>
                        <a:srgbClr val="C9D1E3"/>
                      </a:solidFill>
                      <a:prstDash val="solid"/>
                    </a:lnL>
                    <a:lnR w="9525" cap="flat" cmpd="sng" algn="ctr">
                      <a:solidFill>
                        <a:srgbClr val="C9D1E3"/>
                      </a:solidFill>
                      <a:prstDash val="solid"/>
                    </a:lnR>
                    <a:lnT w="9525" cap="flat" cmpd="sng" algn="ctr">
                      <a:solidFill>
                        <a:srgbClr val="C9D1E3"/>
                      </a:solidFill>
                      <a:prstDash val="solid"/>
                    </a:lnT>
                    <a:lnB w="9525" cap="flat" cmpd="sng" algn="ctr">
                      <a:solidFill>
                        <a:srgbClr val="C9D1E3"/>
                      </a:solidFill>
                      <a:prstDash val="solid"/>
                    </a:lnB>
                    <a:solidFill>
                      <a:srgbClr val="F4F6FA"/>
                    </a:solidFill>
                  </a:tcPr>
                </a:tc>
                <a:tc>
                  <a:txBody>
                    <a:bodyPr/>
                    <a:lstStyle/>
                    <a:p>
                      <a:pPr algn="ctr">
                        <a:spcBef>
                          <a:spcPts val="0"/>
                        </a:spcBef>
                        <a:spcAft>
                          <a:spcPts val="0"/>
                        </a:spcAft>
                        <a:buNone/>
                      </a:pPr>
                      <a:r>
                        <a:rPr lang="vi-VN" sz="1400" b="1" i="0" dirty="0">
                          <a:solidFill>
                            <a:srgbClr val="223771"/>
                          </a:solidFill>
                          <a:latin typeface="Times New Roman"/>
                          <a:cs typeface="Times New Roman"/>
                        </a:rPr>
                        <a:t>Thấp – trung bình</a:t>
                      </a:r>
                    </a:p>
                  </a:txBody>
                  <a:tcPr marL="109728" marR="109728" marT="36576" marB="36576" anchor="ctr">
                    <a:lnL w="9525" cap="flat" cmpd="sng" algn="ctr">
                      <a:solidFill>
                        <a:srgbClr val="C9D1E3"/>
                      </a:solidFill>
                      <a:prstDash val="solid"/>
                    </a:lnL>
                    <a:lnR w="9525" cap="flat" cmpd="sng" algn="ctr">
                      <a:solidFill>
                        <a:srgbClr val="C9D1E3"/>
                      </a:solidFill>
                      <a:prstDash val="solid"/>
                    </a:lnR>
                    <a:lnT w="9525" cap="flat" cmpd="sng" algn="ctr">
                      <a:solidFill>
                        <a:srgbClr val="C9D1E3"/>
                      </a:solidFill>
                      <a:prstDash val="solid"/>
                    </a:lnT>
                    <a:lnB w="9525" cap="flat" cmpd="sng" algn="ctr">
                      <a:solidFill>
                        <a:srgbClr val="C9D1E3"/>
                      </a:solidFill>
                      <a:prstDash val="solid"/>
                    </a:lnB>
                    <a:solidFill>
                      <a:srgbClr val="FDEEE4"/>
                    </a:solidFill>
                  </a:tcPr>
                </a:tc>
                <a:extLst>
                  <a:ext uri="{0D108BD9-81ED-4DB2-BD59-A6C34878D82A}">
                    <a16:rowId xmlns:a16="http://schemas.microsoft.com/office/drawing/2014/main" val="10008"/>
                  </a:ext>
                </a:extLst>
              </a:tr>
            </a:tbl>
          </a:graphicData>
        </a:graphic>
      </p:graphicFrame>
      <p:sp>
        <p:nvSpPr>
          <p:cNvPr id="6" name="TextBox 6"/>
          <p:cNvSpPr txBox="1"/>
          <p:nvPr/>
        </p:nvSpPr>
        <p:spPr>
          <a:xfrm>
            <a:off x="457200" y="5532120"/>
            <a:ext cx="11274552" cy="365760"/>
          </a:xfrm>
          <a:prstGeom prst="rect">
            <a:avLst/>
          </a:prstGeom>
          <a:noFill/>
          <a:ln>
            <a:noFill/>
          </a:ln>
        </p:spPr>
        <p:txBody>
          <a:bodyPr wrap="square" lIns="0" tIns="0" rIns="0" bIns="0" rtlCol="0" anchor="t">
            <a:noAutofit/>
          </a:bodyPr>
          <a:lstStyle/>
          <a:p>
            <a:pPr algn="l">
              <a:spcBef>
                <a:spcPts val="0"/>
              </a:spcBef>
              <a:spcAft>
                <a:spcPts val="0"/>
              </a:spcAft>
              <a:buNone/>
            </a:pPr>
            <a:r>
              <a:rPr lang="vi-VN" sz="1300" b="0" i="1" dirty="0">
                <a:solidFill>
                  <a:srgbClr val="5A6272"/>
                </a:solidFill>
                <a:latin typeface="Times New Roman"/>
                <a:cs typeface="Times New Roman"/>
              </a:rPr>
              <a:t>“Chưa rõ”: không tìm thấy tài liệu công khai xác nhận · Thanh toán của Fahasa Digital đang ở môi trường sandbox</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b="1" dirty="0">
                <a:solidFill>
                  <a:srgbClr val="223771"/>
                </a:solidFill>
                <a:latin typeface="Times New Roman"/>
                <a:cs typeface="Times New Roman"/>
              </a:rPr>
              <a:t>GIẢI PHÁP ĐỀ XUẤT</a:t>
            </a:r>
          </a:p>
        </p:txBody>
      </p:sp>
      <p:sp>
        <p:nvSpPr>
          <p:cNvPr id="4" name="TextBox 4"/>
          <p:cNvSpPr txBox="1"/>
          <p:nvPr/>
        </p:nvSpPr>
        <p:spPr>
          <a:xfrm>
            <a:off x="457200" y="896112"/>
            <a:ext cx="11274552" cy="411480"/>
          </a:xfrm>
          <a:prstGeom prst="rect">
            <a:avLst/>
          </a:prstGeom>
          <a:noFill/>
          <a:ln>
            <a:noFill/>
          </a:ln>
        </p:spPr>
        <p:txBody>
          <a:bodyPr wrap="square" lIns="0" tIns="0" rIns="0" bIns="0" rtlCol="0" anchor="ctr">
            <a:noAutofit/>
          </a:bodyPr>
          <a:lstStyle/>
          <a:p>
            <a:pPr algn="l">
              <a:spcBef>
                <a:spcPts val="0"/>
              </a:spcBef>
              <a:spcAft>
                <a:spcPts val="0"/>
              </a:spcAft>
              <a:buNone/>
            </a:pPr>
            <a:r>
              <a:rPr lang="vi-VN" sz="1800" b="0" i="1" dirty="0">
                <a:solidFill>
                  <a:srgbClr val="5A6272"/>
                </a:solidFill>
                <a:latin typeface="Times New Roman"/>
                <a:cs typeface="Times New Roman"/>
              </a:rPr>
              <a:t>Fahasa Digital số hóa trọn vòng đời mượn – trả sách</a:t>
            </a:r>
          </a:p>
        </p:txBody>
      </p:sp>
      <p:sp>
        <p:nvSpPr>
          <p:cNvPr id="5" name="Card 5"/>
          <p:cNvSpPr/>
          <p:nvPr/>
        </p:nvSpPr>
        <p:spPr>
          <a:xfrm>
            <a:off x="457200" y="1463040"/>
            <a:ext cx="3575304" cy="4526280"/>
          </a:xfrm>
          <a:prstGeom prst="roundRect">
            <a:avLst>
              <a:gd name="adj" fmla="val 2046"/>
            </a:avLst>
          </a:prstGeom>
          <a:solidFill>
            <a:srgbClr val="FFFFFF"/>
          </a:solidFill>
          <a:ln w="9525">
            <a:solidFill>
              <a:srgbClr val="C9D1E3"/>
            </a:solidFill>
          </a:ln>
        </p:spPr>
      </p:sp>
      <p:sp>
        <p:nvSpPr>
          <p:cNvPr id="6" name="Header 6"/>
          <p:cNvSpPr/>
          <p:nvPr/>
        </p:nvSpPr>
        <p:spPr>
          <a:xfrm>
            <a:off x="457200" y="1463040"/>
            <a:ext cx="3575304" cy="640080"/>
          </a:xfrm>
          <a:prstGeom prst="round2SameRect">
            <a:avLst>
              <a:gd name="adj1" fmla="val 11428"/>
              <a:gd name="adj2" fmla="val 0"/>
            </a:avLst>
          </a:prstGeom>
          <a:solidFill>
            <a:srgbClr val="223771"/>
          </a:solidFill>
          <a:ln>
            <a:noFill/>
          </a:ln>
        </p:spPr>
        <p:txBody>
          <a:bodyPr wrap="square" lIns="228600" tIns="0" rIns="182880" bIns="0" rtlCol="0" anchor="ctr">
            <a:noAutofit/>
          </a:bodyPr>
          <a:lstStyle/>
          <a:p>
            <a:pPr algn="l">
              <a:spcBef>
                <a:spcPts val="0"/>
              </a:spcBef>
              <a:spcAft>
                <a:spcPts val="0"/>
              </a:spcAft>
              <a:buNone/>
            </a:pPr>
            <a:r>
              <a:rPr lang="vi-VN" sz="2000" b="1" i="0" dirty="0">
                <a:solidFill>
                  <a:srgbClr val="FFFFFF"/>
                </a:solidFill>
                <a:latin typeface="Times New Roman"/>
                <a:cs typeface="Times New Roman"/>
              </a:rPr>
              <a:t>Phân hệ độc giả</a:t>
            </a:r>
          </a:p>
        </p:txBody>
      </p:sp>
      <p:sp>
        <p:nvSpPr>
          <p:cNvPr id="7" name="TextBox 7"/>
          <p:cNvSpPr txBox="1"/>
          <p:nvPr/>
        </p:nvSpPr>
        <p:spPr>
          <a:xfrm>
            <a:off x="685800" y="2286000"/>
            <a:ext cx="3163824" cy="2926080"/>
          </a:xfrm>
          <a:prstGeom prst="rect">
            <a:avLst/>
          </a:prstGeom>
          <a:noFill/>
          <a:ln>
            <a:noFill/>
          </a:ln>
        </p:spPr>
        <p:txBody>
          <a:bodyPr wrap="square" lIns="0" tIns="0" rIns="0" bIns="0" rtlCol="0" anchor="t">
            <a:noAutofit/>
          </a:bodyPr>
          <a:lstStyle/>
          <a:p>
            <a:pPr marL="285750" indent="-285750" algn="l">
              <a:spcBef>
                <a:spcPts val="700"/>
              </a:spcBef>
              <a:spcAft>
                <a:spcPts val="0"/>
              </a:spcAft>
              <a:buClr>
                <a:srgbClr val="F26522"/>
              </a:buClr>
              <a:buFont typeface="Arial"/>
              <a:buChar char="•"/>
            </a:pPr>
            <a:r>
              <a:rPr lang="vi-VN" sz="1600" b="0" i="0" dirty="0">
                <a:solidFill>
                  <a:srgbClr val="1F2433"/>
                </a:solidFill>
                <a:latin typeface="Times New Roman"/>
                <a:cs typeface="Times New Roman"/>
              </a:rPr>
              <a:t>Tra cứu sách còn hay hết theo thời gian thực</a:t>
            </a:r>
          </a:p>
          <a:p>
            <a:pPr marL="285750" indent="-285750" algn="l">
              <a:spcBef>
                <a:spcPts val="700"/>
              </a:spcBef>
              <a:spcAft>
                <a:spcPts val="0"/>
              </a:spcAft>
              <a:buClr>
                <a:srgbClr val="F26522"/>
              </a:buClr>
              <a:buFont typeface="Arial"/>
              <a:buChar char="•"/>
            </a:pPr>
            <a:r>
              <a:rPr lang="vi-VN" sz="1600" b="0" i="0" dirty="0">
                <a:solidFill>
                  <a:srgbClr val="1F2433"/>
                </a:solidFill>
                <a:latin typeface="Times New Roman"/>
                <a:cs typeface="Times New Roman"/>
              </a:rPr>
              <a:t>Gửi yêu cầu mượn, gia hạn từ xa</a:t>
            </a:r>
          </a:p>
          <a:p>
            <a:pPr marL="285750" indent="-285750" algn="l">
              <a:spcBef>
                <a:spcPts val="700"/>
              </a:spcBef>
              <a:spcAft>
                <a:spcPts val="0"/>
              </a:spcAft>
              <a:buClr>
                <a:srgbClr val="F26522"/>
              </a:buClr>
              <a:buFont typeface="Arial"/>
              <a:buChar char="•"/>
            </a:pPr>
            <a:r>
              <a:rPr lang="vi-VN" sz="1600" b="0" i="0" dirty="0">
                <a:solidFill>
                  <a:srgbClr val="1F2433"/>
                </a:solidFill>
                <a:latin typeface="Times New Roman"/>
                <a:cs typeface="Times New Roman"/>
              </a:rPr>
              <a:t>Đặt trước khi sách đã hết</a:t>
            </a:r>
          </a:p>
          <a:p>
            <a:pPr marL="285750" indent="-285750" algn="l">
              <a:spcBef>
                <a:spcPts val="700"/>
              </a:spcBef>
              <a:spcAft>
                <a:spcPts val="0"/>
              </a:spcAft>
              <a:buClr>
                <a:srgbClr val="F26522"/>
              </a:buClr>
              <a:buFont typeface="Arial"/>
              <a:buChar char="•"/>
            </a:pPr>
            <a:r>
              <a:rPr lang="vi-VN" sz="1600" b="0" i="0" dirty="0">
                <a:solidFill>
                  <a:srgbClr val="1F2433"/>
                </a:solidFill>
                <a:latin typeface="Times New Roman"/>
                <a:cs typeface="Times New Roman"/>
              </a:rPr>
              <a:t>Thanh toán phạt qua VNPay, MoMo</a:t>
            </a:r>
          </a:p>
          <a:p>
            <a:pPr marL="285750" indent="-285750" algn="l">
              <a:spcBef>
                <a:spcPts val="700"/>
              </a:spcBef>
              <a:spcAft>
                <a:spcPts val="0"/>
              </a:spcAft>
              <a:buClr>
                <a:srgbClr val="F26522"/>
              </a:buClr>
              <a:buFont typeface="Arial"/>
              <a:buChar char="•"/>
            </a:pPr>
            <a:r>
              <a:rPr lang="vi-VN" sz="1600" b="0" i="0" dirty="0">
                <a:solidFill>
                  <a:srgbClr val="1F2433"/>
                </a:solidFill>
                <a:latin typeface="Times New Roman"/>
                <a:cs typeface="Times New Roman"/>
              </a:rPr>
              <a:t>Đánh giá sách, trợ lý AI gợi ý sách</a:t>
            </a:r>
          </a:p>
        </p:txBody>
      </p:sp>
      <p:sp>
        <p:nvSpPr>
          <p:cNvPr id="8" name="TextBox 8"/>
          <p:cNvSpPr txBox="1"/>
          <p:nvPr/>
        </p:nvSpPr>
        <p:spPr>
          <a:xfrm>
            <a:off x="685800" y="5440680"/>
            <a:ext cx="3163824" cy="411480"/>
          </a:xfrm>
          <a:prstGeom prst="rect">
            <a:avLst/>
          </a:prstGeom>
          <a:noFill/>
          <a:ln>
            <a:noFill/>
          </a:ln>
        </p:spPr>
        <p:txBody>
          <a:bodyPr wrap="square" lIns="0" tIns="0" rIns="0" bIns="0" rtlCol="0" anchor="ctr">
            <a:noAutofit/>
          </a:bodyPr>
          <a:lstStyle/>
          <a:p>
            <a:pPr algn="l">
              <a:spcBef>
                <a:spcPts val="0"/>
              </a:spcBef>
              <a:spcAft>
                <a:spcPts val="0"/>
              </a:spcAft>
              <a:buNone/>
            </a:pPr>
            <a:r>
              <a:rPr lang="vi-VN" sz="1500" b="0" i="0" dirty="0">
                <a:solidFill>
                  <a:srgbClr val="5A6272"/>
                </a:solidFill>
                <a:latin typeface="Times New Roman"/>
                <a:cs typeface="Times New Roman"/>
              </a:rPr>
              <a:t>Giải quyết: </a:t>
            </a:r>
            <a:r>
              <a:rPr lang="vi-VN" sz="1500" b="1" i="0" dirty="0">
                <a:solidFill>
                  <a:srgbClr val="B4470F"/>
                </a:solidFill>
                <a:latin typeface="Times New Roman"/>
                <a:cs typeface="Times New Roman"/>
              </a:rPr>
              <a:t>VĐ-01 · 02 · 03 · 04 · 06</a:t>
            </a:r>
          </a:p>
        </p:txBody>
      </p:sp>
      <p:sp>
        <p:nvSpPr>
          <p:cNvPr id="9" name="Card 9"/>
          <p:cNvSpPr/>
          <p:nvPr/>
        </p:nvSpPr>
        <p:spPr>
          <a:xfrm>
            <a:off x="4306824" y="1463040"/>
            <a:ext cx="3575304" cy="4526280"/>
          </a:xfrm>
          <a:prstGeom prst="roundRect">
            <a:avLst>
              <a:gd name="adj" fmla="val 2046"/>
            </a:avLst>
          </a:prstGeom>
          <a:solidFill>
            <a:srgbClr val="FFFFFF"/>
          </a:solidFill>
          <a:ln w="9525">
            <a:solidFill>
              <a:srgbClr val="C9D1E3"/>
            </a:solidFill>
          </a:ln>
        </p:spPr>
      </p:sp>
      <p:sp>
        <p:nvSpPr>
          <p:cNvPr id="10" name="Header 10"/>
          <p:cNvSpPr/>
          <p:nvPr/>
        </p:nvSpPr>
        <p:spPr>
          <a:xfrm>
            <a:off x="4306824" y="1463040"/>
            <a:ext cx="3575304" cy="640080"/>
          </a:xfrm>
          <a:prstGeom prst="round2SameRect">
            <a:avLst>
              <a:gd name="adj1" fmla="val 11428"/>
              <a:gd name="adj2" fmla="val 0"/>
            </a:avLst>
          </a:prstGeom>
          <a:solidFill>
            <a:srgbClr val="223771"/>
          </a:solidFill>
          <a:ln>
            <a:noFill/>
          </a:ln>
        </p:spPr>
        <p:txBody>
          <a:bodyPr wrap="square" lIns="228600" tIns="0" rIns="182880" bIns="0" rtlCol="0" anchor="ctr">
            <a:noAutofit/>
          </a:bodyPr>
          <a:lstStyle/>
          <a:p>
            <a:pPr algn="l">
              <a:spcBef>
                <a:spcPts val="0"/>
              </a:spcBef>
              <a:spcAft>
                <a:spcPts val="0"/>
              </a:spcAft>
              <a:buNone/>
            </a:pPr>
            <a:r>
              <a:rPr lang="vi-VN" sz="2000" b="1" i="0" dirty="0">
                <a:solidFill>
                  <a:srgbClr val="FFFFFF"/>
                </a:solidFill>
                <a:latin typeface="Times New Roman"/>
                <a:cs typeface="Times New Roman"/>
              </a:rPr>
              <a:t>Phân hệ quản trị</a:t>
            </a:r>
          </a:p>
        </p:txBody>
      </p:sp>
      <p:sp>
        <p:nvSpPr>
          <p:cNvPr id="11" name="TextBox 11"/>
          <p:cNvSpPr txBox="1"/>
          <p:nvPr/>
        </p:nvSpPr>
        <p:spPr>
          <a:xfrm>
            <a:off x="4535424" y="2286000"/>
            <a:ext cx="3163824" cy="2926080"/>
          </a:xfrm>
          <a:prstGeom prst="rect">
            <a:avLst/>
          </a:prstGeom>
          <a:noFill/>
          <a:ln>
            <a:noFill/>
          </a:ln>
        </p:spPr>
        <p:txBody>
          <a:bodyPr wrap="square" lIns="0" tIns="0" rIns="0" bIns="0" rtlCol="0" anchor="t">
            <a:noAutofit/>
          </a:bodyPr>
          <a:lstStyle/>
          <a:p>
            <a:pPr marL="285750" indent="-285750" algn="l">
              <a:spcBef>
                <a:spcPts val="700"/>
              </a:spcBef>
              <a:spcAft>
                <a:spcPts val="0"/>
              </a:spcAft>
              <a:buClr>
                <a:srgbClr val="F26522"/>
              </a:buClr>
              <a:buFont typeface="Arial"/>
              <a:buChar char="•"/>
            </a:pPr>
            <a:r>
              <a:rPr lang="vi-VN" sz="1600" b="0" i="0" dirty="0">
                <a:solidFill>
                  <a:srgbClr val="1F2433"/>
                </a:solidFill>
                <a:latin typeface="Times New Roman"/>
                <a:cs typeface="Times New Roman"/>
              </a:rPr>
              <a:t>Duyệt yêu cầu mượn và gia hạn</a:t>
            </a:r>
          </a:p>
          <a:p>
            <a:pPr marL="285750" indent="-285750" algn="l">
              <a:spcBef>
                <a:spcPts val="700"/>
              </a:spcBef>
              <a:spcAft>
                <a:spcPts val="0"/>
              </a:spcAft>
              <a:buClr>
                <a:srgbClr val="F26522"/>
              </a:buClr>
              <a:buFont typeface="Arial"/>
              <a:buChar char="•"/>
            </a:pPr>
            <a:r>
              <a:rPr lang="vi-VN" sz="1600" b="0" i="0" dirty="0">
                <a:solidFill>
                  <a:srgbClr val="1F2433"/>
                </a:solidFill>
                <a:latin typeface="Times New Roman"/>
                <a:cs typeface="Times New Roman"/>
              </a:rPr>
              <a:t>Xác nhận trả sách, phạt tự tính</a:t>
            </a:r>
          </a:p>
          <a:p>
            <a:pPr marL="285750" indent="-285750" algn="l">
              <a:spcBef>
                <a:spcPts val="700"/>
              </a:spcBef>
              <a:spcAft>
                <a:spcPts val="0"/>
              </a:spcAft>
              <a:buClr>
                <a:srgbClr val="F26522"/>
              </a:buClr>
              <a:buFont typeface="Arial"/>
              <a:buChar char="•"/>
            </a:pPr>
            <a:r>
              <a:rPr lang="vi-VN" sz="1600" b="0" i="0" dirty="0">
                <a:solidFill>
                  <a:srgbClr val="1F2433"/>
                </a:solidFill>
                <a:latin typeface="Times New Roman"/>
                <a:cs typeface="Times New Roman"/>
              </a:rPr>
              <a:t>Quản lý sách, danh mục, độc giả</a:t>
            </a:r>
          </a:p>
          <a:p>
            <a:pPr marL="285750" indent="-285750" algn="l">
              <a:spcBef>
                <a:spcPts val="700"/>
              </a:spcBef>
              <a:spcAft>
                <a:spcPts val="0"/>
              </a:spcAft>
              <a:buClr>
                <a:srgbClr val="F26522"/>
              </a:buClr>
              <a:buFont typeface="Arial"/>
              <a:buChar char="•"/>
            </a:pPr>
            <a:r>
              <a:rPr lang="vi-VN" sz="1600" b="0" i="0" dirty="0">
                <a:solidFill>
                  <a:srgbClr val="1F2433"/>
                </a:solidFill>
                <a:latin typeface="Times New Roman"/>
                <a:cs typeface="Times New Roman"/>
              </a:rPr>
              <a:t>Thống kê, xuất Excel và PDF</a:t>
            </a:r>
          </a:p>
          <a:p>
            <a:pPr marL="285750" indent="-285750" algn="l">
              <a:spcBef>
                <a:spcPts val="700"/>
              </a:spcBef>
              <a:spcAft>
                <a:spcPts val="0"/>
              </a:spcAft>
              <a:buClr>
                <a:srgbClr val="F26522"/>
              </a:buClr>
              <a:buFont typeface="Arial"/>
              <a:buChar char="•"/>
            </a:pPr>
            <a:r>
              <a:rPr lang="vi-VN" sz="1600" b="0" i="0" dirty="0">
                <a:solidFill>
                  <a:srgbClr val="1F2433"/>
                </a:solidFill>
                <a:latin typeface="Times New Roman"/>
                <a:cs typeface="Times New Roman"/>
              </a:rPr>
              <a:t>Cấu hình email OTP, khóa AI</a:t>
            </a:r>
          </a:p>
        </p:txBody>
      </p:sp>
      <p:sp>
        <p:nvSpPr>
          <p:cNvPr id="12" name="TextBox 12"/>
          <p:cNvSpPr txBox="1"/>
          <p:nvPr/>
        </p:nvSpPr>
        <p:spPr>
          <a:xfrm>
            <a:off x="4535424" y="5440680"/>
            <a:ext cx="3163824" cy="411480"/>
          </a:xfrm>
          <a:prstGeom prst="rect">
            <a:avLst/>
          </a:prstGeom>
          <a:noFill/>
          <a:ln>
            <a:noFill/>
          </a:ln>
        </p:spPr>
        <p:txBody>
          <a:bodyPr wrap="square" lIns="0" tIns="0" rIns="0" bIns="0" rtlCol="0" anchor="ctr">
            <a:noAutofit/>
          </a:bodyPr>
          <a:lstStyle/>
          <a:p>
            <a:pPr algn="l">
              <a:spcBef>
                <a:spcPts val="0"/>
              </a:spcBef>
              <a:spcAft>
                <a:spcPts val="0"/>
              </a:spcAft>
              <a:buNone/>
            </a:pPr>
            <a:r>
              <a:rPr lang="vi-VN" sz="1500" b="0" i="0" dirty="0">
                <a:solidFill>
                  <a:srgbClr val="5A6272"/>
                </a:solidFill>
                <a:latin typeface="Times New Roman"/>
                <a:cs typeface="Times New Roman"/>
              </a:rPr>
              <a:t>Giải quyết: </a:t>
            </a:r>
            <a:r>
              <a:rPr lang="vi-VN" sz="1500" b="1" i="0" dirty="0">
                <a:solidFill>
                  <a:srgbClr val="B4470F"/>
                </a:solidFill>
                <a:latin typeface="Times New Roman"/>
                <a:cs typeface="Times New Roman"/>
              </a:rPr>
              <a:t>VĐ-02 · 03 · 05</a:t>
            </a:r>
          </a:p>
        </p:txBody>
      </p:sp>
      <p:sp>
        <p:nvSpPr>
          <p:cNvPr id="13" name="Card 13"/>
          <p:cNvSpPr/>
          <p:nvPr/>
        </p:nvSpPr>
        <p:spPr>
          <a:xfrm>
            <a:off x="8156448" y="1463040"/>
            <a:ext cx="3575304" cy="4526280"/>
          </a:xfrm>
          <a:prstGeom prst="roundRect">
            <a:avLst>
              <a:gd name="adj" fmla="val 2046"/>
            </a:avLst>
          </a:prstGeom>
          <a:solidFill>
            <a:srgbClr val="FFFFFF"/>
          </a:solidFill>
          <a:ln w="9525">
            <a:solidFill>
              <a:srgbClr val="C9D1E3"/>
            </a:solidFill>
          </a:ln>
        </p:spPr>
      </p:sp>
      <p:sp>
        <p:nvSpPr>
          <p:cNvPr id="14" name="Header 14"/>
          <p:cNvSpPr/>
          <p:nvPr/>
        </p:nvSpPr>
        <p:spPr>
          <a:xfrm>
            <a:off x="8156448" y="1463040"/>
            <a:ext cx="3575304" cy="640080"/>
          </a:xfrm>
          <a:prstGeom prst="round2SameRect">
            <a:avLst>
              <a:gd name="adj1" fmla="val 11428"/>
              <a:gd name="adj2" fmla="val 0"/>
            </a:avLst>
          </a:prstGeom>
          <a:solidFill>
            <a:srgbClr val="F26522"/>
          </a:solidFill>
          <a:ln>
            <a:noFill/>
          </a:ln>
        </p:spPr>
        <p:txBody>
          <a:bodyPr wrap="square" lIns="228600" tIns="0" rIns="182880" bIns="0" rtlCol="0" anchor="ctr">
            <a:noAutofit/>
          </a:bodyPr>
          <a:lstStyle/>
          <a:p>
            <a:pPr algn="l">
              <a:spcBef>
                <a:spcPts val="0"/>
              </a:spcBef>
              <a:spcAft>
                <a:spcPts val="0"/>
              </a:spcAft>
              <a:buNone/>
            </a:pPr>
            <a:r>
              <a:rPr lang="vi-VN" sz="2000" b="1" i="0" dirty="0">
                <a:solidFill>
                  <a:srgbClr val="FFFFFF"/>
                </a:solidFill>
                <a:latin typeface="Times New Roman"/>
                <a:cs typeface="Times New Roman"/>
              </a:rPr>
              <a:t>Tác vụ tự động</a:t>
            </a:r>
          </a:p>
        </p:txBody>
      </p:sp>
      <p:sp>
        <p:nvSpPr>
          <p:cNvPr id="15" name="TextBox 15"/>
          <p:cNvSpPr txBox="1"/>
          <p:nvPr/>
        </p:nvSpPr>
        <p:spPr>
          <a:xfrm>
            <a:off x="8385048" y="2286000"/>
            <a:ext cx="3163824" cy="2926080"/>
          </a:xfrm>
          <a:prstGeom prst="rect">
            <a:avLst/>
          </a:prstGeom>
          <a:noFill/>
          <a:ln>
            <a:noFill/>
          </a:ln>
        </p:spPr>
        <p:txBody>
          <a:bodyPr wrap="square" lIns="0" tIns="0" rIns="0" bIns="0" rtlCol="0" anchor="t">
            <a:noAutofit/>
          </a:bodyPr>
          <a:lstStyle/>
          <a:p>
            <a:pPr marL="285750" indent="-285750" algn="l">
              <a:spcBef>
                <a:spcPts val="700"/>
              </a:spcBef>
              <a:spcAft>
                <a:spcPts val="0"/>
              </a:spcAft>
              <a:buClr>
                <a:srgbClr val="F26522"/>
              </a:buClr>
              <a:buFont typeface="Arial"/>
              <a:buChar char="•"/>
            </a:pPr>
            <a:r>
              <a:rPr lang="vi-VN" sz="1600" b="0" i="0" dirty="0">
                <a:solidFill>
                  <a:srgbClr val="1F2433"/>
                </a:solidFill>
                <a:latin typeface="Times New Roman"/>
                <a:cs typeface="Times New Roman"/>
              </a:rPr>
              <a:t>Nhắc hạn lúc 8:00 hằng ngày, trước 1 và 3 ngày</a:t>
            </a:r>
          </a:p>
          <a:p>
            <a:pPr marL="285750" indent="-285750" algn="l">
              <a:spcBef>
                <a:spcPts val="700"/>
              </a:spcBef>
              <a:spcAft>
                <a:spcPts val="0"/>
              </a:spcAft>
              <a:buClr>
                <a:srgbClr val="F26522"/>
              </a:buClr>
              <a:buFont typeface="Arial"/>
              <a:buChar char="•"/>
            </a:pPr>
            <a:r>
              <a:rPr lang="vi-VN" sz="1600" b="0" i="0" dirty="0">
                <a:solidFill>
                  <a:srgbClr val="1F2433"/>
                </a:solidFill>
                <a:latin typeface="Times New Roman"/>
                <a:cs typeface="Times New Roman"/>
              </a:rPr>
              <a:t>Tự chuyển phiếu sang quá hạn</a:t>
            </a:r>
          </a:p>
          <a:p>
            <a:pPr marL="285750" indent="-285750" algn="l">
              <a:spcBef>
                <a:spcPts val="700"/>
              </a:spcBef>
              <a:spcAft>
                <a:spcPts val="0"/>
              </a:spcAft>
              <a:buClr>
                <a:srgbClr val="F26522"/>
              </a:buClr>
              <a:buFont typeface="Arial"/>
              <a:buChar char="•"/>
            </a:pPr>
            <a:r>
              <a:rPr lang="vi-VN" sz="1600" b="0" i="0" dirty="0">
                <a:solidFill>
                  <a:srgbClr val="1F2433"/>
                </a:solidFill>
                <a:latin typeface="Times New Roman"/>
                <a:cs typeface="Times New Roman"/>
              </a:rPr>
              <a:t>Báo người đầu hàng chờ, giữ chỗ 48 giờ</a:t>
            </a:r>
          </a:p>
        </p:txBody>
      </p:sp>
      <p:sp>
        <p:nvSpPr>
          <p:cNvPr id="16" name="TextBox 16"/>
          <p:cNvSpPr txBox="1"/>
          <p:nvPr/>
        </p:nvSpPr>
        <p:spPr>
          <a:xfrm>
            <a:off x="8385048" y="5440680"/>
            <a:ext cx="3163824" cy="411480"/>
          </a:xfrm>
          <a:prstGeom prst="rect">
            <a:avLst/>
          </a:prstGeom>
          <a:noFill/>
          <a:ln>
            <a:noFill/>
          </a:ln>
        </p:spPr>
        <p:txBody>
          <a:bodyPr wrap="square" lIns="0" tIns="0" rIns="0" bIns="0" rtlCol="0" anchor="ctr">
            <a:noAutofit/>
          </a:bodyPr>
          <a:lstStyle/>
          <a:p>
            <a:pPr algn="l">
              <a:spcBef>
                <a:spcPts val="0"/>
              </a:spcBef>
              <a:spcAft>
                <a:spcPts val="0"/>
              </a:spcAft>
              <a:buNone/>
            </a:pPr>
            <a:r>
              <a:rPr lang="vi-VN" sz="1500" b="0" i="0" dirty="0">
                <a:solidFill>
                  <a:srgbClr val="5A6272"/>
                </a:solidFill>
                <a:latin typeface="Times New Roman"/>
                <a:cs typeface="Times New Roman"/>
              </a:rPr>
              <a:t>Giải quyết: </a:t>
            </a:r>
            <a:r>
              <a:rPr lang="vi-VN" sz="1500" b="1" i="0" dirty="0">
                <a:solidFill>
                  <a:srgbClr val="B4470F"/>
                </a:solidFill>
                <a:latin typeface="Times New Roman"/>
                <a:cs typeface="Times New Roman"/>
              </a:rPr>
              <a:t>VĐ-04</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b="1" dirty="0">
                <a:solidFill>
                  <a:srgbClr val="223771"/>
                </a:solidFill>
                <a:latin typeface="Times New Roman"/>
                <a:cs typeface="Times New Roman"/>
              </a:rPr>
              <a:t>KIẾN TRÚC &amp; CÔNG NGHỆ</a:t>
            </a:r>
          </a:p>
        </p:txBody>
      </p:sp>
      <p:sp>
        <p:nvSpPr>
          <p:cNvPr id="4" name="TextBox 4"/>
          <p:cNvSpPr txBox="1"/>
          <p:nvPr/>
        </p:nvSpPr>
        <p:spPr>
          <a:xfrm>
            <a:off x="457200" y="896112"/>
            <a:ext cx="11274552" cy="411480"/>
          </a:xfrm>
          <a:prstGeom prst="rect">
            <a:avLst/>
          </a:prstGeom>
          <a:noFill/>
          <a:ln>
            <a:noFill/>
          </a:ln>
        </p:spPr>
        <p:txBody>
          <a:bodyPr wrap="square" lIns="0" tIns="0" rIns="0" bIns="0" rtlCol="0" anchor="ctr">
            <a:noAutofit/>
          </a:bodyPr>
          <a:lstStyle/>
          <a:p>
            <a:pPr algn="l">
              <a:spcBef>
                <a:spcPts val="0"/>
              </a:spcBef>
              <a:spcAft>
                <a:spcPts val="0"/>
              </a:spcAft>
              <a:buNone/>
            </a:pPr>
            <a:r>
              <a:rPr lang="vi-VN" sz="1800" b="0" i="1" dirty="0">
                <a:solidFill>
                  <a:srgbClr val="5A6272"/>
                </a:solidFill>
                <a:latin typeface="Times New Roman"/>
                <a:cs typeface="Times New Roman"/>
              </a:rPr>
              <a:t>Kiến trúc ba tầng, đóng gói bằng Docker Compose</a:t>
            </a:r>
          </a:p>
        </p:txBody>
      </p:sp>
      <p:pic>
        <p:nvPicPr>
          <p:cNvPr id="5" name="Picture 5" descr="Sơ đồ kiến trúc ba tầng: giao diện React, máy chủ Express, cơ sở dữ liệu MySQL và các dịch vụ tích hợp"/>
          <p:cNvPicPr>
            <a:picLocks noChangeAspect="1"/>
          </p:cNvPicPr>
          <p:nvPr/>
        </p:nvPicPr>
        <p:blipFill>
          <a:blip r:embed="rId3"/>
          <a:stretch>
            <a:fillRect/>
          </a:stretch>
        </p:blipFill>
        <p:spPr>
          <a:xfrm>
            <a:off x="457200" y="1463040"/>
            <a:ext cx="6675120" cy="3470648"/>
          </a:xfrm>
          <a:prstGeom prst="rect">
            <a:avLst/>
          </a:prstGeom>
          <a:ln w="9525">
            <a:solidFill>
              <a:srgbClr val="C9D1E3"/>
            </a:solidFill>
          </a:ln>
        </p:spPr>
      </p:pic>
      <p:sp>
        <p:nvSpPr>
          <p:cNvPr id="6" name="Shape 6"/>
          <p:cNvSpPr/>
          <p:nvPr/>
        </p:nvSpPr>
        <p:spPr>
          <a:xfrm>
            <a:off x="457200" y="5166360"/>
            <a:ext cx="6675120" cy="868680"/>
          </a:xfrm>
          <a:prstGeom prst="roundRect">
            <a:avLst>
              <a:gd name="adj" fmla="val 8421"/>
            </a:avLst>
          </a:prstGeom>
          <a:solidFill>
            <a:srgbClr val="E9EDF6"/>
          </a:solidFill>
          <a:ln>
            <a:noFill/>
          </a:ln>
        </p:spPr>
        <p:txBody>
          <a:bodyPr wrap="square" lIns="228600" tIns="45720" rIns="228600" bIns="45720" rtlCol="0" anchor="ctr">
            <a:noAutofit/>
          </a:bodyPr>
          <a:lstStyle/>
          <a:p>
            <a:pPr algn="l">
              <a:spcBef>
                <a:spcPts val="0"/>
              </a:spcBef>
              <a:spcAft>
                <a:spcPts val="0"/>
              </a:spcAft>
              <a:buNone/>
            </a:pPr>
            <a:r>
              <a:rPr lang="vi-VN" sz="1500" b="1" i="0" dirty="0">
                <a:solidFill>
                  <a:srgbClr val="223771"/>
                </a:solidFill>
                <a:latin typeface="Times New Roman"/>
                <a:cs typeface="Times New Roman"/>
              </a:rPr>
              <a:t>Điểm nhấn bảo mật: </a:t>
            </a:r>
            <a:r>
              <a:rPr lang="vi-VN" sz="1500" b="0" i="0" dirty="0">
                <a:solidFill>
                  <a:srgbClr val="1F2433"/>
                </a:solidFill>
                <a:latin typeface="Times New Roman"/>
                <a:cs typeface="Times New Roman"/>
              </a:rPr>
              <a:t>mỗi lần đăng nhập, máy chủ sinh cặp khóa RSA riêng để ký token; đăng xuất là mọi token cũ mất hiệu lực ngay.</a:t>
            </a:r>
          </a:p>
        </p:txBody>
      </p:sp>
      <p:sp>
        <p:nvSpPr>
          <p:cNvPr id="7" name="TextBox 7"/>
          <p:cNvSpPr txBox="1"/>
          <p:nvPr/>
        </p:nvSpPr>
        <p:spPr>
          <a:xfrm>
            <a:off x="7498080" y="1463040"/>
            <a:ext cx="4233672" cy="713232"/>
          </a:xfrm>
          <a:prstGeom prst="rect">
            <a:avLst/>
          </a:prstGeom>
          <a:noFill/>
          <a:ln>
            <a:noFill/>
          </a:ln>
        </p:spPr>
        <p:txBody>
          <a:bodyPr wrap="square" lIns="0" tIns="0" rIns="0" bIns="0" rtlCol="0" anchor="ctr">
            <a:noAutofit/>
          </a:bodyPr>
          <a:lstStyle/>
          <a:p>
            <a:pPr algn="l">
              <a:spcBef>
                <a:spcPts val="0"/>
              </a:spcBef>
              <a:spcAft>
                <a:spcPts val="0"/>
              </a:spcAft>
              <a:buNone/>
            </a:pPr>
            <a:r>
              <a:rPr lang="vi-VN" sz="1300" b="1" i="0" dirty="0">
                <a:solidFill>
                  <a:srgbClr val="B4470F"/>
                </a:solidFill>
                <a:latin typeface="Times New Roman"/>
                <a:cs typeface="Times New Roman"/>
              </a:rPr>
              <a:t>GIAO DIỆN</a:t>
            </a:r>
          </a:p>
          <a:p>
            <a:pPr algn="l">
              <a:spcBef>
                <a:spcPts val="100"/>
              </a:spcBef>
              <a:spcAft>
                <a:spcPts val="0"/>
              </a:spcAft>
              <a:buNone/>
            </a:pPr>
            <a:r>
              <a:rPr lang="vi-VN" sz="1700" b="0" i="0" dirty="0">
                <a:solidFill>
                  <a:srgbClr val="1F2433"/>
                </a:solidFill>
                <a:latin typeface="Times New Roman"/>
                <a:cs typeface="Times New Roman"/>
              </a:rPr>
              <a:t>React 18 · Ant Design · Tailwind CSS</a:t>
            </a:r>
          </a:p>
        </p:txBody>
      </p:sp>
      <p:sp>
        <p:nvSpPr>
          <p:cNvPr id="8" name="TextBox 8"/>
          <p:cNvSpPr txBox="1"/>
          <p:nvPr/>
        </p:nvSpPr>
        <p:spPr>
          <a:xfrm>
            <a:off x="7498080" y="2221992"/>
            <a:ext cx="4233672" cy="713232"/>
          </a:xfrm>
          <a:prstGeom prst="rect">
            <a:avLst/>
          </a:prstGeom>
          <a:noFill/>
          <a:ln>
            <a:noFill/>
          </a:ln>
        </p:spPr>
        <p:txBody>
          <a:bodyPr wrap="square" lIns="0" tIns="0" rIns="0" bIns="0" rtlCol="0" anchor="ctr">
            <a:noAutofit/>
          </a:bodyPr>
          <a:lstStyle/>
          <a:p>
            <a:pPr algn="l">
              <a:spcBef>
                <a:spcPts val="0"/>
              </a:spcBef>
              <a:spcAft>
                <a:spcPts val="0"/>
              </a:spcAft>
              <a:buNone/>
            </a:pPr>
            <a:r>
              <a:rPr lang="vi-VN" sz="1300" b="1" i="0" dirty="0">
                <a:solidFill>
                  <a:srgbClr val="B4470F"/>
                </a:solidFill>
                <a:latin typeface="Times New Roman"/>
                <a:cs typeface="Times New Roman"/>
              </a:rPr>
              <a:t>MÁY CHỦ</a:t>
            </a:r>
          </a:p>
          <a:p>
            <a:pPr algn="l">
              <a:spcBef>
                <a:spcPts val="100"/>
              </a:spcBef>
              <a:spcAft>
                <a:spcPts val="0"/>
              </a:spcAft>
              <a:buNone/>
            </a:pPr>
            <a:r>
              <a:rPr lang="vi-VN" sz="1700" b="0" i="0" dirty="0">
                <a:solidFill>
                  <a:srgbClr val="1F2433"/>
                </a:solidFill>
                <a:latin typeface="Times New Roman"/>
                <a:cs typeface="Times New Roman"/>
              </a:rPr>
              <a:t>Node.js 20 · Express 5 · REST API</a:t>
            </a:r>
          </a:p>
        </p:txBody>
      </p:sp>
      <p:sp>
        <p:nvSpPr>
          <p:cNvPr id="9" name="TextBox 9"/>
          <p:cNvSpPr txBox="1"/>
          <p:nvPr/>
        </p:nvSpPr>
        <p:spPr>
          <a:xfrm>
            <a:off x="7498080" y="2980944"/>
            <a:ext cx="4233672" cy="713232"/>
          </a:xfrm>
          <a:prstGeom prst="rect">
            <a:avLst/>
          </a:prstGeom>
          <a:noFill/>
          <a:ln>
            <a:noFill/>
          </a:ln>
        </p:spPr>
        <p:txBody>
          <a:bodyPr wrap="square" lIns="0" tIns="0" rIns="0" bIns="0" rtlCol="0" anchor="ctr">
            <a:noAutofit/>
          </a:bodyPr>
          <a:lstStyle/>
          <a:p>
            <a:pPr algn="l">
              <a:spcBef>
                <a:spcPts val="0"/>
              </a:spcBef>
              <a:spcAft>
                <a:spcPts val="0"/>
              </a:spcAft>
              <a:buNone/>
            </a:pPr>
            <a:r>
              <a:rPr lang="vi-VN" sz="1300" b="1" i="0" dirty="0">
                <a:solidFill>
                  <a:srgbClr val="B4470F"/>
                </a:solidFill>
                <a:latin typeface="Times New Roman"/>
                <a:cs typeface="Times New Roman"/>
              </a:rPr>
              <a:t>DỮ LIỆU</a:t>
            </a:r>
          </a:p>
          <a:p>
            <a:pPr algn="l">
              <a:spcBef>
                <a:spcPts val="100"/>
              </a:spcBef>
              <a:spcAft>
                <a:spcPts val="0"/>
              </a:spcAft>
              <a:buNone/>
            </a:pPr>
            <a:r>
              <a:rPr lang="vi-VN" sz="1700" b="0" i="0" dirty="0">
                <a:solidFill>
                  <a:srgbClr val="1F2433"/>
                </a:solidFill>
                <a:latin typeface="Times New Roman"/>
                <a:cs typeface="Times New Roman"/>
              </a:rPr>
              <a:t>MySQL 8.0 · Sequelize · 18 bảng</a:t>
            </a:r>
          </a:p>
        </p:txBody>
      </p:sp>
      <p:sp>
        <p:nvSpPr>
          <p:cNvPr id="10" name="TextBox 10"/>
          <p:cNvSpPr txBox="1"/>
          <p:nvPr/>
        </p:nvSpPr>
        <p:spPr>
          <a:xfrm>
            <a:off x="7498080" y="3739896"/>
            <a:ext cx="4233672" cy="713232"/>
          </a:xfrm>
          <a:prstGeom prst="rect">
            <a:avLst/>
          </a:prstGeom>
          <a:noFill/>
          <a:ln>
            <a:noFill/>
          </a:ln>
        </p:spPr>
        <p:txBody>
          <a:bodyPr wrap="square" lIns="0" tIns="0" rIns="0" bIns="0" rtlCol="0" anchor="ctr">
            <a:noAutofit/>
          </a:bodyPr>
          <a:lstStyle/>
          <a:p>
            <a:pPr algn="l">
              <a:spcBef>
                <a:spcPts val="0"/>
              </a:spcBef>
              <a:spcAft>
                <a:spcPts val="0"/>
              </a:spcAft>
              <a:buNone/>
            </a:pPr>
            <a:r>
              <a:rPr lang="vi-VN" sz="1300" b="1" i="0" dirty="0">
                <a:solidFill>
                  <a:srgbClr val="B4470F"/>
                </a:solidFill>
                <a:latin typeface="Times New Roman"/>
                <a:cs typeface="Times New Roman"/>
              </a:rPr>
              <a:t>BẢO MẬT</a:t>
            </a:r>
          </a:p>
          <a:p>
            <a:pPr algn="l">
              <a:spcBef>
                <a:spcPts val="100"/>
              </a:spcBef>
              <a:spcAft>
                <a:spcPts val="0"/>
              </a:spcAft>
              <a:buNone/>
            </a:pPr>
            <a:r>
              <a:rPr lang="vi-VN" sz="1700" b="0" i="0" dirty="0">
                <a:solidFill>
                  <a:srgbClr val="1F2433"/>
                </a:solidFill>
                <a:latin typeface="Times New Roman"/>
                <a:cs typeface="Times New Roman"/>
              </a:rPr>
              <a:t>JWT ký RS256 theo từng người dùng · bcrypt</a:t>
            </a:r>
          </a:p>
        </p:txBody>
      </p:sp>
      <p:sp>
        <p:nvSpPr>
          <p:cNvPr id="11" name="TextBox 11"/>
          <p:cNvSpPr txBox="1"/>
          <p:nvPr/>
        </p:nvSpPr>
        <p:spPr>
          <a:xfrm>
            <a:off x="7498080" y="4498848"/>
            <a:ext cx="4233672" cy="713232"/>
          </a:xfrm>
          <a:prstGeom prst="rect">
            <a:avLst/>
          </a:prstGeom>
          <a:noFill/>
          <a:ln>
            <a:noFill/>
          </a:ln>
        </p:spPr>
        <p:txBody>
          <a:bodyPr wrap="square" lIns="0" tIns="0" rIns="0" bIns="0" rtlCol="0" anchor="ctr">
            <a:noAutofit/>
          </a:bodyPr>
          <a:lstStyle/>
          <a:p>
            <a:pPr algn="l">
              <a:spcBef>
                <a:spcPts val="0"/>
              </a:spcBef>
              <a:spcAft>
                <a:spcPts val="0"/>
              </a:spcAft>
              <a:buNone/>
            </a:pPr>
            <a:r>
              <a:rPr lang="vi-VN" sz="1300" b="1" i="0" dirty="0">
                <a:solidFill>
                  <a:srgbClr val="B4470F"/>
                </a:solidFill>
                <a:latin typeface="Times New Roman"/>
                <a:cs typeface="Times New Roman"/>
              </a:rPr>
              <a:t>TÍCH HỢP</a:t>
            </a:r>
          </a:p>
          <a:p>
            <a:pPr algn="l">
              <a:spcBef>
                <a:spcPts val="100"/>
              </a:spcBef>
              <a:spcAft>
                <a:spcPts val="0"/>
              </a:spcAft>
              <a:buNone/>
            </a:pPr>
            <a:r>
              <a:rPr lang="vi-VN" sz="1700" b="0" i="0" dirty="0">
                <a:solidFill>
                  <a:srgbClr val="1F2433"/>
                </a:solidFill>
                <a:latin typeface="Times New Roman"/>
                <a:cs typeface="Times New Roman"/>
              </a:rPr>
              <a:t>Groq (AI) · VNPay · MoMo · Gmail</a:t>
            </a:r>
          </a:p>
        </p:txBody>
      </p:sp>
      <p:sp>
        <p:nvSpPr>
          <p:cNvPr id="12" name="TextBox 12"/>
          <p:cNvSpPr txBox="1"/>
          <p:nvPr/>
        </p:nvSpPr>
        <p:spPr>
          <a:xfrm>
            <a:off x="7498080" y="5257800"/>
            <a:ext cx="4233672" cy="713232"/>
          </a:xfrm>
          <a:prstGeom prst="rect">
            <a:avLst/>
          </a:prstGeom>
          <a:noFill/>
          <a:ln>
            <a:noFill/>
          </a:ln>
        </p:spPr>
        <p:txBody>
          <a:bodyPr wrap="square" lIns="0" tIns="0" rIns="0" bIns="0" rtlCol="0" anchor="ctr">
            <a:noAutofit/>
          </a:bodyPr>
          <a:lstStyle/>
          <a:p>
            <a:pPr algn="l">
              <a:spcBef>
                <a:spcPts val="0"/>
              </a:spcBef>
              <a:spcAft>
                <a:spcPts val="0"/>
              </a:spcAft>
              <a:buNone/>
            </a:pPr>
            <a:r>
              <a:rPr lang="vi-VN" sz="1300" b="1" i="0" dirty="0">
                <a:solidFill>
                  <a:srgbClr val="B4470F"/>
                </a:solidFill>
                <a:latin typeface="Times New Roman"/>
                <a:cs typeface="Times New Roman"/>
              </a:rPr>
              <a:t>TRIỂN KHAI</a:t>
            </a:r>
          </a:p>
          <a:p>
            <a:pPr algn="l">
              <a:spcBef>
                <a:spcPts val="100"/>
              </a:spcBef>
              <a:spcAft>
                <a:spcPts val="0"/>
              </a:spcAft>
              <a:buNone/>
            </a:pPr>
            <a:r>
              <a:rPr lang="vi-VN" sz="1700" b="0" i="0" dirty="0">
                <a:solidFill>
                  <a:srgbClr val="1F2433"/>
                </a:solidFill>
                <a:latin typeface="Times New Roman"/>
                <a:cs typeface="Times New Roman"/>
              </a:rPr>
              <a:t>Docker Compose: 3 dịch vụ, một lệnh</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b="1" dirty="0">
                <a:solidFill>
                  <a:srgbClr val="223771"/>
                </a:solidFill>
                <a:latin typeface="Times New Roman"/>
                <a:cs typeface="Times New Roman"/>
              </a:rPr>
              <a:t>PHÂN TÍCH YÊU CẦU</a:t>
            </a:r>
          </a:p>
        </p:txBody>
      </p:sp>
      <p:sp>
        <p:nvSpPr>
          <p:cNvPr id="4" name="TextBox 4"/>
          <p:cNvSpPr txBox="1"/>
          <p:nvPr/>
        </p:nvSpPr>
        <p:spPr>
          <a:xfrm>
            <a:off x="457200" y="896112"/>
            <a:ext cx="11274552" cy="411480"/>
          </a:xfrm>
          <a:prstGeom prst="rect">
            <a:avLst/>
          </a:prstGeom>
          <a:noFill/>
          <a:ln>
            <a:noFill/>
          </a:ln>
        </p:spPr>
        <p:txBody>
          <a:bodyPr wrap="square" lIns="0" tIns="0" rIns="0" bIns="0" rtlCol="0" anchor="ctr">
            <a:noAutofit/>
          </a:bodyPr>
          <a:lstStyle/>
          <a:p>
            <a:pPr algn="l">
              <a:spcBef>
                <a:spcPts val="0"/>
              </a:spcBef>
              <a:spcAft>
                <a:spcPts val="0"/>
              </a:spcAft>
              <a:buNone/>
            </a:pPr>
            <a:r>
              <a:rPr lang="vi-VN" sz="1800" b="0" i="1" dirty="0">
                <a:solidFill>
                  <a:srgbClr val="5A6272"/>
                </a:solidFill>
                <a:latin typeface="Times New Roman"/>
                <a:cs typeface="Times New Roman"/>
              </a:rPr>
              <a:t>Yêu cầu được đặc tả và truy vết đầy đủ, từ vấn đề tới kiểm thử</a:t>
            </a:r>
          </a:p>
        </p:txBody>
      </p:sp>
      <p:sp>
        <p:nvSpPr>
          <p:cNvPr id="5" name="Card 5"/>
          <p:cNvSpPr/>
          <p:nvPr/>
        </p:nvSpPr>
        <p:spPr>
          <a:xfrm>
            <a:off x="457200" y="1463040"/>
            <a:ext cx="3575304" cy="1600200"/>
          </a:xfrm>
          <a:prstGeom prst="roundRect">
            <a:avLst>
              <a:gd name="adj" fmla="val 4571"/>
            </a:avLst>
          </a:prstGeom>
          <a:solidFill>
            <a:srgbClr val="E9EDF6"/>
          </a:solidFill>
          <a:ln>
            <a:noFill/>
          </a:ln>
        </p:spPr>
      </p:sp>
      <p:sp>
        <p:nvSpPr>
          <p:cNvPr id="6" name="TextBox 6"/>
          <p:cNvSpPr txBox="1"/>
          <p:nvPr/>
        </p:nvSpPr>
        <p:spPr>
          <a:xfrm>
            <a:off x="685800" y="1463040"/>
            <a:ext cx="1188720" cy="1600200"/>
          </a:xfrm>
          <a:prstGeom prst="rect">
            <a:avLst/>
          </a:prstGeom>
          <a:noFill/>
          <a:ln>
            <a:noFill/>
          </a:ln>
        </p:spPr>
        <p:txBody>
          <a:bodyPr wrap="square" lIns="0" tIns="0" rIns="0" bIns="0" rtlCol="0" anchor="ctr">
            <a:noAutofit/>
          </a:bodyPr>
          <a:lstStyle/>
          <a:p>
            <a:pPr algn="ctr">
              <a:spcBef>
                <a:spcPts val="0"/>
              </a:spcBef>
              <a:spcAft>
                <a:spcPts val="0"/>
              </a:spcAft>
              <a:buNone/>
            </a:pPr>
            <a:r>
              <a:rPr lang="vi-VN" sz="4800" b="1" i="0" dirty="0">
                <a:solidFill>
                  <a:srgbClr val="223771"/>
                </a:solidFill>
                <a:latin typeface="Times New Roman"/>
                <a:cs typeface="Times New Roman"/>
              </a:rPr>
              <a:t>33</a:t>
            </a:r>
          </a:p>
        </p:txBody>
      </p:sp>
      <p:sp>
        <p:nvSpPr>
          <p:cNvPr id="7" name="TextBox 7"/>
          <p:cNvSpPr txBox="1"/>
          <p:nvPr/>
        </p:nvSpPr>
        <p:spPr>
          <a:xfrm>
            <a:off x="1965960" y="1463040"/>
            <a:ext cx="1883664" cy="1600200"/>
          </a:xfrm>
          <a:prstGeom prst="rect">
            <a:avLst/>
          </a:prstGeom>
          <a:noFill/>
          <a:ln>
            <a:noFill/>
          </a:ln>
        </p:spPr>
        <p:txBody>
          <a:bodyPr wrap="square" lIns="0" tIns="0" rIns="0" bIns="0" rtlCol="0" anchor="ctr">
            <a:noAutofit/>
          </a:bodyPr>
          <a:lstStyle/>
          <a:p>
            <a:pPr algn="l">
              <a:spcBef>
                <a:spcPts val="0"/>
              </a:spcBef>
              <a:spcAft>
                <a:spcPts val="0"/>
              </a:spcAft>
              <a:buNone/>
            </a:pPr>
            <a:r>
              <a:rPr lang="vi-VN" sz="1700" b="0" i="0" dirty="0">
                <a:solidFill>
                  <a:srgbClr val="1F2433"/>
                </a:solidFill>
                <a:latin typeface="Times New Roman"/>
                <a:cs typeface="Times New Roman"/>
              </a:rPr>
              <a:t>yêu cầu chức năng (FR), chia năm nhóm</a:t>
            </a:r>
          </a:p>
        </p:txBody>
      </p:sp>
      <p:sp>
        <p:nvSpPr>
          <p:cNvPr id="8" name="Card 8"/>
          <p:cNvSpPr/>
          <p:nvPr/>
        </p:nvSpPr>
        <p:spPr>
          <a:xfrm>
            <a:off x="4306824" y="1463040"/>
            <a:ext cx="3575304" cy="1600200"/>
          </a:xfrm>
          <a:prstGeom prst="roundRect">
            <a:avLst>
              <a:gd name="adj" fmla="val 4571"/>
            </a:avLst>
          </a:prstGeom>
          <a:solidFill>
            <a:srgbClr val="E9EDF6"/>
          </a:solidFill>
          <a:ln>
            <a:noFill/>
          </a:ln>
        </p:spPr>
      </p:sp>
      <p:sp>
        <p:nvSpPr>
          <p:cNvPr id="9" name="TextBox 9"/>
          <p:cNvSpPr txBox="1"/>
          <p:nvPr/>
        </p:nvSpPr>
        <p:spPr>
          <a:xfrm>
            <a:off x="4535424" y="1463040"/>
            <a:ext cx="1188720" cy="1600200"/>
          </a:xfrm>
          <a:prstGeom prst="rect">
            <a:avLst/>
          </a:prstGeom>
          <a:noFill/>
          <a:ln>
            <a:noFill/>
          </a:ln>
        </p:spPr>
        <p:txBody>
          <a:bodyPr wrap="square" lIns="0" tIns="0" rIns="0" bIns="0" rtlCol="0" anchor="ctr">
            <a:noAutofit/>
          </a:bodyPr>
          <a:lstStyle/>
          <a:p>
            <a:pPr algn="ctr">
              <a:spcBef>
                <a:spcPts val="0"/>
              </a:spcBef>
              <a:spcAft>
                <a:spcPts val="0"/>
              </a:spcAft>
              <a:buNone/>
            </a:pPr>
            <a:r>
              <a:rPr lang="vi-VN" sz="4800" b="1" i="0" dirty="0">
                <a:solidFill>
                  <a:srgbClr val="223771"/>
                </a:solidFill>
                <a:latin typeface="Times New Roman"/>
                <a:cs typeface="Times New Roman"/>
              </a:rPr>
              <a:t>13</a:t>
            </a:r>
          </a:p>
        </p:txBody>
      </p:sp>
      <p:sp>
        <p:nvSpPr>
          <p:cNvPr id="10" name="TextBox 10"/>
          <p:cNvSpPr txBox="1"/>
          <p:nvPr/>
        </p:nvSpPr>
        <p:spPr>
          <a:xfrm>
            <a:off x="5815584" y="1463040"/>
            <a:ext cx="1883664" cy="1600200"/>
          </a:xfrm>
          <a:prstGeom prst="rect">
            <a:avLst/>
          </a:prstGeom>
          <a:noFill/>
          <a:ln>
            <a:noFill/>
          </a:ln>
        </p:spPr>
        <p:txBody>
          <a:bodyPr wrap="square" lIns="0" tIns="0" rIns="0" bIns="0" rtlCol="0" anchor="ctr">
            <a:noAutofit/>
          </a:bodyPr>
          <a:lstStyle/>
          <a:p>
            <a:pPr algn="l">
              <a:spcBef>
                <a:spcPts val="0"/>
              </a:spcBef>
              <a:spcAft>
                <a:spcPts val="0"/>
              </a:spcAft>
              <a:buNone/>
            </a:pPr>
            <a:r>
              <a:rPr lang="vi-VN" sz="1700" b="0" i="0" dirty="0">
                <a:solidFill>
                  <a:srgbClr val="1F2433"/>
                </a:solidFill>
                <a:latin typeface="Times New Roman"/>
                <a:cs typeface="Times New Roman"/>
              </a:rPr>
              <a:t>yêu cầu phi chức năng, đều đo được</a:t>
            </a:r>
          </a:p>
        </p:txBody>
      </p:sp>
      <p:sp>
        <p:nvSpPr>
          <p:cNvPr id="11" name="Card 11"/>
          <p:cNvSpPr/>
          <p:nvPr/>
        </p:nvSpPr>
        <p:spPr>
          <a:xfrm>
            <a:off x="8156448" y="1463040"/>
            <a:ext cx="3575304" cy="1600200"/>
          </a:xfrm>
          <a:prstGeom prst="roundRect">
            <a:avLst>
              <a:gd name="adj" fmla="val 4571"/>
            </a:avLst>
          </a:prstGeom>
          <a:solidFill>
            <a:srgbClr val="E9EDF6"/>
          </a:solidFill>
          <a:ln>
            <a:noFill/>
          </a:ln>
        </p:spPr>
      </p:sp>
      <p:sp>
        <p:nvSpPr>
          <p:cNvPr id="12" name="TextBox 12"/>
          <p:cNvSpPr txBox="1"/>
          <p:nvPr/>
        </p:nvSpPr>
        <p:spPr>
          <a:xfrm>
            <a:off x="8385048" y="1463040"/>
            <a:ext cx="1188720" cy="1600200"/>
          </a:xfrm>
          <a:prstGeom prst="rect">
            <a:avLst/>
          </a:prstGeom>
          <a:noFill/>
          <a:ln>
            <a:noFill/>
          </a:ln>
        </p:spPr>
        <p:txBody>
          <a:bodyPr wrap="square" lIns="0" tIns="0" rIns="0" bIns="0" rtlCol="0" anchor="ctr">
            <a:noAutofit/>
          </a:bodyPr>
          <a:lstStyle/>
          <a:p>
            <a:pPr algn="ctr">
              <a:spcBef>
                <a:spcPts val="0"/>
              </a:spcBef>
              <a:spcAft>
                <a:spcPts val="0"/>
              </a:spcAft>
              <a:buNone/>
            </a:pPr>
            <a:r>
              <a:rPr lang="vi-VN" sz="4800" b="1" i="0" dirty="0">
                <a:solidFill>
                  <a:srgbClr val="223771"/>
                </a:solidFill>
                <a:latin typeface="Times New Roman"/>
                <a:cs typeface="Times New Roman"/>
              </a:rPr>
              <a:t>19</a:t>
            </a:r>
          </a:p>
        </p:txBody>
      </p:sp>
      <p:sp>
        <p:nvSpPr>
          <p:cNvPr id="13" name="TextBox 13"/>
          <p:cNvSpPr txBox="1"/>
          <p:nvPr/>
        </p:nvSpPr>
        <p:spPr>
          <a:xfrm>
            <a:off x="9665208" y="1463040"/>
            <a:ext cx="1883664" cy="1600200"/>
          </a:xfrm>
          <a:prstGeom prst="rect">
            <a:avLst/>
          </a:prstGeom>
          <a:noFill/>
          <a:ln>
            <a:noFill/>
          </a:ln>
        </p:spPr>
        <p:txBody>
          <a:bodyPr wrap="square" lIns="0" tIns="0" rIns="0" bIns="0" rtlCol="0" anchor="ctr">
            <a:noAutofit/>
          </a:bodyPr>
          <a:lstStyle/>
          <a:p>
            <a:pPr algn="l">
              <a:spcBef>
                <a:spcPts val="0"/>
              </a:spcBef>
              <a:spcAft>
                <a:spcPts val="0"/>
              </a:spcAft>
              <a:buNone/>
            </a:pPr>
            <a:r>
              <a:rPr lang="vi-VN" sz="1700" b="0" i="0" dirty="0">
                <a:solidFill>
                  <a:srgbClr val="1F2433"/>
                </a:solidFill>
                <a:latin typeface="Times New Roman"/>
                <a:cs typeface="Times New Roman"/>
              </a:rPr>
              <a:t>ca sử dụng (use case)</a:t>
            </a:r>
          </a:p>
        </p:txBody>
      </p:sp>
      <p:sp>
        <p:nvSpPr>
          <p:cNvPr id="14" name="Card 14"/>
          <p:cNvSpPr/>
          <p:nvPr/>
        </p:nvSpPr>
        <p:spPr>
          <a:xfrm>
            <a:off x="457200" y="3246120"/>
            <a:ext cx="3575304" cy="1600200"/>
          </a:xfrm>
          <a:prstGeom prst="roundRect">
            <a:avLst>
              <a:gd name="adj" fmla="val 4571"/>
            </a:avLst>
          </a:prstGeom>
          <a:solidFill>
            <a:srgbClr val="E9EDF6"/>
          </a:solidFill>
          <a:ln>
            <a:noFill/>
          </a:ln>
        </p:spPr>
      </p:sp>
      <p:sp>
        <p:nvSpPr>
          <p:cNvPr id="15" name="TextBox 15"/>
          <p:cNvSpPr txBox="1"/>
          <p:nvPr/>
        </p:nvSpPr>
        <p:spPr>
          <a:xfrm>
            <a:off x="685800" y="3246120"/>
            <a:ext cx="1188720" cy="1600200"/>
          </a:xfrm>
          <a:prstGeom prst="rect">
            <a:avLst/>
          </a:prstGeom>
          <a:noFill/>
          <a:ln>
            <a:noFill/>
          </a:ln>
        </p:spPr>
        <p:txBody>
          <a:bodyPr wrap="square" lIns="0" tIns="0" rIns="0" bIns="0" rtlCol="0" anchor="ctr">
            <a:noAutofit/>
          </a:bodyPr>
          <a:lstStyle/>
          <a:p>
            <a:pPr algn="ctr">
              <a:spcBef>
                <a:spcPts val="0"/>
              </a:spcBef>
              <a:spcAft>
                <a:spcPts val="0"/>
              </a:spcAft>
              <a:buNone/>
            </a:pPr>
            <a:r>
              <a:rPr lang="vi-VN" sz="4800" b="1" i="0" dirty="0">
                <a:solidFill>
                  <a:srgbClr val="223771"/>
                </a:solidFill>
                <a:latin typeface="Times New Roman"/>
                <a:cs typeface="Times New Roman"/>
              </a:rPr>
              <a:t>10</a:t>
            </a:r>
          </a:p>
        </p:txBody>
      </p:sp>
      <p:sp>
        <p:nvSpPr>
          <p:cNvPr id="16" name="TextBox 16"/>
          <p:cNvSpPr txBox="1"/>
          <p:nvPr/>
        </p:nvSpPr>
        <p:spPr>
          <a:xfrm>
            <a:off x="1965960" y="3246120"/>
            <a:ext cx="1883664" cy="1600200"/>
          </a:xfrm>
          <a:prstGeom prst="rect">
            <a:avLst/>
          </a:prstGeom>
          <a:noFill/>
          <a:ln>
            <a:noFill/>
          </a:ln>
        </p:spPr>
        <p:txBody>
          <a:bodyPr wrap="square" lIns="0" tIns="0" rIns="0" bIns="0" rtlCol="0" anchor="ctr">
            <a:noAutofit/>
          </a:bodyPr>
          <a:lstStyle/>
          <a:p>
            <a:pPr algn="l">
              <a:spcBef>
                <a:spcPts val="0"/>
              </a:spcBef>
              <a:spcAft>
                <a:spcPts val="0"/>
              </a:spcAft>
              <a:buNone/>
            </a:pPr>
            <a:r>
              <a:rPr lang="vi-VN" sz="1700" b="0" i="0" dirty="0">
                <a:solidFill>
                  <a:srgbClr val="1F2433"/>
                </a:solidFill>
                <a:latin typeface="Times New Roman"/>
                <a:cs typeface="Times New Roman"/>
              </a:rPr>
              <a:t>quy tắc nghiệp vụ (BR)</a:t>
            </a:r>
          </a:p>
        </p:txBody>
      </p:sp>
      <p:sp>
        <p:nvSpPr>
          <p:cNvPr id="17" name="Card 17"/>
          <p:cNvSpPr/>
          <p:nvPr/>
        </p:nvSpPr>
        <p:spPr>
          <a:xfrm>
            <a:off x="4306824" y="3246120"/>
            <a:ext cx="3575304" cy="1600200"/>
          </a:xfrm>
          <a:prstGeom prst="roundRect">
            <a:avLst>
              <a:gd name="adj" fmla="val 4571"/>
            </a:avLst>
          </a:prstGeom>
          <a:solidFill>
            <a:srgbClr val="E9EDF6"/>
          </a:solidFill>
          <a:ln>
            <a:noFill/>
          </a:ln>
        </p:spPr>
      </p:sp>
      <p:sp>
        <p:nvSpPr>
          <p:cNvPr id="18" name="TextBox 18"/>
          <p:cNvSpPr txBox="1"/>
          <p:nvPr/>
        </p:nvSpPr>
        <p:spPr>
          <a:xfrm>
            <a:off x="4535424" y="3246120"/>
            <a:ext cx="1188720" cy="1600200"/>
          </a:xfrm>
          <a:prstGeom prst="rect">
            <a:avLst/>
          </a:prstGeom>
          <a:noFill/>
          <a:ln>
            <a:noFill/>
          </a:ln>
        </p:spPr>
        <p:txBody>
          <a:bodyPr wrap="square" lIns="0" tIns="0" rIns="0" bIns="0" rtlCol="0" anchor="ctr">
            <a:noAutofit/>
          </a:bodyPr>
          <a:lstStyle/>
          <a:p>
            <a:pPr algn="ctr">
              <a:spcBef>
                <a:spcPts val="0"/>
              </a:spcBef>
              <a:spcAft>
                <a:spcPts val="0"/>
              </a:spcAft>
              <a:buNone/>
            </a:pPr>
            <a:r>
              <a:rPr lang="vi-VN" sz="4800" b="1" i="0" dirty="0">
                <a:solidFill>
                  <a:srgbClr val="223771"/>
                </a:solidFill>
                <a:latin typeface="Times New Roman"/>
                <a:cs typeface="Times New Roman"/>
              </a:rPr>
              <a:t>5</a:t>
            </a:r>
          </a:p>
        </p:txBody>
      </p:sp>
      <p:sp>
        <p:nvSpPr>
          <p:cNvPr id="19" name="TextBox 19"/>
          <p:cNvSpPr txBox="1"/>
          <p:nvPr/>
        </p:nvSpPr>
        <p:spPr>
          <a:xfrm>
            <a:off x="5815584" y="3246120"/>
            <a:ext cx="1883664" cy="1600200"/>
          </a:xfrm>
          <a:prstGeom prst="rect">
            <a:avLst/>
          </a:prstGeom>
          <a:noFill/>
          <a:ln>
            <a:noFill/>
          </a:ln>
        </p:spPr>
        <p:txBody>
          <a:bodyPr wrap="square" lIns="0" tIns="0" rIns="0" bIns="0" rtlCol="0" anchor="ctr">
            <a:noAutofit/>
          </a:bodyPr>
          <a:lstStyle/>
          <a:p>
            <a:pPr algn="l">
              <a:spcBef>
                <a:spcPts val="0"/>
              </a:spcBef>
              <a:spcAft>
                <a:spcPts val="0"/>
              </a:spcAft>
              <a:buNone/>
            </a:pPr>
            <a:r>
              <a:rPr lang="vi-VN" sz="1700" b="0" i="0" dirty="0">
                <a:solidFill>
                  <a:srgbClr val="1F2433"/>
                </a:solidFill>
                <a:latin typeface="Times New Roman"/>
                <a:cs typeface="Times New Roman"/>
              </a:rPr>
              <a:t>tác nhân, gồm cả hệ thống ngoài</a:t>
            </a:r>
          </a:p>
        </p:txBody>
      </p:sp>
      <p:sp>
        <p:nvSpPr>
          <p:cNvPr id="20" name="Card 20"/>
          <p:cNvSpPr/>
          <p:nvPr/>
        </p:nvSpPr>
        <p:spPr>
          <a:xfrm>
            <a:off x="8156448" y="3246120"/>
            <a:ext cx="3575304" cy="1600200"/>
          </a:xfrm>
          <a:prstGeom prst="roundRect">
            <a:avLst>
              <a:gd name="adj" fmla="val 4571"/>
            </a:avLst>
          </a:prstGeom>
          <a:solidFill>
            <a:srgbClr val="E9EDF6"/>
          </a:solidFill>
          <a:ln>
            <a:noFill/>
          </a:ln>
        </p:spPr>
      </p:sp>
      <p:sp>
        <p:nvSpPr>
          <p:cNvPr id="21" name="TextBox 21"/>
          <p:cNvSpPr txBox="1"/>
          <p:nvPr/>
        </p:nvSpPr>
        <p:spPr>
          <a:xfrm>
            <a:off x="8385048" y="3246120"/>
            <a:ext cx="1188720" cy="1600200"/>
          </a:xfrm>
          <a:prstGeom prst="rect">
            <a:avLst/>
          </a:prstGeom>
          <a:noFill/>
          <a:ln>
            <a:noFill/>
          </a:ln>
        </p:spPr>
        <p:txBody>
          <a:bodyPr wrap="square" lIns="0" tIns="0" rIns="0" bIns="0" rtlCol="0" anchor="ctr">
            <a:noAutofit/>
          </a:bodyPr>
          <a:lstStyle/>
          <a:p>
            <a:pPr algn="ctr">
              <a:spcBef>
                <a:spcPts val="0"/>
              </a:spcBef>
              <a:spcAft>
                <a:spcPts val="0"/>
              </a:spcAft>
              <a:buNone/>
            </a:pPr>
            <a:r>
              <a:rPr lang="vi-VN" sz="4800" b="1" i="0" dirty="0">
                <a:solidFill>
                  <a:srgbClr val="223771"/>
                </a:solidFill>
                <a:latin typeface="Times New Roman"/>
                <a:cs typeface="Times New Roman"/>
              </a:rPr>
              <a:t>18</a:t>
            </a:r>
          </a:p>
        </p:txBody>
      </p:sp>
      <p:sp>
        <p:nvSpPr>
          <p:cNvPr id="22" name="TextBox 22"/>
          <p:cNvSpPr txBox="1"/>
          <p:nvPr/>
        </p:nvSpPr>
        <p:spPr>
          <a:xfrm>
            <a:off x="9665208" y="3246120"/>
            <a:ext cx="1883664" cy="1600200"/>
          </a:xfrm>
          <a:prstGeom prst="rect">
            <a:avLst/>
          </a:prstGeom>
          <a:noFill/>
          <a:ln>
            <a:noFill/>
          </a:ln>
        </p:spPr>
        <p:txBody>
          <a:bodyPr wrap="square" lIns="0" tIns="0" rIns="0" bIns="0" rtlCol="0" anchor="ctr">
            <a:noAutofit/>
          </a:bodyPr>
          <a:lstStyle/>
          <a:p>
            <a:pPr algn="l">
              <a:spcBef>
                <a:spcPts val="0"/>
              </a:spcBef>
              <a:spcAft>
                <a:spcPts val="0"/>
              </a:spcAft>
              <a:buNone/>
            </a:pPr>
            <a:r>
              <a:rPr lang="vi-VN" sz="1700" b="0" i="0" dirty="0">
                <a:solidFill>
                  <a:srgbClr val="1F2433"/>
                </a:solidFill>
                <a:latin typeface="Times New Roman"/>
                <a:cs typeface="Times New Roman"/>
              </a:rPr>
              <a:t>bảng cơ sở dữ liệu</a:t>
            </a:r>
          </a:p>
        </p:txBody>
      </p:sp>
      <p:sp>
        <p:nvSpPr>
          <p:cNvPr id="23" name="Chip 23"/>
          <p:cNvSpPr/>
          <p:nvPr/>
        </p:nvSpPr>
        <p:spPr>
          <a:xfrm>
            <a:off x="585216" y="5303520"/>
            <a:ext cx="2377440" cy="566928"/>
          </a:xfrm>
          <a:prstGeom prst="roundRect">
            <a:avLst>
              <a:gd name="adj" fmla="val 50000"/>
            </a:avLst>
          </a:prstGeom>
          <a:solidFill>
            <a:srgbClr val="223771"/>
          </a:solidFill>
          <a:ln>
            <a:noFill/>
          </a:ln>
        </p:spPr>
        <p:txBody>
          <a:bodyPr wrap="square" lIns="45720" tIns="0" rIns="45720" bIns="0" rtlCol="0" anchor="ctr">
            <a:noAutofit/>
          </a:bodyPr>
          <a:lstStyle/>
          <a:p>
            <a:pPr algn="ctr">
              <a:spcBef>
                <a:spcPts val="0"/>
              </a:spcBef>
              <a:spcAft>
                <a:spcPts val="0"/>
              </a:spcAft>
              <a:buNone/>
            </a:pPr>
            <a:r>
              <a:rPr lang="vi-VN" sz="1600" b="1" i="0" dirty="0">
                <a:solidFill>
                  <a:srgbClr val="FFFFFF"/>
                </a:solidFill>
                <a:latin typeface="Times New Roman"/>
                <a:cs typeface="Times New Roman"/>
              </a:rPr>
              <a:t>Vấn đề · VĐ</a:t>
            </a:r>
          </a:p>
        </p:txBody>
      </p:sp>
      <p:sp>
        <p:nvSpPr>
          <p:cNvPr id="24" name="Arrow 24"/>
          <p:cNvSpPr/>
          <p:nvPr/>
        </p:nvSpPr>
        <p:spPr>
          <a:xfrm>
            <a:off x="3081528" y="5422392"/>
            <a:ext cx="265176" cy="329184"/>
          </a:xfrm>
          <a:prstGeom prst="rightArrow">
            <a:avLst/>
          </a:prstGeom>
          <a:solidFill>
            <a:srgbClr val="5A6272"/>
          </a:solidFill>
          <a:ln>
            <a:noFill/>
          </a:ln>
        </p:spPr>
      </p:sp>
      <p:sp>
        <p:nvSpPr>
          <p:cNvPr id="25" name="Chip 25"/>
          <p:cNvSpPr/>
          <p:nvPr/>
        </p:nvSpPr>
        <p:spPr>
          <a:xfrm>
            <a:off x="3465576" y="5303520"/>
            <a:ext cx="2377440" cy="566928"/>
          </a:xfrm>
          <a:prstGeom prst="roundRect">
            <a:avLst>
              <a:gd name="adj" fmla="val 50000"/>
            </a:avLst>
          </a:prstGeom>
          <a:solidFill>
            <a:srgbClr val="223771"/>
          </a:solidFill>
          <a:ln>
            <a:noFill/>
          </a:ln>
        </p:spPr>
        <p:txBody>
          <a:bodyPr wrap="square" lIns="45720" tIns="0" rIns="45720" bIns="0" rtlCol="0" anchor="ctr">
            <a:noAutofit/>
          </a:bodyPr>
          <a:lstStyle/>
          <a:p>
            <a:pPr algn="ctr">
              <a:spcBef>
                <a:spcPts val="0"/>
              </a:spcBef>
              <a:spcAft>
                <a:spcPts val="0"/>
              </a:spcAft>
              <a:buNone/>
            </a:pPr>
            <a:r>
              <a:rPr lang="vi-VN" sz="1600" b="1" i="0" dirty="0">
                <a:solidFill>
                  <a:srgbClr val="FFFFFF"/>
                </a:solidFill>
                <a:latin typeface="Times New Roman"/>
                <a:cs typeface="Times New Roman"/>
              </a:rPr>
              <a:t>Yêu cầu · FR, NFR</a:t>
            </a:r>
          </a:p>
        </p:txBody>
      </p:sp>
      <p:sp>
        <p:nvSpPr>
          <p:cNvPr id="26" name="Arrow 26"/>
          <p:cNvSpPr/>
          <p:nvPr/>
        </p:nvSpPr>
        <p:spPr>
          <a:xfrm>
            <a:off x="5961888" y="5422392"/>
            <a:ext cx="265176" cy="329184"/>
          </a:xfrm>
          <a:prstGeom prst="rightArrow">
            <a:avLst/>
          </a:prstGeom>
          <a:solidFill>
            <a:srgbClr val="5A6272"/>
          </a:solidFill>
          <a:ln>
            <a:noFill/>
          </a:ln>
        </p:spPr>
      </p:sp>
      <p:sp>
        <p:nvSpPr>
          <p:cNvPr id="27" name="Chip 27"/>
          <p:cNvSpPr/>
          <p:nvPr/>
        </p:nvSpPr>
        <p:spPr>
          <a:xfrm>
            <a:off x="6345936" y="5303520"/>
            <a:ext cx="2377440" cy="566928"/>
          </a:xfrm>
          <a:prstGeom prst="roundRect">
            <a:avLst>
              <a:gd name="adj" fmla="val 50000"/>
            </a:avLst>
          </a:prstGeom>
          <a:solidFill>
            <a:srgbClr val="223771"/>
          </a:solidFill>
          <a:ln>
            <a:noFill/>
          </a:ln>
        </p:spPr>
        <p:txBody>
          <a:bodyPr wrap="square" lIns="45720" tIns="0" rIns="45720" bIns="0" rtlCol="0" anchor="ctr">
            <a:noAutofit/>
          </a:bodyPr>
          <a:lstStyle/>
          <a:p>
            <a:pPr algn="ctr">
              <a:spcBef>
                <a:spcPts val="0"/>
              </a:spcBef>
              <a:spcAft>
                <a:spcPts val="0"/>
              </a:spcAft>
              <a:buNone/>
            </a:pPr>
            <a:r>
              <a:rPr lang="vi-VN" sz="1600" b="1" i="0" dirty="0">
                <a:solidFill>
                  <a:srgbClr val="FFFFFF"/>
                </a:solidFill>
                <a:latin typeface="Times New Roman"/>
                <a:cs typeface="Times New Roman"/>
              </a:rPr>
              <a:t>Use case · UC</a:t>
            </a:r>
          </a:p>
        </p:txBody>
      </p:sp>
      <p:sp>
        <p:nvSpPr>
          <p:cNvPr id="28" name="Arrow 28"/>
          <p:cNvSpPr/>
          <p:nvPr/>
        </p:nvSpPr>
        <p:spPr>
          <a:xfrm>
            <a:off x="8842248" y="5422392"/>
            <a:ext cx="265176" cy="329184"/>
          </a:xfrm>
          <a:prstGeom prst="rightArrow">
            <a:avLst/>
          </a:prstGeom>
          <a:solidFill>
            <a:srgbClr val="5A6272"/>
          </a:solidFill>
          <a:ln>
            <a:noFill/>
          </a:ln>
        </p:spPr>
      </p:sp>
      <p:sp>
        <p:nvSpPr>
          <p:cNvPr id="29" name="Chip 29"/>
          <p:cNvSpPr/>
          <p:nvPr/>
        </p:nvSpPr>
        <p:spPr>
          <a:xfrm>
            <a:off x="9226296" y="5303520"/>
            <a:ext cx="2377440" cy="566928"/>
          </a:xfrm>
          <a:prstGeom prst="roundRect">
            <a:avLst>
              <a:gd name="adj" fmla="val 50000"/>
            </a:avLst>
          </a:prstGeom>
          <a:solidFill>
            <a:srgbClr val="F26522"/>
          </a:solidFill>
          <a:ln>
            <a:noFill/>
          </a:ln>
        </p:spPr>
        <p:txBody>
          <a:bodyPr wrap="square" lIns="45720" tIns="0" rIns="45720" bIns="0" rtlCol="0" anchor="ctr">
            <a:noAutofit/>
          </a:bodyPr>
          <a:lstStyle/>
          <a:p>
            <a:pPr algn="ctr">
              <a:spcBef>
                <a:spcPts val="0"/>
              </a:spcBef>
              <a:spcAft>
                <a:spcPts val="0"/>
              </a:spcAft>
              <a:buNone/>
            </a:pPr>
            <a:r>
              <a:rPr lang="vi-VN" sz="1600" b="1" i="0" dirty="0">
                <a:solidFill>
                  <a:srgbClr val="FFFFFF"/>
                </a:solidFill>
                <a:latin typeface="Times New Roman"/>
                <a:cs typeface="Times New Roman"/>
              </a:rPr>
              <a:t>Kiểm thử · TC</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b="1" dirty="0">
                <a:solidFill>
                  <a:srgbClr val="223771"/>
                </a:solidFill>
                <a:latin typeface="Times New Roman"/>
                <a:cs typeface="Times New Roman"/>
              </a:rPr>
              <a:t>MÔ HÌNH USE CASE</a:t>
            </a:r>
          </a:p>
        </p:txBody>
      </p:sp>
      <p:sp>
        <p:nvSpPr>
          <p:cNvPr id="4" name="TextBox 4"/>
          <p:cNvSpPr txBox="1"/>
          <p:nvPr/>
        </p:nvSpPr>
        <p:spPr>
          <a:xfrm>
            <a:off x="457200" y="896112"/>
            <a:ext cx="11274552" cy="411480"/>
          </a:xfrm>
          <a:prstGeom prst="rect">
            <a:avLst/>
          </a:prstGeom>
          <a:noFill/>
          <a:ln>
            <a:noFill/>
          </a:ln>
        </p:spPr>
        <p:txBody>
          <a:bodyPr wrap="square" lIns="0" tIns="0" rIns="0" bIns="0" rtlCol="0" anchor="ctr">
            <a:noAutofit/>
          </a:bodyPr>
          <a:lstStyle/>
          <a:p>
            <a:pPr algn="l">
              <a:spcBef>
                <a:spcPts val="0"/>
              </a:spcBef>
              <a:spcAft>
                <a:spcPts val="0"/>
              </a:spcAft>
              <a:buNone/>
            </a:pPr>
            <a:r>
              <a:rPr lang="vi-VN" sz="1800" b="0" i="1" dirty="0">
                <a:solidFill>
                  <a:srgbClr val="5A6272"/>
                </a:solidFill>
                <a:latin typeface="Times New Roman"/>
                <a:cs typeface="Times New Roman"/>
              </a:rPr>
              <a:t>19 ca sử dụng cho năm tác nhân, đặc tả theo cùng một mẫu</a:t>
            </a:r>
          </a:p>
        </p:txBody>
      </p:sp>
      <p:sp>
        <p:nvSpPr>
          <p:cNvPr id="5" name="TextBox 5"/>
          <p:cNvSpPr txBox="1"/>
          <p:nvPr/>
        </p:nvSpPr>
        <p:spPr>
          <a:xfrm>
            <a:off x="457200" y="1417320"/>
            <a:ext cx="8503920" cy="329184"/>
          </a:xfrm>
          <a:prstGeom prst="rect">
            <a:avLst/>
          </a:prstGeom>
          <a:noFill/>
          <a:ln>
            <a:noFill/>
          </a:ln>
        </p:spPr>
        <p:txBody>
          <a:bodyPr wrap="square" lIns="0" tIns="0" rIns="0" bIns="0" rtlCol="0" anchor="ctr">
            <a:noAutofit/>
          </a:bodyPr>
          <a:lstStyle/>
          <a:p>
            <a:pPr algn="l">
              <a:spcBef>
                <a:spcPts val="0"/>
              </a:spcBef>
              <a:spcAft>
                <a:spcPts val="0"/>
              </a:spcAft>
              <a:buNone/>
            </a:pPr>
            <a:r>
              <a:rPr lang="vi-VN" sz="1400" b="1" i="0" dirty="0">
                <a:solidFill>
                  <a:srgbClr val="5A6272"/>
                </a:solidFill>
                <a:latin typeface="Times New Roman"/>
                <a:cs typeface="Times New Roman"/>
              </a:rPr>
              <a:t>KHÁCH &amp; ĐỘC GIẢ · 12 ca</a:t>
            </a:r>
          </a:p>
        </p:txBody>
      </p:sp>
      <p:sp>
        <p:nvSpPr>
          <p:cNvPr id="6" name="UC 6"/>
          <p:cNvSpPr/>
          <p:nvPr/>
        </p:nvSpPr>
        <p:spPr>
          <a:xfrm>
            <a:off x="457200" y="1801368"/>
            <a:ext cx="2743200" cy="338328"/>
          </a:xfrm>
          <a:prstGeom prst="roundRect">
            <a:avLst>
              <a:gd name="adj" fmla="val 16216"/>
            </a:avLst>
          </a:prstGeom>
          <a:solidFill>
            <a:srgbClr val="E9EDF6"/>
          </a:solidFill>
          <a:ln>
            <a:noFill/>
          </a:ln>
        </p:spPr>
        <p:txBody>
          <a:bodyPr wrap="square" lIns="137160" tIns="0" rIns="91440" bIns="0" rtlCol="0" anchor="ctr">
            <a:noAutofit/>
          </a:bodyPr>
          <a:lstStyle/>
          <a:p>
            <a:pPr algn="l">
              <a:spcBef>
                <a:spcPts val="0"/>
              </a:spcBef>
              <a:spcAft>
                <a:spcPts val="0"/>
              </a:spcAft>
              <a:buNone/>
            </a:pPr>
            <a:r>
              <a:rPr lang="vi-VN" sz="1300" b="1" i="0" dirty="0">
                <a:solidFill>
                  <a:srgbClr val="223771"/>
                </a:solidFill>
                <a:latin typeface="Times New Roman"/>
                <a:cs typeface="Times New Roman"/>
              </a:rPr>
              <a:t>UC-01  </a:t>
            </a:r>
            <a:r>
              <a:rPr lang="vi-VN" sz="1300" b="0" i="0" dirty="0">
                <a:solidFill>
                  <a:srgbClr val="1F2433"/>
                </a:solidFill>
                <a:latin typeface="Times New Roman"/>
                <a:cs typeface="Times New Roman"/>
              </a:rPr>
              <a:t>Đăng ký tài khoản</a:t>
            </a:r>
          </a:p>
        </p:txBody>
      </p:sp>
      <p:sp>
        <p:nvSpPr>
          <p:cNvPr id="7" name="UC 7"/>
          <p:cNvSpPr/>
          <p:nvPr/>
        </p:nvSpPr>
        <p:spPr>
          <a:xfrm>
            <a:off x="3310128" y="1801368"/>
            <a:ext cx="2743200" cy="338328"/>
          </a:xfrm>
          <a:prstGeom prst="roundRect">
            <a:avLst>
              <a:gd name="adj" fmla="val 16216"/>
            </a:avLst>
          </a:prstGeom>
          <a:solidFill>
            <a:srgbClr val="E9EDF6"/>
          </a:solidFill>
          <a:ln>
            <a:noFill/>
          </a:ln>
        </p:spPr>
        <p:txBody>
          <a:bodyPr wrap="square" lIns="137160" tIns="0" rIns="91440" bIns="0" rtlCol="0" anchor="ctr">
            <a:noAutofit/>
          </a:bodyPr>
          <a:lstStyle/>
          <a:p>
            <a:pPr algn="l">
              <a:spcBef>
                <a:spcPts val="0"/>
              </a:spcBef>
              <a:spcAft>
                <a:spcPts val="0"/>
              </a:spcAft>
              <a:buNone/>
            </a:pPr>
            <a:r>
              <a:rPr lang="vi-VN" sz="1300" b="1" i="0" dirty="0">
                <a:solidFill>
                  <a:srgbClr val="223771"/>
                </a:solidFill>
                <a:latin typeface="Times New Roman"/>
                <a:cs typeface="Times New Roman"/>
              </a:rPr>
              <a:t>UC-02  </a:t>
            </a:r>
            <a:r>
              <a:rPr lang="vi-VN" sz="1300" b="0" i="0" dirty="0">
                <a:solidFill>
                  <a:srgbClr val="1F2433"/>
                </a:solidFill>
                <a:latin typeface="Times New Roman"/>
                <a:cs typeface="Times New Roman"/>
              </a:rPr>
              <a:t>Đăng nhập, đăng xuất</a:t>
            </a:r>
          </a:p>
        </p:txBody>
      </p:sp>
      <p:sp>
        <p:nvSpPr>
          <p:cNvPr id="8" name="UC 8"/>
          <p:cNvSpPr/>
          <p:nvPr/>
        </p:nvSpPr>
        <p:spPr>
          <a:xfrm>
            <a:off x="6163056" y="1801368"/>
            <a:ext cx="2743200" cy="338328"/>
          </a:xfrm>
          <a:prstGeom prst="roundRect">
            <a:avLst>
              <a:gd name="adj" fmla="val 16216"/>
            </a:avLst>
          </a:prstGeom>
          <a:solidFill>
            <a:srgbClr val="E9EDF6"/>
          </a:solidFill>
          <a:ln>
            <a:noFill/>
          </a:ln>
        </p:spPr>
        <p:txBody>
          <a:bodyPr wrap="square" lIns="137160" tIns="0" rIns="91440" bIns="0" rtlCol="0" anchor="ctr">
            <a:noAutofit/>
          </a:bodyPr>
          <a:lstStyle/>
          <a:p>
            <a:pPr algn="l">
              <a:spcBef>
                <a:spcPts val="0"/>
              </a:spcBef>
              <a:spcAft>
                <a:spcPts val="0"/>
              </a:spcAft>
              <a:buNone/>
            </a:pPr>
            <a:r>
              <a:rPr lang="vi-VN" sz="1300" b="1" i="0" dirty="0">
                <a:solidFill>
                  <a:srgbClr val="223771"/>
                </a:solidFill>
                <a:latin typeface="Times New Roman"/>
                <a:cs typeface="Times New Roman"/>
              </a:rPr>
              <a:t>UC-03  </a:t>
            </a:r>
            <a:r>
              <a:rPr lang="vi-VN" sz="1300" b="0" i="0" dirty="0">
                <a:solidFill>
                  <a:srgbClr val="1F2433"/>
                </a:solidFill>
                <a:latin typeface="Times New Roman"/>
                <a:cs typeface="Times New Roman"/>
              </a:rPr>
              <a:t>Khôi phục mật khẩu</a:t>
            </a:r>
          </a:p>
        </p:txBody>
      </p:sp>
      <p:sp>
        <p:nvSpPr>
          <p:cNvPr id="9" name="UC 9"/>
          <p:cNvSpPr/>
          <p:nvPr/>
        </p:nvSpPr>
        <p:spPr>
          <a:xfrm>
            <a:off x="457200" y="2212848"/>
            <a:ext cx="2743200" cy="338328"/>
          </a:xfrm>
          <a:prstGeom prst="roundRect">
            <a:avLst>
              <a:gd name="adj" fmla="val 16216"/>
            </a:avLst>
          </a:prstGeom>
          <a:solidFill>
            <a:srgbClr val="E9EDF6"/>
          </a:solidFill>
          <a:ln>
            <a:noFill/>
          </a:ln>
        </p:spPr>
        <p:txBody>
          <a:bodyPr wrap="square" lIns="137160" tIns="0" rIns="91440" bIns="0" rtlCol="0" anchor="ctr">
            <a:noAutofit/>
          </a:bodyPr>
          <a:lstStyle/>
          <a:p>
            <a:pPr algn="l">
              <a:spcBef>
                <a:spcPts val="0"/>
              </a:spcBef>
              <a:spcAft>
                <a:spcPts val="0"/>
              </a:spcAft>
              <a:buNone/>
            </a:pPr>
            <a:r>
              <a:rPr lang="vi-VN" sz="1300" b="1" i="0" dirty="0">
                <a:solidFill>
                  <a:srgbClr val="223771"/>
                </a:solidFill>
                <a:latin typeface="Times New Roman"/>
                <a:cs typeface="Times New Roman"/>
              </a:rPr>
              <a:t>UC-04  </a:t>
            </a:r>
            <a:r>
              <a:rPr lang="vi-VN" sz="1300" b="0" i="0" dirty="0">
                <a:solidFill>
                  <a:srgbClr val="1F2433"/>
                </a:solidFill>
                <a:latin typeface="Times New Roman"/>
                <a:cs typeface="Times New Roman"/>
              </a:rPr>
              <a:t>Tìm kiếm, xem sách</a:t>
            </a:r>
          </a:p>
        </p:txBody>
      </p:sp>
      <p:sp>
        <p:nvSpPr>
          <p:cNvPr id="10" name="UC 10"/>
          <p:cNvSpPr/>
          <p:nvPr/>
        </p:nvSpPr>
        <p:spPr>
          <a:xfrm>
            <a:off x="3310128" y="2212848"/>
            <a:ext cx="2743200" cy="338328"/>
          </a:xfrm>
          <a:prstGeom prst="roundRect">
            <a:avLst>
              <a:gd name="adj" fmla="val 16216"/>
            </a:avLst>
          </a:prstGeom>
          <a:solidFill>
            <a:srgbClr val="E9EDF6"/>
          </a:solidFill>
          <a:ln>
            <a:noFill/>
          </a:ln>
        </p:spPr>
        <p:txBody>
          <a:bodyPr wrap="square" lIns="137160" tIns="0" rIns="91440" bIns="0" rtlCol="0" anchor="ctr">
            <a:noAutofit/>
          </a:bodyPr>
          <a:lstStyle/>
          <a:p>
            <a:pPr algn="l">
              <a:spcBef>
                <a:spcPts val="0"/>
              </a:spcBef>
              <a:spcAft>
                <a:spcPts val="0"/>
              </a:spcAft>
              <a:buNone/>
            </a:pPr>
            <a:r>
              <a:rPr lang="vi-VN" sz="1300" b="1" i="0" dirty="0">
                <a:solidFill>
                  <a:srgbClr val="223771"/>
                </a:solidFill>
                <a:latin typeface="Times New Roman"/>
                <a:cs typeface="Times New Roman"/>
              </a:rPr>
              <a:t>UC-05  </a:t>
            </a:r>
            <a:r>
              <a:rPr lang="vi-VN" sz="1300" b="0" i="0" dirty="0">
                <a:solidFill>
                  <a:srgbClr val="1F2433"/>
                </a:solidFill>
                <a:latin typeface="Times New Roman"/>
                <a:cs typeface="Times New Roman"/>
              </a:rPr>
              <a:t>Gửi yêu cầu mượn</a:t>
            </a:r>
          </a:p>
        </p:txBody>
      </p:sp>
      <p:sp>
        <p:nvSpPr>
          <p:cNvPr id="11" name="UC 11"/>
          <p:cNvSpPr/>
          <p:nvPr/>
        </p:nvSpPr>
        <p:spPr>
          <a:xfrm>
            <a:off x="6163056" y="2212848"/>
            <a:ext cx="2743200" cy="338328"/>
          </a:xfrm>
          <a:prstGeom prst="roundRect">
            <a:avLst>
              <a:gd name="adj" fmla="val 16216"/>
            </a:avLst>
          </a:prstGeom>
          <a:solidFill>
            <a:srgbClr val="E9EDF6"/>
          </a:solidFill>
          <a:ln>
            <a:noFill/>
          </a:ln>
        </p:spPr>
        <p:txBody>
          <a:bodyPr wrap="square" lIns="137160" tIns="0" rIns="91440" bIns="0" rtlCol="0" anchor="ctr">
            <a:noAutofit/>
          </a:bodyPr>
          <a:lstStyle/>
          <a:p>
            <a:pPr algn="l">
              <a:spcBef>
                <a:spcPts val="0"/>
              </a:spcBef>
              <a:spcAft>
                <a:spcPts val="0"/>
              </a:spcAft>
              <a:buNone/>
            </a:pPr>
            <a:r>
              <a:rPr lang="vi-VN" sz="1300" b="1" i="0" dirty="0">
                <a:solidFill>
                  <a:srgbClr val="223771"/>
                </a:solidFill>
                <a:latin typeface="Times New Roman"/>
                <a:cs typeface="Times New Roman"/>
              </a:rPr>
              <a:t>UC-08  </a:t>
            </a:r>
            <a:r>
              <a:rPr lang="vi-VN" sz="1300" b="0" i="0" dirty="0">
                <a:solidFill>
                  <a:srgbClr val="1F2433"/>
                </a:solidFill>
                <a:latin typeface="Times New Roman"/>
                <a:cs typeface="Times New Roman"/>
              </a:rPr>
              <a:t>Gia hạn sách</a:t>
            </a:r>
          </a:p>
        </p:txBody>
      </p:sp>
      <p:sp>
        <p:nvSpPr>
          <p:cNvPr id="12" name="UC 12"/>
          <p:cNvSpPr/>
          <p:nvPr/>
        </p:nvSpPr>
        <p:spPr>
          <a:xfrm>
            <a:off x="457200" y="2624328"/>
            <a:ext cx="2743200" cy="338328"/>
          </a:xfrm>
          <a:prstGeom prst="roundRect">
            <a:avLst>
              <a:gd name="adj" fmla="val 16216"/>
            </a:avLst>
          </a:prstGeom>
          <a:solidFill>
            <a:srgbClr val="E9EDF6"/>
          </a:solidFill>
          <a:ln>
            <a:noFill/>
          </a:ln>
        </p:spPr>
        <p:txBody>
          <a:bodyPr wrap="square" lIns="137160" tIns="0" rIns="91440" bIns="0" rtlCol="0" anchor="ctr">
            <a:noAutofit/>
          </a:bodyPr>
          <a:lstStyle/>
          <a:p>
            <a:pPr algn="l">
              <a:spcBef>
                <a:spcPts val="0"/>
              </a:spcBef>
              <a:spcAft>
                <a:spcPts val="0"/>
              </a:spcAft>
              <a:buNone/>
            </a:pPr>
            <a:r>
              <a:rPr lang="vi-VN" sz="1300" b="1" i="0" dirty="0">
                <a:solidFill>
                  <a:srgbClr val="223771"/>
                </a:solidFill>
                <a:latin typeface="Times New Roman"/>
                <a:cs typeface="Times New Roman"/>
              </a:rPr>
              <a:t>UC-09  </a:t>
            </a:r>
            <a:r>
              <a:rPr lang="vi-VN" sz="1300" b="0" i="0" dirty="0">
                <a:solidFill>
                  <a:srgbClr val="1F2433"/>
                </a:solidFill>
                <a:latin typeface="Times New Roman"/>
                <a:cs typeface="Times New Roman"/>
              </a:rPr>
              <a:t>Đặt trước sách</a:t>
            </a:r>
          </a:p>
        </p:txBody>
      </p:sp>
      <p:sp>
        <p:nvSpPr>
          <p:cNvPr id="13" name="UC 13"/>
          <p:cNvSpPr/>
          <p:nvPr/>
        </p:nvSpPr>
        <p:spPr>
          <a:xfrm>
            <a:off x="3310128" y="2624328"/>
            <a:ext cx="2743200" cy="338328"/>
          </a:xfrm>
          <a:prstGeom prst="roundRect">
            <a:avLst>
              <a:gd name="adj" fmla="val 16216"/>
            </a:avLst>
          </a:prstGeom>
          <a:solidFill>
            <a:srgbClr val="E9EDF6"/>
          </a:solidFill>
          <a:ln>
            <a:noFill/>
          </a:ln>
        </p:spPr>
        <p:txBody>
          <a:bodyPr wrap="square" lIns="137160" tIns="0" rIns="91440" bIns="0" rtlCol="0" anchor="ctr">
            <a:noAutofit/>
          </a:bodyPr>
          <a:lstStyle/>
          <a:p>
            <a:pPr algn="l">
              <a:spcBef>
                <a:spcPts val="0"/>
              </a:spcBef>
              <a:spcAft>
                <a:spcPts val="0"/>
              </a:spcAft>
              <a:buNone/>
            </a:pPr>
            <a:r>
              <a:rPr lang="vi-VN" sz="1300" b="1" i="0" dirty="0">
                <a:solidFill>
                  <a:srgbClr val="223771"/>
                </a:solidFill>
                <a:latin typeface="Times New Roman"/>
                <a:cs typeface="Times New Roman"/>
              </a:rPr>
              <a:t>UC-10  </a:t>
            </a:r>
            <a:r>
              <a:rPr lang="vi-VN" sz="1300" b="0" i="0" dirty="0">
                <a:solidFill>
                  <a:srgbClr val="1F2433"/>
                </a:solidFill>
                <a:latin typeface="Times New Roman"/>
                <a:cs typeface="Times New Roman"/>
              </a:rPr>
              <a:t>Thanh toán tiền phạt</a:t>
            </a:r>
          </a:p>
        </p:txBody>
      </p:sp>
      <p:sp>
        <p:nvSpPr>
          <p:cNvPr id="14" name="UC 14"/>
          <p:cNvSpPr/>
          <p:nvPr/>
        </p:nvSpPr>
        <p:spPr>
          <a:xfrm>
            <a:off x="6163056" y="2624328"/>
            <a:ext cx="2743200" cy="338328"/>
          </a:xfrm>
          <a:prstGeom prst="roundRect">
            <a:avLst>
              <a:gd name="adj" fmla="val 16216"/>
            </a:avLst>
          </a:prstGeom>
          <a:solidFill>
            <a:srgbClr val="E9EDF6"/>
          </a:solidFill>
          <a:ln>
            <a:noFill/>
          </a:ln>
        </p:spPr>
        <p:txBody>
          <a:bodyPr wrap="square" lIns="137160" tIns="0" rIns="91440" bIns="0" rtlCol="0" anchor="ctr">
            <a:noAutofit/>
          </a:bodyPr>
          <a:lstStyle/>
          <a:p>
            <a:pPr algn="l">
              <a:spcBef>
                <a:spcPts val="0"/>
              </a:spcBef>
              <a:spcAft>
                <a:spcPts val="0"/>
              </a:spcAft>
              <a:buNone/>
            </a:pPr>
            <a:r>
              <a:rPr lang="vi-VN" sz="1300" b="1" i="0" dirty="0">
                <a:solidFill>
                  <a:srgbClr val="223771"/>
                </a:solidFill>
                <a:latin typeface="Times New Roman"/>
                <a:cs typeface="Times New Roman"/>
              </a:rPr>
              <a:t>UC-11  </a:t>
            </a:r>
            <a:r>
              <a:rPr lang="vi-VN" sz="1300" b="0" i="0" dirty="0">
                <a:solidFill>
                  <a:srgbClr val="1F2433"/>
                </a:solidFill>
                <a:latin typeface="Times New Roman"/>
                <a:cs typeface="Times New Roman"/>
              </a:rPr>
              <a:t>Đánh giá sách</a:t>
            </a:r>
          </a:p>
        </p:txBody>
      </p:sp>
      <p:sp>
        <p:nvSpPr>
          <p:cNvPr id="15" name="UC 15"/>
          <p:cNvSpPr/>
          <p:nvPr/>
        </p:nvSpPr>
        <p:spPr>
          <a:xfrm>
            <a:off x="457200" y="3035808"/>
            <a:ext cx="2743200" cy="338328"/>
          </a:xfrm>
          <a:prstGeom prst="roundRect">
            <a:avLst>
              <a:gd name="adj" fmla="val 16216"/>
            </a:avLst>
          </a:prstGeom>
          <a:solidFill>
            <a:srgbClr val="E9EDF6"/>
          </a:solidFill>
          <a:ln>
            <a:noFill/>
          </a:ln>
        </p:spPr>
        <p:txBody>
          <a:bodyPr wrap="square" lIns="137160" tIns="0" rIns="91440" bIns="0" rtlCol="0" anchor="ctr">
            <a:noAutofit/>
          </a:bodyPr>
          <a:lstStyle/>
          <a:p>
            <a:pPr algn="l">
              <a:spcBef>
                <a:spcPts val="0"/>
              </a:spcBef>
              <a:spcAft>
                <a:spcPts val="0"/>
              </a:spcAft>
              <a:buNone/>
            </a:pPr>
            <a:r>
              <a:rPr lang="vi-VN" sz="1300" b="1" i="0" dirty="0">
                <a:solidFill>
                  <a:srgbClr val="223771"/>
                </a:solidFill>
                <a:latin typeface="Times New Roman"/>
                <a:cs typeface="Times New Roman"/>
              </a:rPr>
              <a:t>UC-12  </a:t>
            </a:r>
            <a:r>
              <a:rPr lang="vi-VN" sz="1300" b="0" i="0" dirty="0">
                <a:solidFill>
                  <a:srgbClr val="1F2433"/>
                </a:solidFill>
                <a:latin typeface="Times New Roman"/>
                <a:cs typeface="Times New Roman"/>
              </a:rPr>
              <a:t>Trợ lý AI</a:t>
            </a:r>
          </a:p>
        </p:txBody>
      </p:sp>
      <p:sp>
        <p:nvSpPr>
          <p:cNvPr id="16" name="UC 16"/>
          <p:cNvSpPr/>
          <p:nvPr/>
        </p:nvSpPr>
        <p:spPr>
          <a:xfrm>
            <a:off x="3310128" y="3035808"/>
            <a:ext cx="2743200" cy="338328"/>
          </a:xfrm>
          <a:prstGeom prst="roundRect">
            <a:avLst>
              <a:gd name="adj" fmla="val 16216"/>
            </a:avLst>
          </a:prstGeom>
          <a:solidFill>
            <a:srgbClr val="E9EDF6"/>
          </a:solidFill>
          <a:ln>
            <a:noFill/>
          </a:ln>
        </p:spPr>
        <p:txBody>
          <a:bodyPr wrap="square" lIns="137160" tIns="0" rIns="91440" bIns="0" rtlCol="0" anchor="ctr">
            <a:noAutofit/>
          </a:bodyPr>
          <a:lstStyle/>
          <a:p>
            <a:pPr algn="l">
              <a:spcBef>
                <a:spcPts val="0"/>
              </a:spcBef>
              <a:spcAft>
                <a:spcPts val="0"/>
              </a:spcAft>
              <a:buNone/>
            </a:pPr>
            <a:r>
              <a:rPr lang="vi-VN" sz="1300" b="1" i="0" dirty="0">
                <a:solidFill>
                  <a:srgbClr val="223771"/>
                </a:solidFill>
                <a:latin typeface="Times New Roman"/>
                <a:cs typeface="Times New Roman"/>
              </a:rPr>
              <a:t>UC-18  </a:t>
            </a:r>
            <a:r>
              <a:rPr lang="vi-VN" sz="1300" b="0" i="0" dirty="0">
                <a:solidFill>
                  <a:srgbClr val="1F2433"/>
                </a:solidFill>
                <a:latin typeface="Times New Roman"/>
                <a:cs typeface="Times New Roman"/>
              </a:rPr>
              <a:t>Hồ sơ cá nhân</a:t>
            </a:r>
          </a:p>
        </p:txBody>
      </p:sp>
      <p:sp>
        <p:nvSpPr>
          <p:cNvPr id="17" name="UC 17"/>
          <p:cNvSpPr/>
          <p:nvPr/>
        </p:nvSpPr>
        <p:spPr>
          <a:xfrm>
            <a:off x="6163056" y="3035808"/>
            <a:ext cx="2743200" cy="338328"/>
          </a:xfrm>
          <a:prstGeom prst="roundRect">
            <a:avLst>
              <a:gd name="adj" fmla="val 16216"/>
            </a:avLst>
          </a:prstGeom>
          <a:solidFill>
            <a:srgbClr val="E9EDF6"/>
          </a:solidFill>
          <a:ln>
            <a:noFill/>
          </a:ln>
        </p:spPr>
        <p:txBody>
          <a:bodyPr wrap="square" lIns="137160" tIns="0" rIns="91440" bIns="0" rtlCol="0" anchor="ctr">
            <a:noAutofit/>
          </a:bodyPr>
          <a:lstStyle/>
          <a:p>
            <a:pPr algn="l">
              <a:spcBef>
                <a:spcPts val="0"/>
              </a:spcBef>
              <a:spcAft>
                <a:spcPts val="0"/>
              </a:spcAft>
              <a:buNone/>
            </a:pPr>
            <a:r>
              <a:rPr lang="vi-VN" sz="1300" b="1" i="0" dirty="0">
                <a:solidFill>
                  <a:srgbClr val="223771"/>
                </a:solidFill>
                <a:latin typeface="Times New Roman"/>
                <a:cs typeface="Times New Roman"/>
              </a:rPr>
              <a:t>UC-19  </a:t>
            </a:r>
            <a:r>
              <a:rPr lang="vi-VN" sz="1300" b="0" i="0" dirty="0">
                <a:solidFill>
                  <a:srgbClr val="1F2433"/>
                </a:solidFill>
                <a:latin typeface="Times New Roman"/>
                <a:cs typeface="Times New Roman"/>
              </a:rPr>
              <a:t>Tin tức, liên hệ</a:t>
            </a:r>
          </a:p>
        </p:txBody>
      </p:sp>
      <p:sp>
        <p:nvSpPr>
          <p:cNvPr id="18" name="TextBox 18"/>
          <p:cNvSpPr txBox="1"/>
          <p:nvPr/>
        </p:nvSpPr>
        <p:spPr>
          <a:xfrm>
            <a:off x="457200" y="3584448"/>
            <a:ext cx="8503920" cy="329184"/>
          </a:xfrm>
          <a:prstGeom prst="rect">
            <a:avLst/>
          </a:prstGeom>
          <a:noFill/>
          <a:ln>
            <a:noFill/>
          </a:ln>
        </p:spPr>
        <p:txBody>
          <a:bodyPr wrap="square" lIns="0" tIns="0" rIns="0" bIns="0" rtlCol="0" anchor="ctr">
            <a:noAutofit/>
          </a:bodyPr>
          <a:lstStyle/>
          <a:p>
            <a:pPr algn="l">
              <a:spcBef>
                <a:spcPts val="0"/>
              </a:spcBef>
              <a:spcAft>
                <a:spcPts val="0"/>
              </a:spcAft>
              <a:buNone/>
            </a:pPr>
            <a:r>
              <a:rPr lang="vi-VN" sz="1400" b="1" i="0" dirty="0">
                <a:solidFill>
                  <a:srgbClr val="5A6272"/>
                </a:solidFill>
                <a:latin typeface="Times New Roman"/>
                <a:cs typeface="Times New Roman"/>
              </a:rPr>
              <a:t>THỦ THƯ &amp; QUẢN TRỊ VIÊN · 6 ca</a:t>
            </a:r>
          </a:p>
        </p:txBody>
      </p:sp>
      <p:sp>
        <p:nvSpPr>
          <p:cNvPr id="19" name="UC 19"/>
          <p:cNvSpPr/>
          <p:nvPr/>
        </p:nvSpPr>
        <p:spPr>
          <a:xfrm>
            <a:off x="457200" y="3968496"/>
            <a:ext cx="2743200" cy="338328"/>
          </a:xfrm>
          <a:prstGeom prst="roundRect">
            <a:avLst>
              <a:gd name="adj" fmla="val 16216"/>
            </a:avLst>
          </a:prstGeom>
          <a:solidFill>
            <a:srgbClr val="E9EDF6"/>
          </a:solidFill>
          <a:ln>
            <a:noFill/>
          </a:ln>
        </p:spPr>
        <p:txBody>
          <a:bodyPr wrap="square" lIns="137160" tIns="0" rIns="91440" bIns="0" rtlCol="0" anchor="ctr">
            <a:noAutofit/>
          </a:bodyPr>
          <a:lstStyle/>
          <a:p>
            <a:pPr algn="l">
              <a:spcBef>
                <a:spcPts val="0"/>
              </a:spcBef>
              <a:spcAft>
                <a:spcPts val="0"/>
              </a:spcAft>
              <a:buNone/>
            </a:pPr>
            <a:r>
              <a:rPr lang="vi-VN" sz="1300" b="1" i="0" dirty="0">
                <a:solidFill>
                  <a:srgbClr val="223771"/>
                </a:solidFill>
                <a:latin typeface="Times New Roman"/>
                <a:cs typeface="Times New Roman"/>
              </a:rPr>
              <a:t>UC-06  </a:t>
            </a:r>
            <a:r>
              <a:rPr lang="vi-VN" sz="1300" b="0" i="0" dirty="0">
                <a:solidFill>
                  <a:srgbClr val="1F2433"/>
                </a:solidFill>
                <a:latin typeface="Times New Roman"/>
                <a:cs typeface="Times New Roman"/>
              </a:rPr>
              <a:t>Duyệt yêu cầu mượn</a:t>
            </a:r>
          </a:p>
        </p:txBody>
      </p:sp>
      <p:sp>
        <p:nvSpPr>
          <p:cNvPr id="20" name="UC 20"/>
          <p:cNvSpPr/>
          <p:nvPr/>
        </p:nvSpPr>
        <p:spPr>
          <a:xfrm>
            <a:off x="3310128" y="3968496"/>
            <a:ext cx="2743200" cy="338328"/>
          </a:xfrm>
          <a:prstGeom prst="roundRect">
            <a:avLst>
              <a:gd name="adj" fmla="val 16216"/>
            </a:avLst>
          </a:prstGeom>
          <a:solidFill>
            <a:srgbClr val="E9EDF6"/>
          </a:solidFill>
          <a:ln>
            <a:noFill/>
          </a:ln>
        </p:spPr>
        <p:txBody>
          <a:bodyPr wrap="square" lIns="137160" tIns="0" rIns="91440" bIns="0" rtlCol="0" anchor="ctr">
            <a:noAutofit/>
          </a:bodyPr>
          <a:lstStyle/>
          <a:p>
            <a:pPr algn="l">
              <a:spcBef>
                <a:spcPts val="0"/>
              </a:spcBef>
              <a:spcAft>
                <a:spcPts val="0"/>
              </a:spcAft>
              <a:buNone/>
            </a:pPr>
            <a:r>
              <a:rPr lang="vi-VN" sz="1300" b="1" i="0" dirty="0">
                <a:solidFill>
                  <a:srgbClr val="223771"/>
                </a:solidFill>
                <a:latin typeface="Times New Roman"/>
                <a:cs typeface="Times New Roman"/>
              </a:rPr>
              <a:t>UC-07  </a:t>
            </a:r>
            <a:r>
              <a:rPr lang="vi-VN" sz="1300" b="0" i="0" dirty="0">
                <a:solidFill>
                  <a:srgbClr val="1F2433"/>
                </a:solidFill>
                <a:latin typeface="Times New Roman"/>
                <a:cs typeface="Times New Roman"/>
              </a:rPr>
              <a:t>Xác nhận trả sách</a:t>
            </a:r>
          </a:p>
        </p:txBody>
      </p:sp>
      <p:sp>
        <p:nvSpPr>
          <p:cNvPr id="21" name="UC 21"/>
          <p:cNvSpPr/>
          <p:nvPr/>
        </p:nvSpPr>
        <p:spPr>
          <a:xfrm>
            <a:off x="6163056" y="3968496"/>
            <a:ext cx="2743200" cy="338328"/>
          </a:xfrm>
          <a:prstGeom prst="roundRect">
            <a:avLst>
              <a:gd name="adj" fmla="val 16216"/>
            </a:avLst>
          </a:prstGeom>
          <a:solidFill>
            <a:srgbClr val="E9EDF6"/>
          </a:solidFill>
          <a:ln>
            <a:noFill/>
          </a:ln>
        </p:spPr>
        <p:txBody>
          <a:bodyPr wrap="square" lIns="137160" tIns="0" rIns="91440" bIns="0" rtlCol="0" anchor="ctr">
            <a:noAutofit/>
          </a:bodyPr>
          <a:lstStyle/>
          <a:p>
            <a:pPr algn="l">
              <a:spcBef>
                <a:spcPts val="0"/>
              </a:spcBef>
              <a:spcAft>
                <a:spcPts val="0"/>
              </a:spcAft>
              <a:buNone/>
            </a:pPr>
            <a:r>
              <a:rPr lang="vi-VN" sz="1300" b="1" i="0" dirty="0">
                <a:solidFill>
                  <a:srgbClr val="223771"/>
                </a:solidFill>
                <a:latin typeface="Times New Roman"/>
                <a:cs typeface="Times New Roman"/>
              </a:rPr>
              <a:t>UC-13  </a:t>
            </a:r>
            <a:r>
              <a:rPr lang="vi-VN" sz="1300" b="0" i="0" dirty="0">
                <a:solidFill>
                  <a:srgbClr val="1F2433"/>
                </a:solidFill>
                <a:latin typeface="Times New Roman"/>
                <a:cs typeface="Times New Roman"/>
              </a:rPr>
              <a:t>Quản lý đầu sách</a:t>
            </a:r>
          </a:p>
        </p:txBody>
      </p:sp>
      <p:sp>
        <p:nvSpPr>
          <p:cNvPr id="22" name="UC 22"/>
          <p:cNvSpPr/>
          <p:nvPr/>
        </p:nvSpPr>
        <p:spPr>
          <a:xfrm>
            <a:off x="457200" y="4379976"/>
            <a:ext cx="2743200" cy="338328"/>
          </a:xfrm>
          <a:prstGeom prst="roundRect">
            <a:avLst>
              <a:gd name="adj" fmla="val 16216"/>
            </a:avLst>
          </a:prstGeom>
          <a:solidFill>
            <a:srgbClr val="E9EDF6"/>
          </a:solidFill>
          <a:ln>
            <a:noFill/>
          </a:ln>
        </p:spPr>
        <p:txBody>
          <a:bodyPr wrap="square" lIns="137160" tIns="0" rIns="91440" bIns="0" rtlCol="0" anchor="ctr">
            <a:noAutofit/>
          </a:bodyPr>
          <a:lstStyle/>
          <a:p>
            <a:pPr algn="l">
              <a:spcBef>
                <a:spcPts val="0"/>
              </a:spcBef>
              <a:spcAft>
                <a:spcPts val="0"/>
              </a:spcAft>
              <a:buNone/>
            </a:pPr>
            <a:r>
              <a:rPr lang="vi-VN" sz="1300" b="1" i="0" dirty="0">
                <a:solidFill>
                  <a:srgbClr val="223771"/>
                </a:solidFill>
                <a:latin typeface="Times New Roman"/>
                <a:cs typeface="Times New Roman"/>
              </a:rPr>
              <a:t>UC-14  </a:t>
            </a:r>
            <a:r>
              <a:rPr lang="vi-VN" sz="1300" b="0" i="0" dirty="0">
                <a:solidFill>
                  <a:srgbClr val="1F2433"/>
                </a:solidFill>
                <a:latin typeface="Times New Roman"/>
                <a:cs typeface="Times New Roman"/>
              </a:rPr>
              <a:t>Quản lý độc giả</a:t>
            </a:r>
          </a:p>
        </p:txBody>
      </p:sp>
      <p:sp>
        <p:nvSpPr>
          <p:cNvPr id="23" name="UC 23"/>
          <p:cNvSpPr/>
          <p:nvPr/>
        </p:nvSpPr>
        <p:spPr>
          <a:xfrm>
            <a:off x="3310128" y="4379976"/>
            <a:ext cx="2743200" cy="338328"/>
          </a:xfrm>
          <a:prstGeom prst="roundRect">
            <a:avLst>
              <a:gd name="adj" fmla="val 16216"/>
            </a:avLst>
          </a:prstGeom>
          <a:solidFill>
            <a:srgbClr val="E9EDF6"/>
          </a:solidFill>
          <a:ln>
            <a:noFill/>
          </a:ln>
        </p:spPr>
        <p:txBody>
          <a:bodyPr wrap="square" lIns="137160" tIns="0" rIns="91440" bIns="0" rtlCol="0" anchor="ctr">
            <a:noAutofit/>
          </a:bodyPr>
          <a:lstStyle/>
          <a:p>
            <a:pPr algn="l">
              <a:spcBef>
                <a:spcPts val="0"/>
              </a:spcBef>
              <a:spcAft>
                <a:spcPts val="0"/>
              </a:spcAft>
              <a:buNone/>
            </a:pPr>
            <a:r>
              <a:rPr lang="vi-VN" sz="1300" b="1" i="0" dirty="0">
                <a:solidFill>
                  <a:srgbClr val="223771"/>
                </a:solidFill>
                <a:latin typeface="Times New Roman"/>
                <a:cs typeface="Times New Roman"/>
              </a:rPr>
              <a:t>UC-15  </a:t>
            </a:r>
            <a:r>
              <a:rPr lang="vi-VN" sz="1300" b="0" i="0" dirty="0">
                <a:solidFill>
                  <a:srgbClr val="1F2433"/>
                </a:solidFill>
                <a:latin typeface="Times New Roman"/>
                <a:cs typeface="Times New Roman"/>
              </a:rPr>
              <a:t>Thống kê, báo cáo</a:t>
            </a:r>
          </a:p>
        </p:txBody>
      </p:sp>
      <p:sp>
        <p:nvSpPr>
          <p:cNvPr id="24" name="UC 24"/>
          <p:cNvSpPr/>
          <p:nvPr/>
        </p:nvSpPr>
        <p:spPr>
          <a:xfrm>
            <a:off x="6163056" y="4379976"/>
            <a:ext cx="2743200" cy="338328"/>
          </a:xfrm>
          <a:prstGeom prst="roundRect">
            <a:avLst>
              <a:gd name="adj" fmla="val 16216"/>
            </a:avLst>
          </a:prstGeom>
          <a:solidFill>
            <a:srgbClr val="E9EDF6"/>
          </a:solidFill>
          <a:ln>
            <a:noFill/>
          </a:ln>
        </p:spPr>
        <p:txBody>
          <a:bodyPr wrap="square" lIns="137160" tIns="0" rIns="91440" bIns="0" rtlCol="0" anchor="ctr">
            <a:noAutofit/>
          </a:bodyPr>
          <a:lstStyle/>
          <a:p>
            <a:pPr algn="l">
              <a:spcBef>
                <a:spcPts val="0"/>
              </a:spcBef>
              <a:spcAft>
                <a:spcPts val="0"/>
              </a:spcAft>
              <a:buNone/>
            </a:pPr>
            <a:r>
              <a:rPr lang="vi-VN" sz="1300" b="1" i="0" dirty="0">
                <a:solidFill>
                  <a:srgbClr val="223771"/>
                </a:solidFill>
                <a:latin typeface="Times New Roman"/>
                <a:cs typeface="Times New Roman"/>
              </a:rPr>
              <a:t>UC-17  </a:t>
            </a:r>
            <a:r>
              <a:rPr lang="vi-VN" sz="1300" b="0" i="0" dirty="0">
                <a:solidFill>
                  <a:srgbClr val="1F2433"/>
                </a:solidFill>
                <a:latin typeface="Times New Roman"/>
                <a:cs typeface="Times New Roman"/>
              </a:rPr>
              <a:t>Cấu hình hệ thống</a:t>
            </a:r>
          </a:p>
        </p:txBody>
      </p:sp>
      <p:sp>
        <p:nvSpPr>
          <p:cNvPr id="25" name="TextBox 25"/>
          <p:cNvSpPr txBox="1"/>
          <p:nvPr/>
        </p:nvSpPr>
        <p:spPr>
          <a:xfrm>
            <a:off x="457200" y="4928616"/>
            <a:ext cx="8503920" cy="329184"/>
          </a:xfrm>
          <a:prstGeom prst="rect">
            <a:avLst/>
          </a:prstGeom>
          <a:noFill/>
          <a:ln>
            <a:noFill/>
          </a:ln>
        </p:spPr>
        <p:txBody>
          <a:bodyPr wrap="square" lIns="0" tIns="0" rIns="0" bIns="0" rtlCol="0" anchor="ctr">
            <a:noAutofit/>
          </a:bodyPr>
          <a:lstStyle/>
          <a:p>
            <a:pPr algn="l">
              <a:spcBef>
                <a:spcPts val="0"/>
              </a:spcBef>
              <a:spcAft>
                <a:spcPts val="0"/>
              </a:spcAft>
              <a:buNone/>
            </a:pPr>
            <a:r>
              <a:rPr lang="vi-VN" sz="1400" b="1" i="0" dirty="0">
                <a:solidFill>
                  <a:srgbClr val="5A6272"/>
                </a:solidFill>
                <a:latin typeface="Times New Roman"/>
                <a:cs typeface="Times New Roman"/>
              </a:rPr>
              <a:t>HỆ THỐNG (TÁC VỤ ĐỊNH KỲ) · 1 ca</a:t>
            </a:r>
          </a:p>
        </p:txBody>
      </p:sp>
      <p:sp>
        <p:nvSpPr>
          <p:cNvPr id="26" name="UC 26"/>
          <p:cNvSpPr/>
          <p:nvPr/>
        </p:nvSpPr>
        <p:spPr>
          <a:xfrm>
            <a:off x="457200" y="5312664"/>
            <a:ext cx="2743200" cy="338328"/>
          </a:xfrm>
          <a:prstGeom prst="roundRect">
            <a:avLst>
              <a:gd name="adj" fmla="val 16216"/>
            </a:avLst>
          </a:prstGeom>
          <a:solidFill>
            <a:srgbClr val="E9EDF6"/>
          </a:solidFill>
          <a:ln>
            <a:noFill/>
          </a:ln>
        </p:spPr>
        <p:txBody>
          <a:bodyPr wrap="square" lIns="137160" tIns="0" rIns="91440" bIns="0" rtlCol="0" anchor="ctr">
            <a:noAutofit/>
          </a:bodyPr>
          <a:lstStyle/>
          <a:p>
            <a:pPr algn="l">
              <a:spcBef>
                <a:spcPts val="0"/>
              </a:spcBef>
              <a:spcAft>
                <a:spcPts val="0"/>
              </a:spcAft>
              <a:buNone/>
            </a:pPr>
            <a:r>
              <a:rPr lang="vi-VN" sz="1300" b="1" i="0" dirty="0">
                <a:solidFill>
                  <a:srgbClr val="223771"/>
                </a:solidFill>
                <a:latin typeface="Times New Roman"/>
                <a:cs typeface="Times New Roman"/>
              </a:rPr>
              <a:t>UC-16  </a:t>
            </a:r>
            <a:r>
              <a:rPr lang="vi-VN" sz="1300" b="0" i="0" dirty="0">
                <a:solidFill>
                  <a:srgbClr val="1F2433"/>
                </a:solidFill>
                <a:latin typeface="Times New Roman"/>
                <a:cs typeface="Times New Roman"/>
              </a:rPr>
              <a:t>Nhắc hạn trả tự động</a:t>
            </a:r>
          </a:p>
        </p:txBody>
      </p:sp>
      <p:sp>
        <p:nvSpPr>
          <p:cNvPr id="27" name="Shape 27"/>
          <p:cNvSpPr/>
          <p:nvPr/>
        </p:nvSpPr>
        <p:spPr>
          <a:xfrm>
            <a:off x="457200" y="5440680"/>
            <a:ext cx="8503920" cy="640080"/>
          </a:xfrm>
          <a:prstGeom prst="roundRect">
            <a:avLst>
              <a:gd name="adj" fmla="val 11428"/>
            </a:avLst>
          </a:prstGeom>
          <a:solidFill>
            <a:srgbClr val="FDEEE4"/>
          </a:solidFill>
          <a:ln>
            <a:noFill/>
          </a:ln>
        </p:spPr>
        <p:txBody>
          <a:bodyPr wrap="square" lIns="182880" tIns="27432" rIns="182880" bIns="27432" rtlCol="0" anchor="ctr">
            <a:noAutofit/>
          </a:bodyPr>
          <a:lstStyle/>
          <a:p>
            <a:pPr algn="l">
              <a:spcBef>
                <a:spcPts val="0"/>
              </a:spcBef>
              <a:spcAft>
                <a:spcPts val="0"/>
              </a:spcAft>
              <a:buNone/>
            </a:pPr>
            <a:r>
              <a:rPr lang="vi-VN" sz="1400" b="1" i="0" dirty="0">
                <a:solidFill>
                  <a:srgbClr val="B4470F"/>
                </a:solidFill>
                <a:latin typeface="Times New Roman"/>
                <a:cs typeface="Times New Roman"/>
              </a:rPr>
              <a:t>Mỗi đặc tả: </a:t>
            </a:r>
            <a:r>
              <a:rPr lang="vi-VN" sz="1400" b="0" i="0" dirty="0">
                <a:solidFill>
                  <a:srgbClr val="1F2433"/>
                </a:solidFill>
                <a:latin typeface="Times New Roman"/>
                <a:cs typeface="Times New Roman"/>
              </a:rPr>
              <a:t>mục tiêu, tác nhân, tiền điều kiện, luồng chính, luồng thay thế (A), ngoại lệ (E), hậu điều kiện và ca kiểm thử tương ứng.</a:t>
            </a:r>
          </a:p>
        </p:txBody>
      </p:sp>
      <p:pic>
        <p:nvPicPr>
          <p:cNvPr id="28" name="Picture 28" descr="Biểu đồ use case tổng quát của hệ thống Fahasa Digital với năm tác nhân và 19 ca sử dụng"/>
          <p:cNvPicPr>
            <a:picLocks noChangeAspect="1"/>
          </p:cNvPicPr>
          <p:nvPr/>
        </p:nvPicPr>
        <p:blipFill>
          <a:blip r:embed="rId3"/>
          <a:stretch>
            <a:fillRect/>
          </a:stretch>
        </p:blipFill>
        <p:spPr>
          <a:xfrm>
            <a:off x="9555480" y="1371600"/>
            <a:ext cx="1913222" cy="4754880"/>
          </a:xfrm>
          <a:prstGeom prst="rect">
            <a:avLst/>
          </a:prstGeom>
          <a:ln w="9525">
            <a:solidFill>
              <a:srgbClr val="C9D1E3"/>
            </a:solid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b="1" dirty="0">
                <a:solidFill>
                  <a:srgbClr val="223771"/>
                </a:solidFill>
                <a:latin typeface="Times New Roman"/>
                <a:cs typeface="Times New Roman"/>
              </a:rPr>
              <a:t>QUY TẮC NGHIỆP VỤ</a:t>
            </a:r>
          </a:p>
        </p:txBody>
      </p:sp>
      <p:sp>
        <p:nvSpPr>
          <p:cNvPr id="4" name="TextBox 4"/>
          <p:cNvSpPr txBox="1"/>
          <p:nvPr/>
        </p:nvSpPr>
        <p:spPr>
          <a:xfrm>
            <a:off x="457200" y="896112"/>
            <a:ext cx="11274552" cy="411480"/>
          </a:xfrm>
          <a:prstGeom prst="rect">
            <a:avLst/>
          </a:prstGeom>
          <a:noFill/>
          <a:ln>
            <a:noFill/>
          </a:ln>
        </p:spPr>
        <p:txBody>
          <a:bodyPr wrap="square" lIns="0" tIns="0" rIns="0" bIns="0" rtlCol="0" anchor="ctr">
            <a:noAutofit/>
          </a:bodyPr>
          <a:lstStyle/>
          <a:p>
            <a:pPr algn="l">
              <a:spcBef>
                <a:spcPts val="0"/>
              </a:spcBef>
              <a:spcAft>
                <a:spcPts val="0"/>
              </a:spcAft>
              <a:buNone/>
            </a:pPr>
            <a:r>
              <a:rPr lang="vi-VN" sz="1800" b="0" i="1" dirty="0">
                <a:solidFill>
                  <a:srgbClr val="5A6272"/>
                </a:solidFill>
                <a:latin typeface="Times New Roman"/>
                <a:cs typeface="Times New Roman"/>
              </a:rPr>
              <a:t>Tiền phạt và hạn mượn do hệ thống tự tính, cùng một công thức cho mọi độc giả</a:t>
            </a:r>
          </a:p>
        </p:txBody>
      </p:sp>
      <p:graphicFrame>
        <p:nvGraphicFramePr>
          <p:cNvPr id="5" name="Table 5"/>
          <p:cNvGraphicFramePr>
            <a:graphicFrameLocks noGrp="1"/>
          </p:cNvGraphicFramePr>
          <p:nvPr/>
        </p:nvGraphicFramePr>
        <p:xfrm>
          <a:off x="457200" y="1463040"/>
          <a:ext cx="11274552" cy="3529584"/>
        </p:xfrm>
        <a:graphic>
          <a:graphicData uri="http://schemas.openxmlformats.org/drawingml/2006/table">
            <a:tbl>
              <a:tblPr firstRow="1" bandRow="1"/>
              <a:tblGrid>
                <a:gridCol w="1280160">
                  <a:extLst>
                    <a:ext uri="{9D8B030D-6E8A-4147-A177-3AD203B41FA5}">
                      <a16:colId xmlns:a16="http://schemas.microsoft.com/office/drawing/2014/main" val="20000"/>
                    </a:ext>
                  </a:extLst>
                </a:gridCol>
                <a:gridCol w="6949440">
                  <a:extLst>
                    <a:ext uri="{9D8B030D-6E8A-4147-A177-3AD203B41FA5}">
                      <a16:colId xmlns:a16="http://schemas.microsoft.com/office/drawing/2014/main" val="20001"/>
                    </a:ext>
                  </a:extLst>
                </a:gridCol>
                <a:gridCol w="3044952">
                  <a:extLst>
                    <a:ext uri="{9D8B030D-6E8A-4147-A177-3AD203B41FA5}">
                      <a16:colId xmlns:a16="http://schemas.microsoft.com/office/drawing/2014/main" val="20002"/>
                    </a:ext>
                  </a:extLst>
                </a:gridCol>
              </a:tblGrid>
              <a:tr h="457200">
                <a:tc>
                  <a:txBody>
                    <a:bodyPr/>
                    <a:lstStyle/>
                    <a:p>
                      <a:pPr algn="ctr">
                        <a:spcBef>
                          <a:spcPts val="0"/>
                        </a:spcBef>
                        <a:spcAft>
                          <a:spcPts val="0"/>
                        </a:spcAft>
                        <a:buNone/>
                      </a:pPr>
                      <a:r>
                        <a:rPr lang="vi-VN" sz="1500" b="1" i="0" dirty="0">
                          <a:solidFill>
                            <a:srgbClr val="FFFFFF"/>
                          </a:solidFill>
                          <a:latin typeface="Times New Roman"/>
                          <a:cs typeface="Times New Roman"/>
                        </a:rPr>
                        <a:t>Mã</a:t>
                      </a:r>
                    </a:p>
                  </a:txBody>
                  <a:tcPr marL="109728" marR="109728" marT="36576" marB="36576" anchor="ctr">
                    <a:lnL w="9525" cap="flat" cmpd="sng" algn="ctr">
                      <a:solidFill>
                        <a:srgbClr val="C9D1E3"/>
                      </a:solidFill>
                      <a:prstDash val="solid"/>
                    </a:lnL>
                    <a:lnR w="9525" cap="flat" cmpd="sng" algn="ctr">
                      <a:solidFill>
                        <a:srgbClr val="C9D1E3"/>
                      </a:solidFill>
                      <a:prstDash val="solid"/>
                    </a:lnR>
                    <a:lnT w="9525" cap="flat" cmpd="sng" algn="ctr">
                      <a:solidFill>
                        <a:srgbClr val="C9D1E3"/>
                      </a:solidFill>
                      <a:prstDash val="solid"/>
                    </a:lnT>
                    <a:lnB w="9525" cap="flat" cmpd="sng" algn="ctr">
                      <a:solidFill>
                        <a:srgbClr val="C9D1E3"/>
                      </a:solidFill>
                      <a:prstDash val="solid"/>
                    </a:lnB>
                    <a:solidFill>
                      <a:srgbClr val="223771"/>
                    </a:solidFill>
                  </a:tcPr>
                </a:tc>
                <a:tc>
                  <a:txBody>
                    <a:bodyPr/>
                    <a:lstStyle/>
                    <a:p>
                      <a:pPr algn="l">
                        <a:spcBef>
                          <a:spcPts val="0"/>
                        </a:spcBef>
                        <a:spcAft>
                          <a:spcPts val="0"/>
                        </a:spcAft>
                        <a:buNone/>
                      </a:pPr>
                      <a:r>
                        <a:rPr lang="vi-VN" sz="1500" b="1" i="0" dirty="0">
                          <a:solidFill>
                            <a:srgbClr val="FFFFFF"/>
                          </a:solidFill>
                          <a:latin typeface="Times New Roman"/>
                          <a:cs typeface="Times New Roman"/>
                        </a:rPr>
                        <a:t>Quy tắc</a:t>
                      </a:r>
                    </a:p>
                  </a:txBody>
                  <a:tcPr marL="109728" marR="109728" marT="36576" marB="36576" anchor="ctr">
                    <a:lnL w="9525" cap="flat" cmpd="sng" algn="ctr">
                      <a:solidFill>
                        <a:srgbClr val="C9D1E3"/>
                      </a:solidFill>
                      <a:prstDash val="solid"/>
                    </a:lnL>
                    <a:lnR w="9525" cap="flat" cmpd="sng" algn="ctr">
                      <a:solidFill>
                        <a:srgbClr val="C9D1E3"/>
                      </a:solidFill>
                      <a:prstDash val="solid"/>
                    </a:lnR>
                    <a:lnT w="9525" cap="flat" cmpd="sng" algn="ctr">
                      <a:solidFill>
                        <a:srgbClr val="C9D1E3"/>
                      </a:solidFill>
                      <a:prstDash val="solid"/>
                    </a:lnT>
                    <a:lnB w="9525" cap="flat" cmpd="sng" algn="ctr">
                      <a:solidFill>
                        <a:srgbClr val="C9D1E3"/>
                      </a:solidFill>
                      <a:prstDash val="solid"/>
                    </a:lnB>
                    <a:solidFill>
                      <a:srgbClr val="223771"/>
                    </a:solidFill>
                  </a:tcPr>
                </a:tc>
                <a:tc>
                  <a:txBody>
                    <a:bodyPr/>
                    <a:lstStyle/>
                    <a:p>
                      <a:pPr algn="l">
                        <a:spcBef>
                          <a:spcPts val="0"/>
                        </a:spcBef>
                        <a:spcAft>
                          <a:spcPts val="0"/>
                        </a:spcAft>
                        <a:buNone/>
                      </a:pPr>
                      <a:r>
                        <a:rPr lang="vi-VN" sz="1500" b="1" i="0" dirty="0">
                          <a:solidFill>
                            <a:srgbClr val="FFFFFF"/>
                          </a:solidFill>
                          <a:latin typeface="Times New Roman"/>
                          <a:cs typeface="Times New Roman"/>
                        </a:rPr>
                        <a:t>Kiểm thử</a:t>
                      </a:r>
                    </a:p>
                  </a:txBody>
                  <a:tcPr marL="109728" marR="109728" marT="36576" marB="36576" anchor="ctr">
                    <a:lnL w="9525" cap="flat" cmpd="sng" algn="ctr">
                      <a:solidFill>
                        <a:srgbClr val="C9D1E3"/>
                      </a:solidFill>
                      <a:prstDash val="solid"/>
                    </a:lnL>
                    <a:lnR w="9525" cap="flat" cmpd="sng" algn="ctr">
                      <a:solidFill>
                        <a:srgbClr val="C9D1E3"/>
                      </a:solidFill>
                      <a:prstDash val="solid"/>
                    </a:lnR>
                    <a:lnT w="9525" cap="flat" cmpd="sng" algn="ctr">
                      <a:solidFill>
                        <a:srgbClr val="C9D1E3"/>
                      </a:solidFill>
                      <a:prstDash val="solid"/>
                    </a:lnT>
                    <a:lnB w="9525" cap="flat" cmpd="sng" algn="ctr">
                      <a:solidFill>
                        <a:srgbClr val="C9D1E3"/>
                      </a:solidFill>
                      <a:prstDash val="solid"/>
                    </a:lnB>
                    <a:solidFill>
                      <a:srgbClr val="223771"/>
                    </a:solidFill>
                  </a:tcPr>
                </a:tc>
                <a:extLst>
                  <a:ext uri="{0D108BD9-81ED-4DB2-BD59-A6C34878D82A}">
                    <a16:rowId xmlns:a16="http://schemas.microsoft.com/office/drawing/2014/main" val="10000"/>
                  </a:ext>
                </a:extLst>
              </a:tr>
              <a:tr h="438912">
                <a:tc>
                  <a:txBody>
                    <a:bodyPr/>
                    <a:lstStyle/>
                    <a:p>
                      <a:pPr algn="ctr">
                        <a:spcBef>
                          <a:spcPts val="0"/>
                        </a:spcBef>
                        <a:spcAft>
                          <a:spcPts val="0"/>
                        </a:spcAft>
                        <a:buNone/>
                      </a:pPr>
                      <a:r>
                        <a:rPr lang="vi-VN" sz="1400" b="1" i="0" dirty="0">
                          <a:solidFill>
                            <a:srgbClr val="223771"/>
                          </a:solidFill>
                          <a:latin typeface="Times New Roman"/>
                          <a:cs typeface="Times New Roman"/>
                        </a:rPr>
                        <a:t>BR-01</a:t>
                      </a:r>
                    </a:p>
                  </a:txBody>
                  <a:tcPr marL="109728" marR="109728" marT="36576" marB="36576" anchor="ctr">
                    <a:lnL w="9525" cap="flat" cmpd="sng" algn="ctr">
                      <a:solidFill>
                        <a:srgbClr val="C9D1E3"/>
                      </a:solidFill>
                      <a:prstDash val="solid"/>
                    </a:lnL>
                    <a:lnR w="9525" cap="flat" cmpd="sng" algn="ctr">
                      <a:solidFill>
                        <a:srgbClr val="C9D1E3"/>
                      </a:solidFill>
                      <a:prstDash val="solid"/>
                    </a:lnR>
                    <a:lnT w="9525" cap="flat" cmpd="sng" algn="ctr">
                      <a:solidFill>
                        <a:srgbClr val="C9D1E3"/>
                      </a:solidFill>
                      <a:prstDash val="solid"/>
                    </a:lnT>
                    <a:lnB w="9525" cap="flat" cmpd="sng" algn="ctr">
                      <a:solidFill>
                        <a:srgbClr val="C9D1E3"/>
                      </a:solidFill>
                      <a:prstDash val="solid"/>
                    </a:lnB>
                    <a:solidFill>
                      <a:srgbClr val="FFFFFF"/>
                    </a:solidFill>
                  </a:tcPr>
                </a:tc>
                <a:tc>
                  <a:txBody>
                    <a:bodyPr/>
                    <a:lstStyle/>
                    <a:p>
                      <a:pPr algn="l">
                        <a:spcBef>
                          <a:spcPts val="0"/>
                        </a:spcBef>
                        <a:spcAft>
                          <a:spcPts val="0"/>
                        </a:spcAft>
                        <a:buNone/>
                      </a:pPr>
                      <a:r>
                        <a:rPr lang="vi-VN" sz="1500" b="0" i="0" dirty="0">
                          <a:solidFill>
                            <a:srgbClr val="1F2433"/>
                          </a:solidFill>
                          <a:latin typeface="Times New Roman"/>
                          <a:cs typeface="Times New Roman"/>
                        </a:rPr>
                        <a:t>Phạt quá hạn 2.000 đ/ngày, tối thiểu 5.000 đ</a:t>
                      </a:r>
                    </a:p>
                  </a:txBody>
                  <a:tcPr marL="109728" marR="109728" marT="36576" marB="36576" anchor="ctr">
                    <a:lnL w="9525" cap="flat" cmpd="sng" algn="ctr">
                      <a:solidFill>
                        <a:srgbClr val="C9D1E3"/>
                      </a:solidFill>
                      <a:prstDash val="solid"/>
                    </a:lnL>
                    <a:lnR w="9525" cap="flat" cmpd="sng" algn="ctr">
                      <a:solidFill>
                        <a:srgbClr val="C9D1E3"/>
                      </a:solidFill>
                      <a:prstDash val="solid"/>
                    </a:lnR>
                    <a:lnT w="9525" cap="flat" cmpd="sng" algn="ctr">
                      <a:solidFill>
                        <a:srgbClr val="C9D1E3"/>
                      </a:solidFill>
                      <a:prstDash val="solid"/>
                    </a:lnT>
                    <a:lnB w="9525" cap="flat" cmpd="sng" algn="ctr">
                      <a:solidFill>
                        <a:srgbClr val="C9D1E3"/>
                      </a:solidFill>
                      <a:prstDash val="solid"/>
                    </a:lnB>
                    <a:solidFill>
                      <a:srgbClr val="FFFFFF"/>
                    </a:solidFill>
                  </a:tcPr>
                </a:tc>
                <a:tc>
                  <a:txBody>
                    <a:bodyPr/>
                    <a:lstStyle/>
                    <a:p>
                      <a:pPr algn="l">
                        <a:spcBef>
                          <a:spcPts val="0"/>
                        </a:spcBef>
                        <a:spcAft>
                          <a:spcPts val="0"/>
                        </a:spcAft>
                        <a:buNone/>
                      </a:pPr>
                      <a:r>
                        <a:rPr lang="vi-VN" sz="1400" b="0" i="0" dirty="0">
                          <a:solidFill>
                            <a:srgbClr val="1F2433"/>
                          </a:solidFill>
                          <a:latin typeface="Times New Roman"/>
                          <a:cs typeface="Times New Roman"/>
                        </a:rPr>
                        <a:t>TC-39, TC-40</a:t>
                      </a:r>
                      <a:r>
                        <a:rPr lang="vi-VN" sz="1400" b="1" i="0" dirty="0">
                          <a:solidFill>
                            <a:srgbClr val="2E7D32"/>
                          </a:solidFill>
                          <a:latin typeface="Times New Roman"/>
                          <a:cs typeface="Times New Roman"/>
                        </a:rPr>
                        <a:t>  ·  Đạt</a:t>
                      </a:r>
                    </a:p>
                  </a:txBody>
                  <a:tcPr marL="109728" marR="109728" marT="36576" marB="36576" anchor="ctr">
                    <a:lnL w="9525" cap="flat" cmpd="sng" algn="ctr">
                      <a:solidFill>
                        <a:srgbClr val="C9D1E3"/>
                      </a:solidFill>
                      <a:prstDash val="solid"/>
                    </a:lnL>
                    <a:lnR w="9525" cap="flat" cmpd="sng" algn="ctr">
                      <a:solidFill>
                        <a:srgbClr val="C9D1E3"/>
                      </a:solidFill>
                      <a:prstDash val="solid"/>
                    </a:lnR>
                    <a:lnT w="9525" cap="flat" cmpd="sng" algn="ctr">
                      <a:solidFill>
                        <a:srgbClr val="C9D1E3"/>
                      </a:solidFill>
                      <a:prstDash val="solid"/>
                    </a:lnT>
                    <a:lnB w="9525" cap="flat" cmpd="sng" algn="ctr">
                      <a:solidFill>
                        <a:srgbClr val="C9D1E3"/>
                      </a:solidFill>
                      <a:prstDash val="solid"/>
                    </a:lnB>
                    <a:solidFill>
                      <a:srgbClr val="FFFFFF"/>
                    </a:solidFill>
                  </a:tcPr>
                </a:tc>
                <a:extLst>
                  <a:ext uri="{0D108BD9-81ED-4DB2-BD59-A6C34878D82A}">
                    <a16:rowId xmlns:a16="http://schemas.microsoft.com/office/drawing/2014/main" val="10001"/>
                  </a:ext>
                </a:extLst>
              </a:tr>
              <a:tr h="438912">
                <a:tc>
                  <a:txBody>
                    <a:bodyPr/>
                    <a:lstStyle/>
                    <a:p>
                      <a:pPr algn="ctr">
                        <a:spcBef>
                          <a:spcPts val="0"/>
                        </a:spcBef>
                        <a:spcAft>
                          <a:spcPts val="0"/>
                        </a:spcAft>
                        <a:buNone/>
                      </a:pPr>
                      <a:r>
                        <a:rPr lang="vi-VN" sz="1400" b="1" i="0" dirty="0">
                          <a:solidFill>
                            <a:srgbClr val="223771"/>
                          </a:solidFill>
                          <a:latin typeface="Times New Roman"/>
                          <a:cs typeface="Times New Roman"/>
                        </a:rPr>
                        <a:t>BR-02</a:t>
                      </a:r>
                    </a:p>
                  </a:txBody>
                  <a:tcPr marL="109728" marR="109728" marT="36576" marB="36576" anchor="ctr">
                    <a:lnL w="9525" cap="flat" cmpd="sng" algn="ctr">
                      <a:solidFill>
                        <a:srgbClr val="C9D1E3"/>
                      </a:solidFill>
                      <a:prstDash val="solid"/>
                    </a:lnL>
                    <a:lnR w="9525" cap="flat" cmpd="sng" algn="ctr">
                      <a:solidFill>
                        <a:srgbClr val="C9D1E3"/>
                      </a:solidFill>
                      <a:prstDash val="solid"/>
                    </a:lnR>
                    <a:lnT w="9525" cap="flat" cmpd="sng" algn="ctr">
                      <a:solidFill>
                        <a:srgbClr val="C9D1E3"/>
                      </a:solidFill>
                      <a:prstDash val="solid"/>
                    </a:lnT>
                    <a:lnB w="9525" cap="flat" cmpd="sng" algn="ctr">
                      <a:solidFill>
                        <a:srgbClr val="C9D1E3"/>
                      </a:solidFill>
                      <a:prstDash val="solid"/>
                    </a:lnB>
                    <a:solidFill>
                      <a:srgbClr val="F4F6FA"/>
                    </a:solidFill>
                  </a:tcPr>
                </a:tc>
                <a:tc>
                  <a:txBody>
                    <a:bodyPr/>
                    <a:lstStyle/>
                    <a:p>
                      <a:pPr algn="l">
                        <a:spcBef>
                          <a:spcPts val="0"/>
                        </a:spcBef>
                        <a:spcAft>
                          <a:spcPts val="0"/>
                        </a:spcAft>
                        <a:buNone/>
                      </a:pPr>
                      <a:r>
                        <a:rPr lang="vi-VN" sz="1500" b="0" i="0" dirty="0">
                          <a:solidFill>
                            <a:srgbClr val="1F2433"/>
                          </a:solidFill>
                          <a:latin typeface="Times New Roman"/>
                          <a:cs typeface="Times New Roman"/>
                        </a:rPr>
                        <a:t>Sách hư hỏng: phạt 30% giá bìa</a:t>
                      </a:r>
                    </a:p>
                  </a:txBody>
                  <a:tcPr marL="109728" marR="109728" marT="36576" marB="36576" anchor="ctr">
                    <a:lnL w="9525" cap="flat" cmpd="sng" algn="ctr">
                      <a:solidFill>
                        <a:srgbClr val="C9D1E3"/>
                      </a:solidFill>
                      <a:prstDash val="solid"/>
                    </a:lnL>
                    <a:lnR w="9525" cap="flat" cmpd="sng" algn="ctr">
                      <a:solidFill>
                        <a:srgbClr val="C9D1E3"/>
                      </a:solidFill>
                      <a:prstDash val="solid"/>
                    </a:lnR>
                    <a:lnT w="9525" cap="flat" cmpd="sng" algn="ctr">
                      <a:solidFill>
                        <a:srgbClr val="C9D1E3"/>
                      </a:solidFill>
                      <a:prstDash val="solid"/>
                    </a:lnT>
                    <a:lnB w="9525" cap="flat" cmpd="sng" algn="ctr">
                      <a:solidFill>
                        <a:srgbClr val="C9D1E3"/>
                      </a:solidFill>
                      <a:prstDash val="solid"/>
                    </a:lnB>
                    <a:solidFill>
                      <a:srgbClr val="F4F6FA"/>
                    </a:solidFill>
                  </a:tcPr>
                </a:tc>
                <a:tc>
                  <a:txBody>
                    <a:bodyPr/>
                    <a:lstStyle/>
                    <a:p>
                      <a:pPr algn="l">
                        <a:spcBef>
                          <a:spcPts val="0"/>
                        </a:spcBef>
                        <a:spcAft>
                          <a:spcPts val="0"/>
                        </a:spcAft>
                        <a:buNone/>
                      </a:pPr>
                      <a:r>
                        <a:rPr lang="vi-VN" sz="1400" b="0" i="0" dirty="0">
                          <a:solidFill>
                            <a:srgbClr val="1F2433"/>
                          </a:solidFill>
                          <a:latin typeface="Times New Roman"/>
                          <a:cs typeface="Times New Roman"/>
                        </a:rPr>
                        <a:t>TC-41, TC-42</a:t>
                      </a:r>
                      <a:r>
                        <a:rPr lang="vi-VN" sz="1400" b="1" i="0" dirty="0">
                          <a:solidFill>
                            <a:srgbClr val="2E7D32"/>
                          </a:solidFill>
                          <a:latin typeface="Times New Roman"/>
                          <a:cs typeface="Times New Roman"/>
                        </a:rPr>
                        <a:t>  ·  Đạt</a:t>
                      </a:r>
                    </a:p>
                  </a:txBody>
                  <a:tcPr marL="109728" marR="109728" marT="36576" marB="36576" anchor="ctr">
                    <a:lnL w="9525" cap="flat" cmpd="sng" algn="ctr">
                      <a:solidFill>
                        <a:srgbClr val="C9D1E3"/>
                      </a:solidFill>
                      <a:prstDash val="solid"/>
                    </a:lnL>
                    <a:lnR w="9525" cap="flat" cmpd="sng" algn="ctr">
                      <a:solidFill>
                        <a:srgbClr val="C9D1E3"/>
                      </a:solidFill>
                      <a:prstDash val="solid"/>
                    </a:lnR>
                    <a:lnT w="9525" cap="flat" cmpd="sng" algn="ctr">
                      <a:solidFill>
                        <a:srgbClr val="C9D1E3"/>
                      </a:solidFill>
                      <a:prstDash val="solid"/>
                    </a:lnT>
                    <a:lnB w="9525" cap="flat" cmpd="sng" algn="ctr">
                      <a:solidFill>
                        <a:srgbClr val="C9D1E3"/>
                      </a:solidFill>
                      <a:prstDash val="solid"/>
                    </a:lnB>
                    <a:solidFill>
                      <a:srgbClr val="F4F6FA"/>
                    </a:solidFill>
                  </a:tcPr>
                </a:tc>
                <a:extLst>
                  <a:ext uri="{0D108BD9-81ED-4DB2-BD59-A6C34878D82A}">
                    <a16:rowId xmlns:a16="http://schemas.microsoft.com/office/drawing/2014/main" val="10002"/>
                  </a:ext>
                </a:extLst>
              </a:tr>
              <a:tr h="438912">
                <a:tc>
                  <a:txBody>
                    <a:bodyPr/>
                    <a:lstStyle/>
                    <a:p>
                      <a:pPr algn="ctr">
                        <a:spcBef>
                          <a:spcPts val="0"/>
                        </a:spcBef>
                        <a:spcAft>
                          <a:spcPts val="0"/>
                        </a:spcAft>
                        <a:buNone/>
                      </a:pPr>
                      <a:r>
                        <a:rPr lang="vi-VN" sz="1400" b="1" i="0" dirty="0">
                          <a:solidFill>
                            <a:srgbClr val="223771"/>
                          </a:solidFill>
                          <a:latin typeface="Times New Roman"/>
                          <a:cs typeface="Times New Roman"/>
                        </a:rPr>
                        <a:t>BR-03</a:t>
                      </a:r>
                    </a:p>
                  </a:txBody>
                  <a:tcPr marL="109728" marR="109728" marT="36576" marB="36576" anchor="ctr">
                    <a:lnL w="9525" cap="flat" cmpd="sng" algn="ctr">
                      <a:solidFill>
                        <a:srgbClr val="C9D1E3"/>
                      </a:solidFill>
                      <a:prstDash val="solid"/>
                    </a:lnL>
                    <a:lnR w="9525" cap="flat" cmpd="sng" algn="ctr">
                      <a:solidFill>
                        <a:srgbClr val="C9D1E3"/>
                      </a:solidFill>
                      <a:prstDash val="solid"/>
                    </a:lnR>
                    <a:lnT w="9525" cap="flat" cmpd="sng" algn="ctr">
                      <a:solidFill>
                        <a:srgbClr val="C9D1E3"/>
                      </a:solidFill>
                      <a:prstDash val="solid"/>
                    </a:lnT>
                    <a:lnB w="9525" cap="flat" cmpd="sng" algn="ctr">
                      <a:solidFill>
                        <a:srgbClr val="C9D1E3"/>
                      </a:solidFill>
                      <a:prstDash val="solid"/>
                    </a:lnB>
                    <a:solidFill>
                      <a:srgbClr val="FFFFFF"/>
                    </a:solidFill>
                  </a:tcPr>
                </a:tc>
                <a:tc>
                  <a:txBody>
                    <a:bodyPr/>
                    <a:lstStyle/>
                    <a:p>
                      <a:pPr algn="l">
                        <a:spcBef>
                          <a:spcPts val="0"/>
                        </a:spcBef>
                        <a:spcAft>
                          <a:spcPts val="0"/>
                        </a:spcAft>
                        <a:buNone/>
                      </a:pPr>
                      <a:r>
                        <a:rPr lang="vi-VN" sz="1500" b="0" i="0" dirty="0">
                          <a:solidFill>
                            <a:srgbClr val="1F2433"/>
                          </a:solidFill>
                          <a:latin typeface="Times New Roman"/>
                          <a:cs typeface="Times New Roman"/>
                        </a:rPr>
                        <a:t>Mất sách: phạt 100% giá bìa, không cộng lại kho</a:t>
                      </a:r>
                    </a:p>
                  </a:txBody>
                  <a:tcPr marL="109728" marR="109728" marT="36576" marB="36576" anchor="ctr">
                    <a:lnL w="9525" cap="flat" cmpd="sng" algn="ctr">
                      <a:solidFill>
                        <a:srgbClr val="C9D1E3"/>
                      </a:solidFill>
                      <a:prstDash val="solid"/>
                    </a:lnL>
                    <a:lnR w="9525" cap="flat" cmpd="sng" algn="ctr">
                      <a:solidFill>
                        <a:srgbClr val="C9D1E3"/>
                      </a:solidFill>
                      <a:prstDash val="solid"/>
                    </a:lnR>
                    <a:lnT w="9525" cap="flat" cmpd="sng" algn="ctr">
                      <a:solidFill>
                        <a:srgbClr val="C9D1E3"/>
                      </a:solidFill>
                      <a:prstDash val="solid"/>
                    </a:lnT>
                    <a:lnB w="9525" cap="flat" cmpd="sng" algn="ctr">
                      <a:solidFill>
                        <a:srgbClr val="C9D1E3"/>
                      </a:solidFill>
                      <a:prstDash val="solid"/>
                    </a:lnB>
                    <a:solidFill>
                      <a:srgbClr val="FFFFFF"/>
                    </a:solidFill>
                  </a:tcPr>
                </a:tc>
                <a:tc>
                  <a:txBody>
                    <a:bodyPr/>
                    <a:lstStyle/>
                    <a:p>
                      <a:pPr algn="l">
                        <a:spcBef>
                          <a:spcPts val="0"/>
                        </a:spcBef>
                        <a:spcAft>
                          <a:spcPts val="0"/>
                        </a:spcAft>
                        <a:buNone/>
                      </a:pPr>
                      <a:r>
                        <a:rPr lang="vi-VN" sz="1400" b="0" i="0" dirty="0">
                          <a:solidFill>
                            <a:srgbClr val="1F2433"/>
                          </a:solidFill>
                          <a:latin typeface="Times New Roman"/>
                          <a:cs typeface="Times New Roman"/>
                        </a:rPr>
                        <a:t>TC-43</a:t>
                      </a:r>
                      <a:r>
                        <a:rPr lang="vi-VN" sz="1400" b="1" i="0" dirty="0">
                          <a:solidFill>
                            <a:srgbClr val="2E7D32"/>
                          </a:solidFill>
                          <a:latin typeface="Times New Roman"/>
                          <a:cs typeface="Times New Roman"/>
                        </a:rPr>
                        <a:t>  ·  Đạt</a:t>
                      </a:r>
                    </a:p>
                  </a:txBody>
                  <a:tcPr marL="109728" marR="109728" marT="36576" marB="36576" anchor="ctr">
                    <a:lnL w="9525" cap="flat" cmpd="sng" algn="ctr">
                      <a:solidFill>
                        <a:srgbClr val="C9D1E3"/>
                      </a:solidFill>
                      <a:prstDash val="solid"/>
                    </a:lnL>
                    <a:lnR w="9525" cap="flat" cmpd="sng" algn="ctr">
                      <a:solidFill>
                        <a:srgbClr val="C9D1E3"/>
                      </a:solidFill>
                      <a:prstDash val="solid"/>
                    </a:lnR>
                    <a:lnT w="9525" cap="flat" cmpd="sng" algn="ctr">
                      <a:solidFill>
                        <a:srgbClr val="C9D1E3"/>
                      </a:solidFill>
                      <a:prstDash val="solid"/>
                    </a:lnT>
                    <a:lnB w="9525" cap="flat" cmpd="sng" algn="ctr">
                      <a:solidFill>
                        <a:srgbClr val="C9D1E3"/>
                      </a:solidFill>
                      <a:prstDash val="solid"/>
                    </a:lnB>
                    <a:solidFill>
                      <a:srgbClr val="FFFFFF"/>
                    </a:solidFill>
                  </a:tcPr>
                </a:tc>
                <a:extLst>
                  <a:ext uri="{0D108BD9-81ED-4DB2-BD59-A6C34878D82A}">
                    <a16:rowId xmlns:a16="http://schemas.microsoft.com/office/drawing/2014/main" val="10003"/>
                  </a:ext>
                </a:extLst>
              </a:tr>
              <a:tr h="438912">
                <a:tc>
                  <a:txBody>
                    <a:bodyPr/>
                    <a:lstStyle/>
                    <a:p>
                      <a:pPr algn="ctr">
                        <a:spcBef>
                          <a:spcPts val="0"/>
                        </a:spcBef>
                        <a:spcAft>
                          <a:spcPts val="0"/>
                        </a:spcAft>
                        <a:buNone/>
                      </a:pPr>
                      <a:r>
                        <a:rPr lang="vi-VN" sz="1400" b="1" i="0" dirty="0">
                          <a:solidFill>
                            <a:srgbClr val="223771"/>
                          </a:solidFill>
                          <a:latin typeface="Times New Roman"/>
                          <a:cs typeface="Times New Roman"/>
                        </a:rPr>
                        <a:t>BR-04</a:t>
                      </a:r>
                    </a:p>
                  </a:txBody>
                  <a:tcPr marL="109728" marR="109728" marT="36576" marB="36576" anchor="ctr">
                    <a:lnL w="9525" cap="flat" cmpd="sng" algn="ctr">
                      <a:solidFill>
                        <a:srgbClr val="C9D1E3"/>
                      </a:solidFill>
                      <a:prstDash val="solid"/>
                    </a:lnL>
                    <a:lnR w="9525" cap="flat" cmpd="sng" algn="ctr">
                      <a:solidFill>
                        <a:srgbClr val="C9D1E3"/>
                      </a:solidFill>
                      <a:prstDash val="solid"/>
                    </a:lnR>
                    <a:lnT w="9525" cap="flat" cmpd="sng" algn="ctr">
                      <a:solidFill>
                        <a:srgbClr val="C9D1E3"/>
                      </a:solidFill>
                      <a:prstDash val="solid"/>
                    </a:lnT>
                    <a:lnB w="9525" cap="flat" cmpd="sng" algn="ctr">
                      <a:solidFill>
                        <a:srgbClr val="C9D1E3"/>
                      </a:solidFill>
                      <a:prstDash val="solid"/>
                    </a:lnB>
                    <a:solidFill>
                      <a:srgbClr val="F4F6FA"/>
                    </a:solidFill>
                  </a:tcPr>
                </a:tc>
                <a:tc>
                  <a:txBody>
                    <a:bodyPr/>
                    <a:lstStyle/>
                    <a:p>
                      <a:pPr algn="l">
                        <a:spcBef>
                          <a:spcPts val="0"/>
                        </a:spcBef>
                        <a:spcAft>
                          <a:spcPts val="0"/>
                        </a:spcAft>
                        <a:buNone/>
                      </a:pPr>
                      <a:r>
                        <a:rPr lang="vi-VN" sz="1500" b="0" i="0" dirty="0">
                          <a:solidFill>
                            <a:srgbClr val="1F2433"/>
                          </a:solidFill>
                          <a:latin typeface="Times New Roman"/>
                          <a:cs typeface="Times New Roman"/>
                        </a:rPr>
                        <a:t>Gia hạn tối đa 2 lần, hạn mới phải sau hạn cũ</a:t>
                      </a:r>
                    </a:p>
                  </a:txBody>
                  <a:tcPr marL="109728" marR="109728" marT="36576" marB="36576" anchor="ctr">
                    <a:lnL w="9525" cap="flat" cmpd="sng" algn="ctr">
                      <a:solidFill>
                        <a:srgbClr val="C9D1E3"/>
                      </a:solidFill>
                      <a:prstDash val="solid"/>
                    </a:lnL>
                    <a:lnR w="9525" cap="flat" cmpd="sng" algn="ctr">
                      <a:solidFill>
                        <a:srgbClr val="C9D1E3"/>
                      </a:solidFill>
                      <a:prstDash val="solid"/>
                    </a:lnR>
                    <a:lnT w="9525" cap="flat" cmpd="sng" algn="ctr">
                      <a:solidFill>
                        <a:srgbClr val="C9D1E3"/>
                      </a:solidFill>
                      <a:prstDash val="solid"/>
                    </a:lnT>
                    <a:lnB w="9525" cap="flat" cmpd="sng" algn="ctr">
                      <a:solidFill>
                        <a:srgbClr val="C9D1E3"/>
                      </a:solidFill>
                      <a:prstDash val="solid"/>
                    </a:lnB>
                    <a:solidFill>
                      <a:srgbClr val="F4F6FA"/>
                    </a:solidFill>
                  </a:tcPr>
                </a:tc>
                <a:tc>
                  <a:txBody>
                    <a:bodyPr/>
                    <a:lstStyle/>
                    <a:p>
                      <a:pPr algn="l">
                        <a:spcBef>
                          <a:spcPts val="0"/>
                        </a:spcBef>
                        <a:spcAft>
                          <a:spcPts val="0"/>
                        </a:spcAft>
                        <a:buNone/>
                      </a:pPr>
                      <a:r>
                        <a:rPr lang="vi-VN" sz="1400" b="0" i="0" dirty="0">
                          <a:solidFill>
                            <a:srgbClr val="1F2433"/>
                          </a:solidFill>
                          <a:latin typeface="Times New Roman"/>
                          <a:cs typeface="Times New Roman"/>
                        </a:rPr>
                        <a:t>TC-28 – TC-30</a:t>
                      </a:r>
                      <a:r>
                        <a:rPr lang="vi-VN" sz="1400" b="1" i="0" dirty="0">
                          <a:solidFill>
                            <a:srgbClr val="2E7D32"/>
                          </a:solidFill>
                          <a:latin typeface="Times New Roman"/>
                          <a:cs typeface="Times New Roman"/>
                        </a:rPr>
                        <a:t>  ·  Đạt</a:t>
                      </a:r>
                    </a:p>
                  </a:txBody>
                  <a:tcPr marL="109728" marR="109728" marT="36576" marB="36576" anchor="ctr">
                    <a:lnL w="9525" cap="flat" cmpd="sng" algn="ctr">
                      <a:solidFill>
                        <a:srgbClr val="C9D1E3"/>
                      </a:solidFill>
                      <a:prstDash val="solid"/>
                    </a:lnL>
                    <a:lnR w="9525" cap="flat" cmpd="sng" algn="ctr">
                      <a:solidFill>
                        <a:srgbClr val="C9D1E3"/>
                      </a:solidFill>
                      <a:prstDash val="solid"/>
                    </a:lnR>
                    <a:lnT w="9525" cap="flat" cmpd="sng" algn="ctr">
                      <a:solidFill>
                        <a:srgbClr val="C9D1E3"/>
                      </a:solidFill>
                      <a:prstDash val="solid"/>
                    </a:lnT>
                    <a:lnB w="9525" cap="flat" cmpd="sng" algn="ctr">
                      <a:solidFill>
                        <a:srgbClr val="C9D1E3"/>
                      </a:solidFill>
                      <a:prstDash val="solid"/>
                    </a:lnB>
                    <a:solidFill>
                      <a:srgbClr val="F4F6FA"/>
                    </a:solidFill>
                  </a:tcPr>
                </a:tc>
                <a:extLst>
                  <a:ext uri="{0D108BD9-81ED-4DB2-BD59-A6C34878D82A}">
                    <a16:rowId xmlns:a16="http://schemas.microsoft.com/office/drawing/2014/main" val="10004"/>
                  </a:ext>
                </a:extLst>
              </a:tr>
              <a:tr h="438912">
                <a:tc>
                  <a:txBody>
                    <a:bodyPr/>
                    <a:lstStyle/>
                    <a:p>
                      <a:pPr algn="ctr">
                        <a:spcBef>
                          <a:spcPts val="0"/>
                        </a:spcBef>
                        <a:spcAft>
                          <a:spcPts val="0"/>
                        </a:spcAft>
                        <a:buNone/>
                      </a:pPr>
                      <a:r>
                        <a:rPr lang="vi-VN" sz="1400" b="1" i="0" dirty="0">
                          <a:solidFill>
                            <a:srgbClr val="223771"/>
                          </a:solidFill>
                          <a:latin typeface="Times New Roman"/>
                          <a:cs typeface="Times New Roman"/>
                        </a:rPr>
                        <a:t>BR-06</a:t>
                      </a:r>
                    </a:p>
                  </a:txBody>
                  <a:tcPr marL="109728" marR="109728" marT="36576" marB="36576" anchor="ctr">
                    <a:lnL w="9525" cap="flat" cmpd="sng" algn="ctr">
                      <a:solidFill>
                        <a:srgbClr val="C9D1E3"/>
                      </a:solidFill>
                      <a:prstDash val="solid"/>
                    </a:lnL>
                    <a:lnR w="9525" cap="flat" cmpd="sng" algn="ctr">
                      <a:solidFill>
                        <a:srgbClr val="C9D1E3"/>
                      </a:solidFill>
                      <a:prstDash val="solid"/>
                    </a:lnR>
                    <a:lnT w="9525" cap="flat" cmpd="sng" algn="ctr">
                      <a:solidFill>
                        <a:srgbClr val="C9D1E3"/>
                      </a:solidFill>
                      <a:prstDash val="solid"/>
                    </a:lnT>
                    <a:lnB w="9525" cap="flat" cmpd="sng" algn="ctr">
                      <a:solidFill>
                        <a:srgbClr val="C9D1E3"/>
                      </a:solidFill>
                      <a:prstDash val="solid"/>
                    </a:lnB>
                    <a:solidFill>
                      <a:srgbClr val="FFFFFF"/>
                    </a:solidFill>
                  </a:tcPr>
                </a:tc>
                <a:tc>
                  <a:txBody>
                    <a:bodyPr/>
                    <a:lstStyle/>
                    <a:p>
                      <a:pPr algn="l">
                        <a:spcBef>
                          <a:spcPts val="0"/>
                        </a:spcBef>
                        <a:spcAft>
                          <a:spcPts val="0"/>
                        </a:spcAft>
                        <a:buNone/>
                      </a:pPr>
                      <a:r>
                        <a:rPr lang="vi-VN" sz="1500" b="0" i="0" dirty="0">
                          <a:solidFill>
                            <a:srgbClr val="1F2433"/>
                          </a:solidFill>
                          <a:latin typeface="Times New Roman"/>
                          <a:cs typeface="Times New Roman"/>
                        </a:rPr>
                        <a:t>Mỗi độc giả một phiếu đang xử lý cho một đầu sách</a:t>
                      </a:r>
                    </a:p>
                  </a:txBody>
                  <a:tcPr marL="109728" marR="109728" marT="36576" marB="36576" anchor="ctr">
                    <a:lnL w="9525" cap="flat" cmpd="sng" algn="ctr">
                      <a:solidFill>
                        <a:srgbClr val="C9D1E3"/>
                      </a:solidFill>
                      <a:prstDash val="solid"/>
                    </a:lnL>
                    <a:lnR w="9525" cap="flat" cmpd="sng" algn="ctr">
                      <a:solidFill>
                        <a:srgbClr val="C9D1E3"/>
                      </a:solidFill>
                      <a:prstDash val="solid"/>
                    </a:lnR>
                    <a:lnT w="9525" cap="flat" cmpd="sng" algn="ctr">
                      <a:solidFill>
                        <a:srgbClr val="C9D1E3"/>
                      </a:solidFill>
                      <a:prstDash val="solid"/>
                    </a:lnT>
                    <a:lnB w="9525" cap="flat" cmpd="sng" algn="ctr">
                      <a:solidFill>
                        <a:srgbClr val="C9D1E3"/>
                      </a:solidFill>
                      <a:prstDash val="solid"/>
                    </a:lnB>
                    <a:solidFill>
                      <a:srgbClr val="FFFFFF"/>
                    </a:solidFill>
                  </a:tcPr>
                </a:tc>
                <a:tc>
                  <a:txBody>
                    <a:bodyPr/>
                    <a:lstStyle/>
                    <a:p>
                      <a:pPr algn="l">
                        <a:spcBef>
                          <a:spcPts val="0"/>
                        </a:spcBef>
                        <a:spcAft>
                          <a:spcPts val="0"/>
                        </a:spcAft>
                        <a:buNone/>
                      </a:pPr>
                      <a:r>
                        <a:rPr lang="vi-VN" sz="1400" b="0" i="0" dirty="0">
                          <a:solidFill>
                            <a:srgbClr val="1F2433"/>
                          </a:solidFill>
                          <a:latin typeface="Times New Roman"/>
                          <a:cs typeface="Times New Roman"/>
                        </a:rPr>
                        <a:t>TC-20</a:t>
                      </a:r>
                      <a:r>
                        <a:rPr lang="vi-VN" sz="1400" b="1" i="0" dirty="0">
                          <a:solidFill>
                            <a:srgbClr val="2E7D32"/>
                          </a:solidFill>
                          <a:latin typeface="Times New Roman"/>
                          <a:cs typeface="Times New Roman"/>
                        </a:rPr>
                        <a:t>  ·  Đạt</a:t>
                      </a:r>
                    </a:p>
                  </a:txBody>
                  <a:tcPr marL="109728" marR="109728" marT="36576" marB="36576" anchor="ctr">
                    <a:lnL w="9525" cap="flat" cmpd="sng" algn="ctr">
                      <a:solidFill>
                        <a:srgbClr val="C9D1E3"/>
                      </a:solidFill>
                      <a:prstDash val="solid"/>
                    </a:lnL>
                    <a:lnR w="9525" cap="flat" cmpd="sng" algn="ctr">
                      <a:solidFill>
                        <a:srgbClr val="C9D1E3"/>
                      </a:solidFill>
                      <a:prstDash val="solid"/>
                    </a:lnR>
                    <a:lnT w="9525" cap="flat" cmpd="sng" algn="ctr">
                      <a:solidFill>
                        <a:srgbClr val="C9D1E3"/>
                      </a:solidFill>
                      <a:prstDash val="solid"/>
                    </a:lnT>
                    <a:lnB w="9525" cap="flat" cmpd="sng" algn="ctr">
                      <a:solidFill>
                        <a:srgbClr val="C9D1E3"/>
                      </a:solidFill>
                      <a:prstDash val="solid"/>
                    </a:lnB>
                    <a:solidFill>
                      <a:srgbClr val="FFFFFF"/>
                    </a:solidFill>
                  </a:tcPr>
                </a:tc>
                <a:extLst>
                  <a:ext uri="{0D108BD9-81ED-4DB2-BD59-A6C34878D82A}">
                    <a16:rowId xmlns:a16="http://schemas.microsoft.com/office/drawing/2014/main" val="10005"/>
                  </a:ext>
                </a:extLst>
              </a:tr>
              <a:tr h="438912">
                <a:tc>
                  <a:txBody>
                    <a:bodyPr/>
                    <a:lstStyle/>
                    <a:p>
                      <a:pPr algn="ctr">
                        <a:spcBef>
                          <a:spcPts val="0"/>
                        </a:spcBef>
                        <a:spcAft>
                          <a:spcPts val="0"/>
                        </a:spcAft>
                        <a:buNone/>
                      </a:pPr>
                      <a:r>
                        <a:rPr lang="vi-VN" sz="1400" b="1" i="0" dirty="0">
                          <a:solidFill>
                            <a:srgbClr val="223771"/>
                          </a:solidFill>
                          <a:latin typeface="Times New Roman"/>
                          <a:cs typeface="Times New Roman"/>
                        </a:rPr>
                        <a:t>BR-07</a:t>
                      </a:r>
                    </a:p>
                  </a:txBody>
                  <a:tcPr marL="109728" marR="109728" marT="36576" marB="36576" anchor="ctr">
                    <a:lnL w="9525" cap="flat" cmpd="sng" algn="ctr">
                      <a:solidFill>
                        <a:srgbClr val="C9D1E3"/>
                      </a:solidFill>
                      <a:prstDash val="solid"/>
                    </a:lnL>
                    <a:lnR w="9525" cap="flat" cmpd="sng" algn="ctr">
                      <a:solidFill>
                        <a:srgbClr val="C9D1E3"/>
                      </a:solidFill>
                      <a:prstDash val="solid"/>
                    </a:lnR>
                    <a:lnT w="9525" cap="flat" cmpd="sng" algn="ctr">
                      <a:solidFill>
                        <a:srgbClr val="C9D1E3"/>
                      </a:solidFill>
                      <a:prstDash val="solid"/>
                    </a:lnT>
                    <a:lnB w="9525" cap="flat" cmpd="sng" algn="ctr">
                      <a:solidFill>
                        <a:srgbClr val="C9D1E3"/>
                      </a:solidFill>
                      <a:prstDash val="solid"/>
                    </a:lnB>
                    <a:solidFill>
                      <a:srgbClr val="F4F6FA"/>
                    </a:solidFill>
                  </a:tcPr>
                </a:tc>
                <a:tc>
                  <a:txBody>
                    <a:bodyPr/>
                    <a:lstStyle/>
                    <a:p>
                      <a:pPr algn="l">
                        <a:spcBef>
                          <a:spcPts val="0"/>
                        </a:spcBef>
                        <a:spcAft>
                          <a:spcPts val="0"/>
                        </a:spcAft>
                        <a:buNone/>
                      </a:pPr>
                      <a:r>
                        <a:rPr lang="vi-VN" sz="1500" b="0" i="0" dirty="0">
                          <a:solidFill>
                            <a:srgbClr val="1F2433"/>
                          </a:solidFill>
                          <a:latin typeface="Times New Roman"/>
                          <a:cs typeface="Times New Roman"/>
                        </a:rPr>
                        <a:t>Chỉ đặt trước khi sách hết; người được báo giữ chỗ 48 giờ</a:t>
                      </a:r>
                    </a:p>
                  </a:txBody>
                  <a:tcPr marL="109728" marR="109728" marT="36576" marB="36576" anchor="ctr">
                    <a:lnL w="9525" cap="flat" cmpd="sng" algn="ctr">
                      <a:solidFill>
                        <a:srgbClr val="C9D1E3"/>
                      </a:solidFill>
                      <a:prstDash val="solid"/>
                    </a:lnL>
                    <a:lnR w="9525" cap="flat" cmpd="sng" algn="ctr">
                      <a:solidFill>
                        <a:srgbClr val="C9D1E3"/>
                      </a:solidFill>
                      <a:prstDash val="solid"/>
                    </a:lnR>
                    <a:lnT w="9525" cap="flat" cmpd="sng" algn="ctr">
                      <a:solidFill>
                        <a:srgbClr val="C9D1E3"/>
                      </a:solidFill>
                      <a:prstDash val="solid"/>
                    </a:lnT>
                    <a:lnB w="9525" cap="flat" cmpd="sng" algn="ctr">
                      <a:solidFill>
                        <a:srgbClr val="C9D1E3"/>
                      </a:solidFill>
                      <a:prstDash val="solid"/>
                    </a:lnB>
                    <a:solidFill>
                      <a:srgbClr val="F4F6FA"/>
                    </a:solidFill>
                  </a:tcPr>
                </a:tc>
                <a:tc>
                  <a:txBody>
                    <a:bodyPr/>
                    <a:lstStyle/>
                    <a:p>
                      <a:pPr algn="l">
                        <a:spcBef>
                          <a:spcPts val="0"/>
                        </a:spcBef>
                        <a:spcAft>
                          <a:spcPts val="0"/>
                        </a:spcAft>
                        <a:buNone/>
                      </a:pPr>
                      <a:r>
                        <a:rPr lang="vi-VN" sz="1400" b="0" i="0" dirty="0">
                          <a:solidFill>
                            <a:srgbClr val="1F2433"/>
                          </a:solidFill>
                          <a:latin typeface="Times New Roman"/>
                          <a:cs typeface="Times New Roman"/>
                        </a:rPr>
                        <a:t>TC-31 – TC-36</a:t>
                      </a:r>
                      <a:r>
                        <a:rPr lang="vi-VN" sz="1400" b="1" i="0" dirty="0">
                          <a:solidFill>
                            <a:srgbClr val="2E7D32"/>
                          </a:solidFill>
                          <a:latin typeface="Times New Roman"/>
                          <a:cs typeface="Times New Roman"/>
                        </a:rPr>
                        <a:t>  ·  Đạt</a:t>
                      </a:r>
                    </a:p>
                  </a:txBody>
                  <a:tcPr marL="109728" marR="109728" marT="36576" marB="36576" anchor="ctr">
                    <a:lnL w="9525" cap="flat" cmpd="sng" algn="ctr">
                      <a:solidFill>
                        <a:srgbClr val="C9D1E3"/>
                      </a:solidFill>
                      <a:prstDash val="solid"/>
                    </a:lnL>
                    <a:lnR w="9525" cap="flat" cmpd="sng" algn="ctr">
                      <a:solidFill>
                        <a:srgbClr val="C9D1E3"/>
                      </a:solidFill>
                      <a:prstDash val="solid"/>
                    </a:lnR>
                    <a:lnT w="9525" cap="flat" cmpd="sng" algn="ctr">
                      <a:solidFill>
                        <a:srgbClr val="C9D1E3"/>
                      </a:solidFill>
                      <a:prstDash val="solid"/>
                    </a:lnT>
                    <a:lnB w="9525" cap="flat" cmpd="sng" algn="ctr">
                      <a:solidFill>
                        <a:srgbClr val="C9D1E3"/>
                      </a:solidFill>
                      <a:prstDash val="solid"/>
                    </a:lnB>
                    <a:solidFill>
                      <a:srgbClr val="F4F6FA"/>
                    </a:solidFill>
                  </a:tcPr>
                </a:tc>
                <a:extLst>
                  <a:ext uri="{0D108BD9-81ED-4DB2-BD59-A6C34878D82A}">
                    <a16:rowId xmlns:a16="http://schemas.microsoft.com/office/drawing/2014/main" val="10006"/>
                  </a:ext>
                </a:extLst>
              </a:tr>
              <a:tr h="438912">
                <a:tc>
                  <a:txBody>
                    <a:bodyPr/>
                    <a:lstStyle/>
                    <a:p>
                      <a:pPr algn="ctr">
                        <a:spcBef>
                          <a:spcPts val="0"/>
                        </a:spcBef>
                        <a:spcAft>
                          <a:spcPts val="0"/>
                        </a:spcAft>
                        <a:buNone/>
                      </a:pPr>
                      <a:r>
                        <a:rPr lang="vi-VN" sz="1400" b="1" i="0" dirty="0">
                          <a:solidFill>
                            <a:srgbClr val="223771"/>
                          </a:solidFill>
                          <a:latin typeface="Times New Roman"/>
                          <a:cs typeface="Times New Roman"/>
                        </a:rPr>
                        <a:t>BR-08</a:t>
                      </a:r>
                    </a:p>
                  </a:txBody>
                  <a:tcPr marL="109728" marR="109728" marT="36576" marB="36576" anchor="ctr">
                    <a:lnL w="9525" cap="flat" cmpd="sng" algn="ctr">
                      <a:solidFill>
                        <a:srgbClr val="C9D1E3"/>
                      </a:solidFill>
                      <a:prstDash val="solid"/>
                    </a:lnL>
                    <a:lnR w="9525" cap="flat" cmpd="sng" algn="ctr">
                      <a:solidFill>
                        <a:srgbClr val="C9D1E3"/>
                      </a:solidFill>
                      <a:prstDash val="solid"/>
                    </a:lnR>
                    <a:lnT w="9525" cap="flat" cmpd="sng" algn="ctr">
                      <a:solidFill>
                        <a:srgbClr val="C9D1E3"/>
                      </a:solidFill>
                      <a:prstDash val="solid"/>
                    </a:lnT>
                    <a:lnB w="9525" cap="flat" cmpd="sng" algn="ctr">
                      <a:solidFill>
                        <a:srgbClr val="C9D1E3"/>
                      </a:solidFill>
                      <a:prstDash val="solid"/>
                    </a:lnB>
                    <a:solidFill>
                      <a:srgbClr val="FFFFFF"/>
                    </a:solidFill>
                  </a:tcPr>
                </a:tc>
                <a:tc>
                  <a:txBody>
                    <a:bodyPr/>
                    <a:lstStyle/>
                    <a:p>
                      <a:pPr algn="l">
                        <a:spcBef>
                          <a:spcPts val="0"/>
                        </a:spcBef>
                        <a:spcAft>
                          <a:spcPts val="0"/>
                        </a:spcAft>
                        <a:buNone/>
                      </a:pPr>
                      <a:r>
                        <a:rPr lang="vi-VN" sz="1500" b="0" i="0" dirty="0">
                          <a:solidFill>
                            <a:srgbClr val="1F2433"/>
                          </a:solidFill>
                          <a:latin typeface="Times New Roman"/>
                          <a:cs typeface="Times New Roman"/>
                        </a:rPr>
                        <a:t>Nhắc hạn lúc 8:00 hằng ngày, trước hạn 1 và 3 ngày</a:t>
                      </a:r>
                    </a:p>
                  </a:txBody>
                  <a:tcPr marL="109728" marR="109728" marT="36576" marB="36576" anchor="ctr">
                    <a:lnL w="9525" cap="flat" cmpd="sng" algn="ctr">
                      <a:solidFill>
                        <a:srgbClr val="C9D1E3"/>
                      </a:solidFill>
                      <a:prstDash val="solid"/>
                    </a:lnL>
                    <a:lnR w="9525" cap="flat" cmpd="sng" algn="ctr">
                      <a:solidFill>
                        <a:srgbClr val="C9D1E3"/>
                      </a:solidFill>
                      <a:prstDash val="solid"/>
                    </a:lnR>
                    <a:lnT w="9525" cap="flat" cmpd="sng" algn="ctr">
                      <a:solidFill>
                        <a:srgbClr val="C9D1E3"/>
                      </a:solidFill>
                      <a:prstDash val="solid"/>
                    </a:lnT>
                    <a:lnB w="9525" cap="flat" cmpd="sng" algn="ctr">
                      <a:solidFill>
                        <a:srgbClr val="C9D1E3"/>
                      </a:solidFill>
                      <a:prstDash val="solid"/>
                    </a:lnB>
                    <a:solidFill>
                      <a:srgbClr val="FFFFFF"/>
                    </a:solidFill>
                  </a:tcPr>
                </a:tc>
                <a:tc>
                  <a:txBody>
                    <a:bodyPr/>
                    <a:lstStyle/>
                    <a:p>
                      <a:pPr algn="l">
                        <a:spcBef>
                          <a:spcPts val="0"/>
                        </a:spcBef>
                        <a:spcAft>
                          <a:spcPts val="0"/>
                        </a:spcAft>
                        <a:buNone/>
                      </a:pPr>
                      <a:r>
                        <a:rPr lang="vi-VN" sz="1400" b="0" i="0" dirty="0">
                          <a:solidFill>
                            <a:srgbClr val="1F2433"/>
                          </a:solidFill>
                          <a:latin typeface="Times New Roman"/>
                          <a:cs typeface="Times New Roman"/>
                        </a:rPr>
                        <a:t>TC-52</a:t>
                      </a:r>
                      <a:r>
                        <a:rPr lang="vi-VN" sz="1400" b="1" i="0" dirty="0">
                          <a:solidFill>
                            <a:srgbClr val="2E7D32"/>
                          </a:solidFill>
                          <a:latin typeface="Times New Roman"/>
                          <a:cs typeface="Times New Roman"/>
                        </a:rPr>
                        <a:t>  ·  Đạt</a:t>
                      </a:r>
                    </a:p>
                  </a:txBody>
                  <a:tcPr marL="109728" marR="109728" marT="36576" marB="36576" anchor="ctr">
                    <a:lnL w="9525" cap="flat" cmpd="sng" algn="ctr">
                      <a:solidFill>
                        <a:srgbClr val="C9D1E3"/>
                      </a:solidFill>
                      <a:prstDash val="solid"/>
                    </a:lnL>
                    <a:lnR w="9525" cap="flat" cmpd="sng" algn="ctr">
                      <a:solidFill>
                        <a:srgbClr val="C9D1E3"/>
                      </a:solidFill>
                      <a:prstDash val="solid"/>
                    </a:lnR>
                    <a:lnT w="9525" cap="flat" cmpd="sng" algn="ctr">
                      <a:solidFill>
                        <a:srgbClr val="C9D1E3"/>
                      </a:solidFill>
                      <a:prstDash val="solid"/>
                    </a:lnT>
                    <a:lnB w="9525" cap="flat" cmpd="sng" algn="ctr">
                      <a:solidFill>
                        <a:srgbClr val="C9D1E3"/>
                      </a:solidFill>
                      <a:prstDash val="solid"/>
                    </a:lnB>
                    <a:solidFill>
                      <a:srgbClr val="FFFFFF"/>
                    </a:solidFill>
                  </a:tcPr>
                </a:tc>
                <a:extLst>
                  <a:ext uri="{0D108BD9-81ED-4DB2-BD59-A6C34878D82A}">
                    <a16:rowId xmlns:a16="http://schemas.microsoft.com/office/drawing/2014/main" val="10007"/>
                  </a:ext>
                </a:extLst>
              </a:tr>
            </a:tbl>
          </a:graphicData>
        </a:graphic>
      </p:graphicFrame>
      <p:sp>
        <p:nvSpPr>
          <p:cNvPr id="6" name="Shape 6"/>
          <p:cNvSpPr/>
          <p:nvPr/>
        </p:nvSpPr>
        <p:spPr>
          <a:xfrm>
            <a:off x="457200" y="5212080"/>
            <a:ext cx="5500116" cy="731520"/>
          </a:xfrm>
          <a:prstGeom prst="roundRect">
            <a:avLst>
              <a:gd name="adj" fmla="val 10000"/>
            </a:avLst>
          </a:prstGeom>
          <a:solidFill>
            <a:srgbClr val="FDEEE4"/>
          </a:solidFill>
          <a:ln>
            <a:noFill/>
          </a:ln>
        </p:spPr>
        <p:txBody>
          <a:bodyPr wrap="square" lIns="228600" tIns="0" rIns="182880" bIns="0" rtlCol="0" anchor="ctr">
            <a:noAutofit/>
          </a:bodyPr>
          <a:lstStyle/>
          <a:p>
            <a:pPr algn="l">
              <a:spcBef>
                <a:spcPts val="0"/>
              </a:spcBef>
              <a:spcAft>
                <a:spcPts val="0"/>
              </a:spcAft>
              <a:buNone/>
            </a:pPr>
            <a:r>
              <a:rPr lang="vi-VN" sz="1700" b="1" i="0" dirty="0">
                <a:solidFill>
                  <a:srgbClr val="B4470F"/>
                </a:solidFill>
                <a:latin typeface="Times New Roman"/>
                <a:cs typeface="Times New Roman"/>
              </a:rPr>
              <a:t>Ví dụ thật: </a:t>
            </a:r>
            <a:r>
              <a:rPr lang="vi-VN" sz="1700" b="0" i="0" dirty="0">
                <a:solidFill>
                  <a:srgbClr val="1F2433"/>
                </a:solidFill>
                <a:latin typeface="Times New Roman"/>
                <a:cs typeface="Times New Roman"/>
              </a:rPr>
              <a:t>trả trễ 10 ngày → phạt đúng </a:t>
            </a:r>
            <a:r>
              <a:rPr lang="vi-VN" sz="1700" b="1" i="0" dirty="0">
                <a:solidFill>
                  <a:srgbClr val="223771"/>
                </a:solidFill>
                <a:latin typeface="Times New Roman"/>
                <a:cs typeface="Times New Roman"/>
              </a:rPr>
              <a:t>20.000 đ</a:t>
            </a:r>
          </a:p>
        </p:txBody>
      </p:sp>
      <p:sp>
        <p:nvSpPr>
          <p:cNvPr id="7" name="Shape 7"/>
          <p:cNvSpPr/>
          <p:nvPr/>
        </p:nvSpPr>
        <p:spPr>
          <a:xfrm>
            <a:off x="6231636" y="5212080"/>
            <a:ext cx="5500116" cy="731520"/>
          </a:xfrm>
          <a:prstGeom prst="roundRect">
            <a:avLst>
              <a:gd name="adj" fmla="val 10000"/>
            </a:avLst>
          </a:prstGeom>
          <a:solidFill>
            <a:srgbClr val="FDEEE4"/>
          </a:solidFill>
          <a:ln>
            <a:noFill/>
          </a:ln>
        </p:spPr>
        <p:txBody>
          <a:bodyPr wrap="square" lIns="228600" tIns="0" rIns="182880" bIns="0" rtlCol="0" anchor="ctr">
            <a:noAutofit/>
          </a:bodyPr>
          <a:lstStyle/>
          <a:p>
            <a:pPr algn="l">
              <a:spcBef>
                <a:spcPts val="0"/>
              </a:spcBef>
              <a:spcAft>
                <a:spcPts val="0"/>
              </a:spcAft>
              <a:buNone/>
            </a:pPr>
            <a:r>
              <a:rPr lang="vi-VN" sz="1700" b="1" i="0" dirty="0">
                <a:solidFill>
                  <a:srgbClr val="B4470F"/>
                </a:solidFill>
                <a:latin typeface="Times New Roman"/>
                <a:cs typeface="Times New Roman"/>
              </a:rPr>
              <a:t>Ví dụ thật: </a:t>
            </a:r>
            <a:r>
              <a:rPr lang="vi-VN" sz="1700" b="0" i="0" dirty="0">
                <a:solidFill>
                  <a:srgbClr val="1F2433"/>
                </a:solidFill>
                <a:latin typeface="Times New Roman"/>
                <a:cs typeface="Times New Roman"/>
              </a:rPr>
              <a:t>sách hỏng giá 112.000 đ → phạt </a:t>
            </a:r>
            <a:r>
              <a:rPr lang="vi-VN" sz="1700" b="1" i="0" dirty="0">
                <a:solidFill>
                  <a:srgbClr val="223771"/>
                </a:solidFill>
                <a:latin typeface="Times New Roman"/>
                <a:cs typeface="Times New Roman"/>
              </a:rPr>
              <a:t>33.600 đ</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b="1" dirty="0">
                <a:solidFill>
                  <a:srgbClr val="223771"/>
                </a:solidFill>
                <a:latin typeface="Times New Roman"/>
                <a:cs typeface="Times New Roman"/>
              </a:rPr>
              <a:t>LUỒNG MƯỢN – DUYỆT – TRẢ</a:t>
            </a:r>
          </a:p>
        </p:txBody>
      </p:sp>
      <p:sp>
        <p:nvSpPr>
          <p:cNvPr id="4" name="TextBox 4"/>
          <p:cNvSpPr txBox="1"/>
          <p:nvPr/>
        </p:nvSpPr>
        <p:spPr>
          <a:xfrm>
            <a:off x="457200" y="896112"/>
            <a:ext cx="11274552" cy="411480"/>
          </a:xfrm>
          <a:prstGeom prst="rect">
            <a:avLst/>
          </a:prstGeom>
          <a:noFill/>
          <a:ln>
            <a:noFill/>
          </a:ln>
        </p:spPr>
        <p:txBody>
          <a:bodyPr wrap="square" lIns="0" tIns="0" rIns="0" bIns="0" rtlCol="0" anchor="ctr">
            <a:noAutofit/>
          </a:bodyPr>
          <a:lstStyle/>
          <a:p>
            <a:pPr algn="l">
              <a:spcBef>
                <a:spcPts val="0"/>
              </a:spcBef>
              <a:spcAft>
                <a:spcPts val="0"/>
              </a:spcAft>
              <a:buNone/>
            </a:pPr>
            <a:r>
              <a:rPr lang="vi-VN" sz="1800" b="0" i="1" dirty="0">
                <a:solidFill>
                  <a:srgbClr val="5A6272"/>
                </a:solidFill>
                <a:latin typeface="Times New Roman"/>
                <a:cs typeface="Times New Roman"/>
              </a:rPr>
              <a:t>Kho chỉ thay đổi khi thủ thư duyệt và khi sách được trả</a:t>
            </a:r>
          </a:p>
        </p:txBody>
      </p:sp>
      <p:sp>
        <p:nvSpPr>
          <p:cNvPr id="5" name="Card 5"/>
          <p:cNvSpPr/>
          <p:nvPr/>
        </p:nvSpPr>
        <p:spPr>
          <a:xfrm>
            <a:off x="457200" y="1463040"/>
            <a:ext cx="2612898" cy="1051560"/>
          </a:xfrm>
          <a:prstGeom prst="roundRect">
            <a:avLst>
              <a:gd name="adj" fmla="val 6956"/>
            </a:avLst>
          </a:prstGeom>
          <a:solidFill>
            <a:srgbClr val="E9EDF6"/>
          </a:solidFill>
          <a:ln>
            <a:noFill/>
          </a:ln>
        </p:spPr>
      </p:sp>
      <p:sp>
        <p:nvSpPr>
          <p:cNvPr id="6" name="Number 6"/>
          <p:cNvSpPr/>
          <p:nvPr/>
        </p:nvSpPr>
        <p:spPr>
          <a:xfrm>
            <a:off x="621792" y="1719072"/>
            <a:ext cx="548640" cy="548640"/>
          </a:xfrm>
          <a:prstGeom prst="ellipse">
            <a:avLst/>
          </a:prstGeom>
          <a:solidFill>
            <a:srgbClr val="223771"/>
          </a:solidFill>
          <a:ln>
            <a:noFill/>
          </a:ln>
        </p:spPr>
        <p:txBody>
          <a:bodyPr wrap="square" lIns="0" tIns="0" rIns="0" bIns="0" rtlCol="0" anchor="ctr">
            <a:noAutofit/>
          </a:bodyPr>
          <a:lstStyle/>
          <a:p>
            <a:pPr algn="ctr">
              <a:spcBef>
                <a:spcPts val="0"/>
              </a:spcBef>
              <a:spcAft>
                <a:spcPts val="0"/>
              </a:spcAft>
              <a:buNone/>
            </a:pPr>
            <a:r>
              <a:rPr lang="vi-VN" sz="2000" b="1" i="0" dirty="0">
                <a:solidFill>
                  <a:srgbClr val="FFFFFF"/>
                </a:solidFill>
                <a:latin typeface="Times New Roman"/>
                <a:cs typeface="Times New Roman"/>
              </a:rPr>
              <a:t>1</a:t>
            </a:r>
          </a:p>
        </p:txBody>
      </p:sp>
      <p:sp>
        <p:nvSpPr>
          <p:cNvPr id="7" name="TextBox 7"/>
          <p:cNvSpPr txBox="1"/>
          <p:nvPr/>
        </p:nvSpPr>
        <p:spPr>
          <a:xfrm>
            <a:off x="1298448" y="1463040"/>
            <a:ext cx="1698498" cy="1051560"/>
          </a:xfrm>
          <a:prstGeom prst="rect">
            <a:avLst/>
          </a:prstGeom>
          <a:noFill/>
          <a:ln>
            <a:noFill/>
          </a:ln>
        </p:spPr>
        <p:txBody>
          <a:bodyPr wrap="square" lIns="0" tIns="0" rIns="0" bIns="0" rtlCol="0" anchor="ctr">
            <a:noAutofit/>
          </a:bodyPr>
          <a:lstStyle/>
          <a:p>
            <a:pPr algn="l">
              <a:spcBef>
                <a:spcPts val="0"/>
              </a:spcBef>
              <a:spcAft>
                <a:spcPts val="0"/>
              </a:spcAft>
              <a:buNone/>
            </a:pPr>
            <a:r>
              <a:rPr lang="vi-VN" sz="1600" b="1" i="0" dirty="0">
                <a:solidFill>
                  <a:srgbClr val="1F2433"/>
                </a:solidFill>
                <a:latin typeface="Times New Roman"/>
                <a:cs typeface="Times New Roman"/>
              </a:rPr>
              <a:t>Độc giả gửi yêu cầu</a:t>
            </a:r>
          </a:p>
          <a:p>
            <a:pPr algn="l">
              <a:spcBef>
                <a:spcPts val="200"/>
              </a:spcBef>
              <a:spcAft>
                <a:spcPts val="0"/>
              </a:spcAft>
              <a:buNone/>
            </a:pPr>
            <a:r>
              <a:rPr lang="vi-VN" sz="1400" b="0" i="0" dirty="0">
                <a:solidFill>
                  <a:srgbClr val="5A6272"/>
                </a:solidFill>
                <a:latin typeface="Times New Roman"/>
                <a:cs typeface="Times New Roman"/>
              </a:rPr>
              <a:t>kho chưa thay đổi</a:t>
            </a:r>
          </a:p>
        </p:txBody>
      </p:sp>
      <p:sp>
        <p:nvSpPr>
          <p:cNvPr id="8" name="Arrow 8"/>
          <p:cNvSpPr/>
          <p:nvPr/>
        </p:nvSpPr>
        <p:spPr>
          <a:xfrm>
            <a:off x="3115818" y="1856232"/>
            <a:ext cx="182880" cy="274320"/>
          </a:xfrm>
          <a:prstGeom prst="rightArrow">
            <a:avLst/>
          </a:prstGeom>
          <a:solidFill>
            <a:srgbClr val="5A6272"/>
          </a:solidFill>
          <a:ln>
            <a:noFill/>
          </a:ln>
        </p:spPr>
      </p:sp>
      <p:sp>
        <p:nvSpPr>
          <p:cNvPr id="9" name="Card 9"/>
          <p:cNvSpPr/>
          <p:nvPr/>
        </p:nvSpPr>
        <p:spPr>
          <a:xfrm>
            <a:off x="3344418" y="1463040"/>
            <a:ext cx="2612898" cy="1051560"/>
          </a:xfrm>
          <a:prstGeom prst="roundRect">
            <a:avLst>
              <a:gd name="adj" fmla="val 6956"/>
            </a:avLst>
          </a:prstGeom>
          <a:solidFill>
            <a:srgbClr val="E9EDF6"/>
          </a:solidFill>
          <a:ln>
            <a:noFill/>
          </a:ln>
        </p:spPr>
      </p:sp>
      <p:sp>
        <p:nvSpPr>
          <p:cNvPr id="10" name="Number 10"/>
          <p:cNvSpPr/>
          <p:nvPr/>
        </p:nvSpPr>
        <p:spPr>
          <a:xfrm>
            <a:off x="3509010" y="1719072"/>
            <a:ext cx="548640" cy="548640"/>
          </a:xfrm>
          <a:prstGeom prst="ellipse">
            <a:avLst/>
          </a:prstGeom>
          <a:solidFill>
            <a:srgbClr val="223771"/>
          </a:solidFill>
          <a:ln>
            <a:noFill/>
          </a:ln>
        </p:spPr>
        <p:txBody>
          <a:bodyPr wrap="square" lIns="0" tIns="0" rIns="0" bIns="0" rtlCol="0" anchor="ctr">
            <a:noAutofit/>
          </a:bodyPr>
          <a:lstStyle/>
          <a:p>
            <a:pPr algn="ctr">
              <a:spcBef>
                <a:spcPts val="0"/>
              </a:spcBef>
              <a:spcAft>
                <a:spcPts val="0"/>
              </a:spcAft>
              <a:buNone/>
            </a:pPr>
            <a:r>
              <a:rPr lang="vi-VN" sz="2000" b="1" i="0" dirty="0">
                <a:solidFill>
                  <a:srgbClr val="FFFFFF"/>
                </a:solidFill>
                <a:latin typeface="Times New Roman"/>
                <a:cs typeface="Times New Roman"/>
              </a:rPr>
              <a:t>2</a:t>
            </a:r>
          </a:p>
        </p:txBody>
      </p:sp>
      <p:sp>
        <p:nvSpPr>
          <p:cNvPr id="11" name="TextBox 11"/>
          <p:cNvSpPr txBox="1"/>
          <p:nvPr/>
        </p:nvSpPr>
        <p:spPr>
          <a:xfrm>
            <a:off x="4185666" y="1463040"/>
            <a:ext cx="1698498" cy="1051560"/>
          </a:xfrm>
          <a:prstGeom prst="rect">
            <a:avLst/>
          </a:prstGeom>
          <a:noFill/>
          <a:ln>
            <a:noFill/>
          </a:ln>
        </p:spPr>
        <p:txBody>
          <a:bodyPr wrap="square" lIns="0" tIns="0" rIns="0" bIns="0" rtlCol="0" anchor="ctr">
            <a:noAutofit/>
          </a:bodyPr>
          <a:lstStyle/>
          <a:p>
            <a:pPr algn="l">
              <a:spcBef>
                <a:spcPts val="0"/>
              </a:spcBef>
              <a:spcAft>
                <a:spcPts val="0"/>
              </a:spcAft>
              <a:buNone/>
            </a:pPr>
            <a:r>
              <a:rPr lang="vi-VN" sz="1600" b="1" i="0" dirty="0">
                <a:solidFill>
                  <a:srgbClr val="1F2433"/>
                </a:solidFill>
                <a:latin typeface="Times New Roman"/>
                <a:cs typeface="Times New Roman"/>
              </a:rPr>
              <a:t>Thủ thư duyệt</a:t>
            </a:r>
          </a:p>
          <a:p>
            <a:pPr algn="l">
              <a:spcBef>
                <a:spcPts val="200"/>
              </a:spcBef>
              <a:spcAft>
                <a:spcPts val="0"/>
              </a:spcAft>
              <a:buNone/>
            </a:pPr>
            <a:r>
              <a:rPr lang="vi-VN" sz="1400" b="0" i="0" dirty="0">
                <a:solidFill>
                  <a:srgbClr val="5A6272"/>
                </a:solidFill>
                <a:latin typeface="Times New Roman"/>
                <a:cs typeface="Times New Roman"/>
              </a:rPr>
              <a:t>kho trừ 1 bản</a:t>
            </a:r>
          </a:p>
        </p:txBody>
      </p:sp>
      <p:sp>
        <p:nvSpPr>
          <p:cNvPr id="12" name="Arrow 12"/>
          <p:cNvSpPr/>
          <p:nvPr/>
        </p:nvSpPr>
        <p:spPr>
          <a:xfrm>
            <a:off x="6003036" y="1856232"/>
            <a:ext cx="182880" cy="274320"/>
          </a:xfrm>
          <a:prstGeom prst="rightArrow">
            <a:avLst/>
          </a:prstGeom>
          <a:solidFill>
            <a:srgbClr val="5A6272"/>
          </a:solidFill>
          <a:ln>
            <a:noFill/>
          </a:ln>
        </p:spPr>
      </p:sp>
      <p:sp>
        <p:nvSpPr>
          <p:cNvPr id="13" name="Card 13"/>
          <p:cNvSpPr/>
          <p:nvPr/>
        </p:nvSpPr>
        <p:spPr>
          <a:xfrm>
            <a:off x="6231636" y="1463040"/>
            <a:ext cx="2612898" cy="1051560"/>
          </a:xfrm>
          <a:prstGeom prst="roundRect">
            <a:avLst>
              <a:gd name="adj" fmla="val 6956"/>
            </a:avLst>
          </a:prstGeom>
          <a:solidFill>
            <a:srgbClr val="E9EDF6"/>
          </a:solidFill>
          <a:ln>
            <a:noFill/>
          </a:ln>
        </p:spPr>
      </p:sp>
      <p:sp>
        <p:nvSpPr>
          <p:cNvPr id="14" name="Number 14"/>
          <p:cNvSpPr/>
          <p:nvPr/>
        </p:nvSpPr>
        <p:spPr>
          <a:xfrm>
            <a:off x="6396228" y="1719072"/>
            <a:ext cx="548640" cy="548640"/>
          </a:xfrm>
          <a:prstGeom prst="ellipse">
            <a:avLst/>
          </a:prstGeom>
          <a:solidFill>
            <a:srgbClr val="223771"/>
          </a:solidFill>
          <a:ln>
            <a:noFill/>
          </a:ln>
        </p:spPr>
        <p:txBody>
          <a:bodyPr wrap="square" lIns="0" tIns="0" rIns="0" bIns="0" rtlCol="0" anchor="ctr">
            <a:noAutofit/>
          </a:bodyPr>
          <a:lstStyle/>
          <a:p>
            <a:pPr algn="ctr">
              <a:spcBef>
                <a:spcPts val="0"/>
              </a:spcBef>
              <a:spcAft>
                <a:spcPts val="0"/>
              </a:spcAft>
              <a:buNone/>
            </a:pPr>
            <a:r>
              <a:rPr lang="vi-VN" sz="2000" b="1" i="0" dirty="0">
                <a:solidFill>
                  <a:srgbClr val="FFFFFF"/>
                </a:solidFill>
                <a:latin typeface="Times New Roman"/>
                <a:cs typeface="Times New Roman"/>
              </a:rPr>
              <a:t>3</a:t>
            </a:r>
          </a:p>
        </p:txBody>
      </p:sp>
      <p:sp>
        <p:nvSpPr>
          <p:cNvPr id="15" name="TextBox 15"/>
          <p:cNvSpPr txBox="1"/>
          <p:nvPr/>
        </p:nvSpPr>
        <p:spPr>
          <a:xfrm>
            <a:off x="7072884" y="1463040"/>
            <a:ext cx="1698498" cy="1051560"/>
          </a:xfrm>
          <a:prstGeom prst="rect">
            <a:avLst/>
          </a:prstGeom>
          <a:noFill/>
          <a:ln>
            <a:noFill/>
          </a:ln>
        </p:spPr>
        <p:txBody>
          <a:bodyPr wrap="square" lIns="0" tIns="0" rIns="0" bIns="0" rtlCol="0" anchor="ctr">
            <a:noAutofit/>
          </a:bodyPr>
          <a:lstStyle/>
          <a:p>
            <a:pPr algn="l">
              <a:spcBef>
                <a:spcPts val="0"/>
              </a:spcBef>
              <a:spcAft>
                <a:spcPts val="0"/>
              </a:spcAft>
              <a:buNone/>
            </a:pPr>
            <a:r>
              <a:rPr lang="vi-VN" sz="1600" b="1" i="0" dirty="0">
                <a:solidFill>
                  <a:srgbClr val="1F2433"/>
                </a:solidFill>
                <a:latin typeface="Times New Roman"/>
                <a:cs typeface="Times New Roman"/>
              </a:rPr>
              <a:t>Xác nhận trả sách</a:t>
            </a:r>
          </a:p>
          <a:p>
            <a:pPr algn="l">
              <a:spcBef>
                <a:spcPts val="200"/>
              </a:spcBef>
              <a:spcAft>
                <a:spcPts val="0"/>
              </a:spcAft>
              <a:buNone/>
            </a:pPr>
            <a:r>
              <a:rPr lang="vi-VN" sz="1400" b="0" i="0" dirty="0">
                <a:solidFill>
                  <a:srgbClr val="5A6272"/>
                </a:solidFill>
                <a:latin typeface="Times New Roman"/>
                <a:cs typeface="Times New Roman"/>
              </a:rPr>
              <a:t>kho cộng lại</a:t>
            </a:r>
          </a:p>
        </p:txBody>
      </p:sp>
      <p:sp>
        <p:nvSpPr>
          <p:cNvPr id="16" name="Arrow 16"/>
          <p:cNvSpPr/>
          <p:nvPr/>
        </p:nvSpPr>
        <p:spPr>
          <a:xfrm>
            <a:off x="8890254" y="1856232"/>
            <a:ext cx="182880" cy="274320"/>
          </a:xfrm>
          <a:prstGeom prst="rightArrow">
            <a:avLst/>
          </a:prstGeom>
          <a:solidFill>
            <a:srgbClr val="5A6272"/>
          </a:solidFill>
          <a:ln>
            <a:noFill/>
          </a:ln>
        </p:spPr>
      </p:sp>
      <p:sp>
        <p:nvSpPr>
          <p:cNvPr id="17" name="Card 17"/>
          <p:cNvSpPr/>
          <p:nvPr/>
        </p:nvSpPr>
        <p:spPr>
          <a:xfrm>
            <a:off x="9118854" y="1463040"/>
            <a:ext cx="2612898" cy="1051560"/>
          </a:xfrm>
          <a:prstGeom prst="roundRect">
            <a:avLst>
              <a:gd name="adj" fmla="val 6956"/>
            </a:avLst>
          </a:prstGeom>
          <a:solidFill>
            <a:srgbClr val="E9EDF6"/>
          </a:solidFill>
          <a:ln>
            <a:noFill/>
          </a:ln>
        </p:spPr>
      </p:sp>
      <p:sp>
        <p:nvSpPr>
          <p:cNvPr id="18" name="Number 18"/>
          <p:cNvSpPr/>
          <p:nvPr/>
        </p:nvSpPr>
        <p:spPr>
          <a:xfrm>
            <a:off x="9283446" y="1719072"/>
            <a:ext cx="548640" cy="548640"/>
          </a:xfrm>
          <a:prstGeom prst="ellipse">
            <a:avLst/>
          </a:prstGeom>
          <a:solidFill>
            <a:srgbClr val="F26522"/>
          </a:solidFill>
          <a:ln>
            <a:noFill/>
          </a:ln>
        </p:spPr>
        <p:txBody>
          <a:bodyPr wrap="square" lIns="0" tIns="0" rIns="0" bIns="0" rtlCol="0" anchor="ctr">
            <a:noAutofit/>
          </a:bodyPr>
          <a:lstStyle/>
          <a:p>
            <a:pPr algn="ctr">
              <a:spcBef>
                <a:spcPts val="0"/>
              </a:spcBef>
              <a:spcAft>
                <a:spcPts val="0"/>
              </a:spcAft>
              <a:buNone/>
            </a:pPr>
            <a:r>
              <a:rPr lang="vi-VN" sz="2000" b="1" i="0" dirty="0">
                <a:solidFill>
                  <a:srgbClr val="FFFFFF"/>
                </a:solidFill>
                <a:latin typeface="Times New Roman"/>
                <a:cs typeface="Times New Roman"/>
              </a:rPr>
              <a:t>4</a:t>
            </a:r>
          </a:p>
        </p:txBody>
      </p:sp>
      <p:sp>
        <p:nvSpPr>
          <p:cNvPr id="19" name="TextBox 19"/>
          <p:cNvSpPr txBox="1"/>
          <p:nvPr/>
        </p:nvSpPr>
        <p:spPr>
          <a:xfrm>
            <a:off x="9960102" y="1463040"/>
            <a:ext cx="1698498" cy="1051560"/>
          </a:xfrm>
          <a:prstGeom prst="rect">
            <a:avLst/>
          </a:prstGeom>
          <a:noFill/>
          <a:ln>
            <a:noFill/>
          </a:ln>
        </p:spPr>
        <p:txBody>
          <a:bodyPr wrap="square" lIns="0" tIns="0" rIns="0" bIns="0" rtlCol="0" anchor="ctr">
            <a:noAutofit/>
          </a:bodyPr>
          <a:lstStyle/>
          <a:p>
            <a:pPr algn="l">
              <a:spcBef>
                <a:spcPts val="0"/>
              </a:spcBef>
              <a:spcAft>
                <a:spcPts val="0"/>
              </a:spcAft>
              <a:buNone/>
            </a:pPr>
            <a:r>
              <a:rPr lang="vi-VN" sz="1600" b="1" i="0" dirty="0">
                <a:solidFill>
                  <a:srgbClr val="1F2433"/>
                </a:solidFill>
                <a:latin typeface="Times New Roman"/>
                <a:cs typeface="Times New Roman"/>
              </a:rPr>
              <a:t>Hệ thống tự động</a:t>
            </a:r>
          </a:p>
          <a:p>
            <a:pPr algn="l">
              <a:spcBef>
                <a:spcPts val="200"/>
              </a:spcBef>
              <a:spcAft>
                <a:spcPts val="0"/>
              </a:spcAft>
              <a:buNone/>
            </a:pPr>
            <a:r>
              <a:rPr lang="vi-VN" sz="1400" b="0" i="0" dirty="0">
                <a:solidFill>
                  <a:srgbClr val="5A6272"/>
                </a:solidFill>
                <a:latin typeface="Times New Roman"/>
                <a:cs typeface="Times New Roman"/>
              </a:rPr>
              <a:t>tính phạt, báo người chờ</a:t>
            </a:r>
          </a:p>
        </p:txBody>
      </p:sp>
      <p:pic>
        <p:nvPicPr>
          <p:cNvPr id="20" name="Picture 20" descr="Hộp thoại gửi yêu cầu mượn sách với ô chọn ngày mượn và ngày trả"/>
          <p:cNvPicPr>
            <a:picLocks noChangeAspect="1"/>
          </p:cNvPicPr>
          <p:nvPr/>
        </p:nvPicPr>
        <p:blipFill>
          <a:blip r:embed="rId3"/>
          <a:stretch>
            <a:fillRect/>
          </a:stretch>
        </p:blipFill>
        <p:spPr>
          <a:xfrm>
            <a:off x="829818" y="2743200"/>
            <a:ext cx="4754880" cy="2971800"/>
          </a:xfrm>
          <a:prstGeom prst="rect">
            <a:avLst/>
          </a:prstGeom>
          <a:ln w="9525">
            <a:solidFill>
              <a:srgbClr val="C9D1E3"/>
            </a:solidFill>
          </a:ln>
        </p:spPr>
      </p:pic>
      <p:sp>
        <p:nvSpPr>
          <p:cNvPr id="21" name="TextBox 21"/>
          <p:cNvSpPr txBox="1"/>
          <p:nvPr/>
        </p:nvSpPr>
        <p:spPr>
          <a:xfrm>
            <a:off x="457200" y="5760720"/>
            <a:ext cx="5500116" cy="365760"/>
          </a:xfrm>
          <a:prstGeom prst="rect">
            <a:avLst/>
          </a:prstGeom>
          <a:noFill/>
          <a:ln>
            <a:noFill/>
          </a:ln>
        </p:spPr>
        <p:txBody>
          <a:bodyPr wrap="square" lIns="0" tIns="0" rIns="0" bIns="0" rtlCol="0" anchor="ctr">
            <a:noAutofit/>
          </a:bodyPr>
          <a:lstStyle/>
          <a:p>
            <a:pPr algn="ctr">
              <a:spcBef>
                <a:spcPts val="0"/>
              </a:spcBef>
              <a:spcAft>
                <a:spcPts val="0"/>
              </a:spcAft>
              <a:buNone/>
            </a:pPr>
            <a:r>
              <a:rPr lang="vi-VN" sz="1500" b="0" i="1" dirty="0">
                <a:solidFill>
                  <a:srgbClr val="5A6272"/>
                </a:solidFill>
                <a:latin typeface="Times New Roman"/>
                <a:cs typeface="Times New Roman"/>
              </a:rPr>
              <a:t>Độc giả chọn ngày mượn, ngày trả: 3 thao tác</a:t>
            </a:r>
          </a:p>
        </p:txBody>
      </p:sp>
      <p:pic>
        <p:nvPicPr>
          <p:cNvPr id="22" name="Picture 22" descr="Trang quản lý phiếu mượn của thủ thư với các nút duyệt và xác nhận trả"/>
          <p:cNvPicPr>
            <a:picLocks noChangeAspect="1"/>
          </p:cNvPicPr>
          <p:nvPr/>
        </p:nvPicPr>
        <p:blipFill>
          <a:blip r:embed="rId4"/>
          <a:stretch>
            <a:fillRect/>
          </a:stretch>
        </p:blipFill>
        <p:spPr>
          <a:xfrm>
            <a:off x="6604254" y="2743200"/>
            <a:ext cx="4754880" cy="2971800"/>
          </a:xfrm>
          <a:prstGeom prst="rect">
            <a:avLst/>
          </a:prstGeom>
          <a:ln w="9525">
            <a:solidFill>
              <a:srgbClr val="C9D1E3"/>
            </a:solidFill>
          </a:ln>
        </p:spPr>
      </p:pic>
      <p:sp>
        <p:nvSpPr>
          <p:cNvPr id="23" name="TextBox 23"/>
          <p:cNvSpPr txBox="1"/>
          <p:nvPr/>
        </p:nvSpPr>
        <p:spPr>
          <a:xfrm>
            <a:off x="6231636" y="5760720"/>
            <a:ext cx="5500116" cy="365760"/>
          </a:xfrm>
          <a:prstGeom prst="rect">
            <a:avLst/>
          </a:prstGeom>
          <a:noFill/>
          <a:ln>
            <a:noFill/>
          </a:ln>
        </p:spPr>
        <p:txBody>
          <a:bodyPr wrap="square" lIns="0" tIns="0" rIns="0" bIns="0" rtlCol="0" anchor="ctr">
            <a:noAutofit/>
          </a:bodyPr>
          <a:lstStyle/>
          <a:p>
            <a:pPr algn="ctr">
              <a:spcBef>
                <a:spcPts val="0"/>
              </a:spcBef>
              <a:spcAft>
                <a:spcPts val="0"/>
              </a:spcAft>
              <a:buNone/>
            </a:pPr>
            <a:r>
              <a:rPr lang="vi-VN" sz="1500" b="0" i="1" dirty="0">
                <a:solidFill>
                  <a:srgbClr val="5A6272"/>
                </a:solidFill>
                <a:latin typeface="Times New Roman"/>
                <a:cs typeface="Times New Roman"/>
              </a:rPr>
              <a:t>Thủ thư duyệt, in phiếu, xác nhận trả trên một màn hình</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b="1" dirty="0">
                <a:solidFill>
                  <a:srgbClr val="223771"/>
                </a:solidFill>
                <a:latin typeface="Times New Roman"/>
                <a:cs typeface="Times New Roman"/>
              </a:rPr>
              <a:t>TRỢ LÝ AI &amp; TIỀN PHẠT</a:t>
            </a:r>
          </a:p>
        </p:txBody>
      </p:sp>
      <p:sp>
        <p:nvSpPr>
          <p:cNvPr id="4" name="TextBox 4"/>
          <p:cNvSpPr txBox="1"/>
          <p:nvPr/>
        </p:nvSpPr>
        <p:spPr>
          <a:xfrm>
            <a:off x="457200" y="896112"/>
            <a:ext cx="11274552" cy="411480"/>
          </a:xfrm>
          <a:prstGeom prst="rect">
            <a:avLst/>
          </a:prstGeom>
          <a:noFill/>
          <a:ln>
            <a:noFill/>
          </a:ln>
        </p:spPr>
        <p:txBody>
          <a:bodyPr wrap="square" lIns="0" tIns="0" rIns="0" bIns="0" rtlCol="0" anchor="ctr">
            <a:noAutofit/>
          </a:bodyPr>
          <a:lstStyle/>
          <a:p>
            <a:pPr algn="l">
              <a:spcBef>
                <a:spcPts val="0"/>
              </a:spcBef>
              <a:spcAft>
                <a:spcPts val="0"/>
              </a:spcAft>
              <a:buNone/>
            </a:pPr>
            <a:r>
              <a:rPr lang="vi-VN" sz="1800" b="0" i="1" dirty="0">
                <a:solidFill>
                  <a:srgbClr val="5A6272"/>
                </a:solidFill>
                <a:latin typeface="Times New Roman"/>
                <a:cs typeface="Times New Roman"/>
              </a:rPr>
              <a:t>Hai tiện ích nổi bật: gợi ý sách bằng AI và tiền phạt minh bạch</a:t>
            </a:r>
          </a:p>
        </p:txBody>
      </p:sp>
      <p:sp>
        <p:nvSpPr>
          <p:cNvPr id="5" name="TextBox 5"/>
          <p:cNvSpPr txBox="1"/>
          <p:nvPr/>
        </p:nvSpPr>
        <p:spPr>
          <a:xfrm>
            <a:off x="457200" y="1417320"/>
            <a:ext cx="5500116" cy="411480"/>
          </a:xfrm>
          <a:prstGeom prst="rect">
            <a:avLst/>
          </a:prstGeom>
          <a:noFill/>
          <a:ln>
            <a:noFill/>
          </a:ln>
        </p:spPr>
        <p:txBody>
          <a:bodyPr wrap="square" lIns="0" tIns="0" rIns="0" bIns="0" rtlCol="0" anchor="ctr">
            <a:noAutofit/>
          </a:bodyPr>
          <a:lstStyle/>
          <a:p>
            <a:pPr algn="l">
              <a:spcBef>
                <a:spcPts val="0"/>
              </a:spcBef>
              <a:spcAft>
                <a:spcPts val="0"/>
              </a:spcAft>
              <a:buNone/>
            </a:pPr>
            <a:r>
              <a:rPr lang="vi-VN" sz="1900" b="1" i="0" dirty="0">
                <a:solidFill>
                  <a:srgbClr val="223771"/>
                </a:solidFill>
                <a:latin typeface="Times New Roman"/>
                <a:cs typeface="Times New Roman"/>
              </a:rPr>
              <a:t>Trợ lý AI gợi ý sách (Groq)</a:t>
            </a:r>
          </a:p>
        </p:txBody>
      </p:sp>
      <p:pic>
        <p:nvPicPr>
          <p:cNvPr id="6" name="Picture 6" descr="Khung trò chuyện với trợ lý AI đang gợi ý sách kèm thẻ sách"/>
          <p:cNvPicPr>
            <a:picLocks noChangeAspect="1"/>
          </p:cNvPicPr>
          <p:nvPr/>
        </p:nvPicPr>
        <p:blipFill>
          <a:blip r:embed="rId3"/>
          <a:stretch>
            <a:fillRect/>
          </a:stretch>
        </p:blipFill>
        <p:spPr>
          <a:xfrm>
            <a:off x="457200" y="1874520"/>
            <a:ext cx="5193792" cy="3246120"/>
          </a:xfrm>
          <a:prstGeom prst="rect">
            <a:avLst/>
          </a:prstGeom>
          <a:ln w="9525">
            <a:solidFill>
              <a:srgbClr val="C9D1E3"/>
            </a:solidFill>
          </a:ln>
        </p:spPr>
      </p:pic>
      <p:sp>
        <p:nvSpPr>
          <p:cNvPr id="7" name="TextBox 7"/>
          <p:cNvSpPr txBox="1"/>
          <p:nvPr/>
        </p:nvSpPr>
        <p:spPr>
          <a:xfrm>
            <a:off x="457200" y="5230368"/>
            <a:ext cx="5193792" cy="777240"/>
          </a:xfrm>
          <a:prstGeom prst="rect">
            <a:avLst/>
          </a:prstGeom>
          <a:noFill/>
          <a:ln>
            <a:noFill/>
          </a:ln>
        </p:spPr>
        <p:txBody>
          <a:bodyPr wrap="square" lIns="0" tIns="0" rIns="0" bIns="0" rtlCol="0" anchor="t">
            <a:noAutofit/>
          </a:bodyPr>
          <a:lstStyle/>
          <a:p>
            <a:pPr algn="l">
              <a:lnSpc>
                <a:spcPct val="105000"/>
              </a:lnSpc>
              <a:spcBef>
                <a:spcPts val="0"/>
              </a:spcBef>
              <a:spcAft>
                <a:spcPts val="0"/>
              </a:spcAft>
              <a:buNone/>
            </a:pPr>
            <a:r>
              <a:rPr lang="vi-VN" sz="1500" b="0" i="0" dirty="0">
                <a:solidFill>
                  <a:srgbClr val="1F2433"/>
                </a:solidFill>
                <a:latin typeface="Times New Roman"/>
                <a:cs typeface="Times New Roman"/>
              </a:rPr>
              <a:t>Chỉ gợi ý sách có trong thư viện, kèm thẻ sách để mượn ngay; phản hồi khoảng </a:t>
            </a:r>
            <a:r>
              <a:rPr lang="vi-VN" sz="1500" b="1" i="0" dirty="0">
                <a:solidFill>
                  <a:srgbClr val="223771"/>
                </a:solidFill>
                <a:latin typeface="Times New Roman"/>
                <a:cs typeface="Times New Roman"/>
              </a:rPr>
              <a:t>1,7 giây</a:t>
            </a:r>
            <a:r>
              <a:rPr lang="vi-VN" sz="1500" b="0" i="0" dirty="0">
                <a:solidFill>
                  <a:srgbClr val="1F2433"/>
                </a:solidFill>
                <a:latin typeface="Times New Roman"/>
                <a:cs typeface="Times New Roman"/>
              </a:rPr>
              <a:t>.</a:t>
            </a:r>
          </a:p>
        </p:txBody>
      </p:sp>
      <p:sp>
        <p:nvSpPr>
          <p:cNvPr id="8" name="TextBox 8"/>
          <p:cNvSpPr txBox="1"/>
          <p:nvPr/>
        </p:nvSpPr>
        <p:spPr>
          <a:xfrm>
            <a:off x="6231636" y="1417320"/>
            <a:ext cx="5500116" cy="411480"/>
          </a:xfrm>
          <a:prstGeom prst="rect">
            <a:avLst/>
          </a:prstGeom>
          <a:noFill/>
          <a:ln>
            <a:noFill/>
          </a:ln>
        </p:spPr>
        <p:txBody>
          <a:bodyPr wrap="square" lIns="0" tIns="0" rIns="0" bIns="0" rtlCol="0" anchor="ctr">
            <a:noAutofit/>
          </a:bodyPr>
          <a:lstStyle/>
          <a:p>
            <a:pPr algn="l">
              <a:spcBef>
                <a:spcPts val="0"/>
              </a:spcBef>
              <a:spcAft>
                <a:spcPts val="0"/>
              </a:spcAft>
              <a:buNone/>
            </a:pPr>
            <a:r>
              <a:rPr lang="vi-VN" sz="1900" b="1" i="0" dirty="0">
                <a:solidFill>
                  <a:srgbClr val="223771"/>
                </a:solidFill>
                <a:latin typeface="Times New Roman"/>
                <a:cs typeface="Times New Roman"/>
              </a:rPr>
              <a:t>Tiền phạt tự tính, thanh toán trực tuyến</a:t>
            </a:r>
          </a:p>
        </p:txBody>
      </p:sp>
      <p:pic>
        <p:nvPicPr>
          <p:cNvPr id="9" name="Picture 9" descr="Trang quản lý tiền phạt với các khoản phạt trễ hạn, hư hỏng và mất sách"/>
          <p:cNvPicPr>
            <a:picLocks noChangeAspect="1"/>
          </p:cNvPicPr>
          <p:nvPr/>
        </p:nvPicPr>
        <p:blipFill>
          <a:blip r:embed="rId4"/>
          <a:stretch>
            <a:fillRect/>
          </a:stretch>
        </p:blipFill>
        <p:spPr>
          <a:xfrm>
            <a:off x="6231636" y="1874520"/>
            <a:ext cx="5193792" cy="3246120"/>
          </a:xfrm>
          <a:prstGeom prst="rect">
            <a:avLst/>
          </a:prstGeom>
          <a:ln w="9525">
            <a:solidFill>
              <a:srgbClr val="C9D1E3"/>
            </a:solidFill>
          </a:ln>
        </p:spPr>
      </p:pic>
      <p:sp>
        <p:nvSpPr>
          <p:cNvPr id="10" name="TextBox 10"/>
          <p:cNvSpPr txBox="1"/>
          <p:nvPr/>
        </p:nvSpPr>
        <p:spPr>
          <a:xfrm>
            <a:off x="6231636" y="5230368"/>
            <a:ext cx="5193792" cy="777240"/>
          </a:xfrm>
          <a:prstGeom prst="rect">
            <a:avLst/>
          </a:prstGeom>
          <a:noFill/>
          <a:ln>
            <a:noFill/>
          </a:ln>
        </p:spPr>
        <p:txBody>
          <a:bodyPr wrap="square" lIns="0" tIns="0" rIns="0" bIns="0" rtlCol="0" anchor="t">
            <a:noAutofit/>
          </a:bodyPr>
          <a:lstStyle/>
          <a:p>
            <a:pPr algn="l">
              <a:lnSpc>
                <a:spcPct val="105000"/>
              </a:lnSpc>
              <a:spcBef>
                <a:spcPts val="0"/>
              </a:spcBef>
              <a:spcAft>
                <a:spcPts val="0"/>
              </a:spcAft>
              <a:buNone/>
            </a:pPr>
            <a:r>
              <a:rPr lang="vi-VN" sz="1500" b="0" i="0" dirty="0">
                <a:solidFill>
                  <a:srgbClr val="1F2433"/>
                </a:solidFill>
                <a:latin typeface="Times New Roman"/>
                <a:cs typeface="Times New Roman"/>
              </a:rPr>
              <a:t>Trễ 21 ngày: </a:t>
            </a:r>
            <a:r>
              <a:rPr lang="vi-VN" sz="1500" b="1" i="0" dirty="0">
                <a:solidFill>
                  <a:srgbClr val="223771"/>
                </a:solidFill>
                <a:latin typeface="Times New Roman"/>
                <a:cs typeface="Times New Roman"/>
              </a:rPr>
              <a:t>42.000 đ</a:t>
            </a:r>
            <a:r>
              <a:rPr lang="vi-VN" sz="1500" b="0" i="0" dirty="0">
                <a:solidFill>
                  <a:srgbClr val="1F2433"/>
                </a:solidFill>
                <a:latin typeface="Times New Roman"/>
                <a:cs typeface="Times New Roman"/>
              </a:rPr>
              <a:t> · hỏng: </a:t>
            </a:r>
            <a:r>
              <a:rPr lang="vi-VN" sz="1500" b="1" i="0" dirty="0">
                <a:solidFill>
                  <a:srgbClr val="223771"/>
                </a:solidFill>
                <a:latin typeface="Times New Roman"/>
                <a:cs typeface="Times New Roman"/>
              </a:rPr>
              <a:t>33.600 đ</a:t>
            </a:r>
            <a:r>
              <a:rPr lang="vi-VN" sz="1500" b="0" i="0" dirty="0">
                <a:solidFill>
                  <a:srgbClr val="1F2433"/>
                </a:solidFill>
                <a:latin typeface="Times New Roman"/>
                <a:cs typeface="Times New Roman"/>
              </a:rPr>
              <a:t> · mất: </a:t>
            </a:r>
            <a:r>
              <a:rPr lang="vi-VN" sz="1500" b="1" i="0" dirty="0">
                <a:solidFill>
                  <a:srgbClr val="223771"/>
                </a:solidFill>
                <a:latin typeface="Times New Roman"/>
                <a:cs typeface="Times New Roman"/>
              </a:rPr>
              <a:t>88.000 đ</a:t>
            </a:r>
            <a:r>
              <a:rPr lang="vi-VN" sz="1500" b="0" i="0" dirty="0">
                <a:solidFill>
                  <a:srgbClr val="1F2433"/>
                </a:solidFill>
                <a:latin typeface="Times New Roman"/>
                <a:cs typeface="Times New Roman"/>
              </a:rPr>
              <a:t>; trả qua VNPay, MoMo (sandbox).</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b="1" dirty="0">
                <a:solidFill>
                  <a:srgbClr val="223771"/>
                </a:solidFill>
                <a:latin typeface="Times New Roman"/>
                <a:cs typeface="Times New Roman"/>
              </a:rPr>
              <a:t>THỐNG KÊ &amp; BÁO CÁO</a:t>
            </a:r>
          </a:p>
        </p:txBody>
      </p:sp>
      <p:sp>
        <p:nvSpPr>
          <p:cNvPr id="4" name="TextBox 4"/>
          <p:cNvSpPr txBox="1"/>
          <p:nvPr/>
        </p:nvSpPr>
        <p:spPr>
          <a:xfrm>
            <a:off x="457200" y="896112"/>
            <a:ext cx="11274552" cy="411480"/>
          </a:xfrm>
          <a:prstGeom prst="rect">
            <a:avLst/>
          </a:prstGeom>
          <a:noFill/>
          <a:ln>
            <a:noFill/>
          </a:ln>
        </p:spPr>
        <p:txBody>
          <a:bodyPr wrap="square" lIns="0" tIns="0" rIns="0" bIns="0" rtlCol="0" anchor="ctr">
            <a:noAutofit/>
          </a:bodyPr>
          <a:lstStyle/>
          <a:p>
            <a:pPr algn="l">
              <a:spcBef>
                <a:spcPts val="0"/>
              </a:spcBef>
              <a:spcAft>
                <a:spcPts val="0"/>
              </a:spcAft>
              <a:buNone/>
            </a:pPr>
            <a:r>
              <a:rPr lang="vi-VN" sz="1800" b="0" i="1" dirty="0">
                <a:solidFill>
                  <a:srgbClr val="5A6272"/>
                </a:solidFill>
                <a:latin typeface="Times New Roman"/>
                <a:cs typeface="Times New Roman"/>
              </a:rPr>
              <a:t>Số liệu cho người quản lý ngay trên trang tổng quan</a:t>
            </a:r>
          </a:p>
        </p:txBody>
      </p:sp>
      <p:sp>
        <p:nvSpPr>
          <p:cNvPr id="5" name="TextBox 5"/>
          <p:cNvSpPr txBox="1"/>
          <p:nvPr/>
        </p:nvSpPr>
        <p:spPr>
          <a:xfrm>
            <a:off x="457200" y="1508760"/>
            <a:ext cx="5120640" cy="3291840"/>
          </a:xfrm>
          <a:prstGeom prst="rect">
            <a:avLst/>
          </a:prstGeom>
          <a:noFill/>
          <a:ln>
            <a:noFill/>
          </a:ln>
        </p:spPr>
        <p:txBody>
          <a:bodyPr wrap="square" lIns="0" tIns="0" rIns="0" bIns="0" rtlCol="0" anchor="t">
            <a:noAutofit/>
          </a:bodyPr>
          <a:lstStyle/>
          <a:p>
            <a:pPr marL="285750" indent="-285750" algn="l">
              <a:lnSpc>
                <a:spcPct val="105000"/>
              </a:lnSpc>
              <a:spcBef>
                <a:spcPts val="1000"/>
              </a:spcBef>
              <a:spcAft>
                <a:spcPts val="0"/>
              </a:spcAft>
              <a:buClr>
                <a:srgbClr val="F26522"/>
              </a:buClr>
              <a:buFont typeface="Arial"/>
              <a:buChar char="•"/>
            </a:pPr>
            <a:r>
              <a:rPr lang="vi-VN" sz="1800" b="0" i="0" dirty="0">
                <a:solidFill>
                  <a:srgbClr val="1F2433"/>
                </a:solidFill>
                <a:latin typeface="Times New Roman"/>
                <a:cs typeface="Times New Roman"/>
              </a:rPr>
              <a:t>Chỉ số: tổng sách, đang mượn, quá hạn, tiền phạt đã thu</a:t>
            </a:r>
          </a:p>
          <a:p>
            <a:pPr marL="285750" indent="-285750" algn="l">
              <a:lnSpc>
                <a:spcPct val="105000"/>
              </a:lnSpc>
              <a:spcBef>
                <a:spcPts val="1000"/>
              </a:spcBef>
              <a:spcAft>
                <a:spcPts val="0"/>
              </a:spcAft>
              <a:buClr>
                <a:srgbClr val="F26522"/>
              </a:buClr>
              <a:buFont typeface="Arial"/>
              <a:buChar char="•"/>
            </a:pPr>
            <a:r>
              <a:rPr lang="vi-VN" sz="1800" b="0" i="0" dirty="0">
                <a:solidFill>
                  <a:srgbClr val="1F2433"/>
                </a:solidFill>
                <a:latin typeface="Times New Roman"/>
                <a:cs typeface="Times New Roman"/>
              </a:rPr>
              <a:t>Biểu đồ lượt mượn – trả 6 tháng, cơ cấu sách theo danh mục</a:t>
            </a:r>
          </a:p>
          <a:p>
            <a:pPr marL="285750" indent="-285750" algn="l">
              <a:lnSpc>
                <a:spcPct val="105000"/>
              </a:lnSpc>
              <a:spcBef>
                <a:spcPts val="1000"/>
              </a:spcBef>
              <a:spcAft>
                <a:spcPts val="0"/>
              </a:spcAft>
              <a:buClr>
                <a:srgbClr val="F26522"/>
              </a:buClr>
              <a:buFont typeface="Arial"/>
              <a:buChar char="•"/>
            </a:pPr>
            <a:r>
              <a:rPr lang="vi-VN" sz="1800" b="0" i="0" dirty="0">
                <a:solidFill>
                  <a:srgbClr val="1F2433"/>
                </a:solidFill>
                <a:latin typeface="Times New Roman"/>
                <a:cs typeface="Times New Roman"/>
              </a:rPr>
              <a:t>Sách mượn nhiều nhất, độc giả tích cực nhất</a:t>
            </a:r>
          </a:p>
          <a:p>
            <a:pPr marL="285750" indent="-285750" algn="l">
              <a:lnSpc>
                <a:spcPct val="105000"/>
              </a:lnSpc>
              <a:spcBef>
                <a:spcPts val="1000"/>
              </a:spcBef>
              <a:spcAft>
                <a:spcPts val="0"/>
              </a:spcAft>
              <a:buClr>
                <a:srgbClr val="F26522"/>
              </a:buClr>
              <a:buFont typeface="Arial"/>
              <a:buChar char="•"/>
            </a:pPr>
            <a:r>
              <a:rPr lang="vi-VN" sz="1800" b="0" i="0" dirty="0">
                <a:solidFill>
                  <a:srgbClr val="1F2433"/>
                </a:solidFill>
                <a:latin typeface="Times New Roman"/>
                <a:cs typeface="Times New Roman"/>
              </a:rPr>
              <a:t>5 loại báo cáo, xuất Excel và PDF ngay trên trình duyệt</a:t>
            </a:r>
          </a:p>
        </p:txBody>
      </p:sp>
      <p:sp>
        <p:nvSpPr>
          <p:cNvPr id="6" name="Chip 6"/>
          <p:cNvSpPr/>
          <p:nvPr/>
        </p:nvSpPr>
        <p:spPr>
          <a:xfrm>
            <a:off x="457200" y="5074920"/>
            <a:ext cx="3108960" cy="438912"/>
          </a:xfrm>
          <a:prstGeom prst="roundRect">
            <a:avLst>
              <a:gd name="adj" fmla="val 50000"/>
            </a:avLst>
          </a:prstGeom>
          <a:solidFill>
            <a:srgbClr val="F26522"/>
          </a:solidFill>
          <a:ln>
            <a:noFill/>
          </a:ln>
        </p:spPr>
        <p:txBody>
          <a:bodyPr wrap="square" lIns="45720" tIns="0" rIns="45720" bIns="0" rtlCol="0" anchor="ctr">
            <a:noAutofit/>
          </a:bodyPr>
          <a:lstStyle/>
          <a:p>
            <a:pPr algn="ctr">
              <a:spcBef>
                <a:spcPts val="0"/>
              </a:spcBef>
              <a:spcAft>
                <a:spcPts val="0"/>
              </a:spcAft>
              <a:buNone/>
            </a:pPr>
            <a:r>
              <a:rPr lang="vi-VN" sz="1500" b="1" i="0" dirty="0">
                <a:solidFill>
                  <a:srgbClr val="FFFFFF"/>
                </a:solidFill>
                <a:latin typeface="Times New Roman"/>
                <a:cs typeface="Times New Roman"/>
              </a:rPr>
              <a:t>Giải quyết VĐ-05 · UC-15</a:t>
            </a:r>
          </a:p>
        </p:txBody>
      </p:sp>
      <p:pic>
        <p:nvPicPr>
          <p:cNvPr id="7" name="Picture 7" descr="Trang tổng quan của quản trị viên với các ô chỉ số, biểu đồ mượn trả và danh sách yêu cầu mượn mới"/>
          <p:cNvPicPr>
            <a:picLocks noChangeAspect="1"/>
          </p:cNvPicPr>
          <p:nvPr/>
        </p:nvPicPr>
        <p:blipFill>
          <a:blip r:embed="rId3"/>
          <a:stretch>
            <a:fillRect/>
          </a:stretch>
        </p:blipFill>
        <p:spPr>
          <a:xfrm>
            <a:off x="5897880" y="1417320"/>
            <a:ext cx="5715000" cy="4572000"/>
          </a:xfrm>
          <a:prstGeom prst="rect">
            <a:avLst/>
          </a:prstGeom>
          <a:ln w="9525">
            <a:solidFill>
              <a:srgbClr val="C9D1E3"/>
            </a:solid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b="1" dirty="0">
                <a:solidFill>
                  <a:srgbClr val="223771"/>
                </a:solidFill>
                <a:latin typeface="Times New Roman"/>
                <a:cs typeface="Times New Roman"/>
              </a:rPr>
              <a:t>KẾT QUẢ KIỂM THỬ</a:t>
            </a:r>
          </a:p>
        </p:txBody>
      </p:sp>
      <p:sp>
        <p:nvSpPr>
          <p:cNvPr id="4" name="TextBox 4"/>
          <p:cNvSpPr txBox="1"/>
          <p:nvPr/>
        </p:nvSpPr>
        <p:spPr>
          <a:xfrm>
            <a:off x="457200" y="896112"/>
            <a:ext cx="11274552" cy="411480"/>
          </a:xfrm>
          <a:prstGeom prst="rect">
            <a:avLst/>
          </a:prstGeom>
          <a:noFill/>
          <a:ln>
            <a:noFill/>
          </a:ln>
        </p:spPr>
        <p:txBody>
          <a:bodyPr wrap="square" lIns="0" tIns="0" rIns="0" bIns="0" rtlCol="0" anchor="ctr">
            <a:noAutofit/>
          </a:bodyPr>
          <a:lstStyle/>
          <a:p>
            <a:pPr algn="l">
              <a:spcBef>
                <a:spcPts val="0"/>
              </a:spcBef>
              <a:spcAft>
                <a:spcPts val="0"/>
              </a:spcAft>
              <a:buNone/>
            </a:pPr>
            <a:r>
              <a:rPr lang="vi-VN" sz="1800" b="0" i="1" dirty="0">
                <a:solidFill>
                  <a:srgbClr val="5A6272"/>
                </a:solidFill>
                <a:latin typeface="Times New Roman"/>
                <a:cs typeface="Times New Roman"/>
              </a:rPr>
              <a:t>Kiểm thử tự động trên hệ thống chạy thật</a:t>
            </a:r>
          </a:p>
        </p:txBody>
      </p:sp>
      <p:sp>
        <p:nvSpPr>
          <p:cNvPr id="5" name="Card 5"/>
          <p:cNvSpPr/>
          <p:nvPr/>
        </p:nvSpPr>
        <p:spPr>
          <a:xfrm>
            <a:off x="457200" y="1463040"/>
            <a:ext cx="5500116" cy="1371600"/>
          </a:xfrm>
          <a:prstGeom prst="roundRect">
            <a:avLst>
              <a:gd name="adj" fmla="val 5333"/>
            </a:avLst>
          </a:prstGeom>
          <a:solidFill>
            <a:srgbClr val="E9EDF6"/>
          </a:solidFill>
          <a:ln>
            <a:noFill/>
          </a:ln>
        </p:spPr>
      </p:sp>
      <p:sp>
        <p:nvSpPr>
          <p:cNvPr id="6" name="TextBox 6"/>
          <p:cNvSpPr txBox="1"/>
          <p:nvPr/>
        </p:nvSpPr>
        <p:spPr>
          <a:xfrm>
            <a:off x="731520" y="1463040"/>
            <a:ext cx="2468880" cy="1371600"/>
          </a:xfrm>
          <a:prstGeom prst="rect">
            <a:avLst/>
          </a:prstGeom>
          <a:noFill/>
          <a:ln>
            <a:noFill/>
          </a:ln>
        </p:spPr>
        <p:txBody>
          <a:bodyPr wrap="square" lIns="0" tIns="0" rIns="0" bIns="0" rtlCol="0" anchor="ctr">
            <a:noAutofit/>
          </a:bodyPr>
          <a:lstStyle/>
          <a:p>
            <a:pPr algn="l">
              <a:spcBef>
                <a:spcPts val="0"/>
              </a:spcBef>
              <a:spcAft>
                <a:spcPts val="0"/>
              </a:spcAft>
              <a:buNone/>
            </a:pPr>
            <a:r>
              <a:rPr lang="vi-VN" sz="4800" b="1" i="0" dirty="0">
                <a:solidFill>
                  <a:srgbClr val="223771"/>
                </a:solidFill>
                <a:latin typeface="Times New Roman"/>
                <a:cs typeface="Times New Roman"/>
              </a:rPr>
              <a:t>50/55</a:t>
            </a:r>
          </a:p>
        </p:txBody>
      </p:sp>
      <p:sp>
        <p:nvSpPr>
          <p:cNvPr id="7" name="TextBox 7"/>
          <p:cNvSpPr txBox="1"/>
          <p:nvPr/>
        </p:nvSpPr>
        <p:spPr>
          <a:xfrm>
            <a:off x="3291840" y="1463040"/>
            <a:ext cx="2482596" cy="1371600"/>
          </a:xfrm>
          <a:prstGeom prst="rect">
            <a:avLst/>
          </a:prstGeom>
          <a:noFill/>
          <a:ln>
            <a:noFill/>
          </a:ln>
        </p:spPr>
        <p:txBody>
          <a:bodyPr wrap="square" lIns="0" tIns="0" rIns="0" bIns="0" rtlCol="0" anchor="ctr">
            <a:noAutofit/>
          </a:bodyPr>
          <a:lstStyle/>
          <a:p>
            <a:pPr algn="l">
              <a:spcBef>
                <a:spcPts val="0"/>
              </a:spcBef>
              <a:spcAft>
                <a:spcPts val="0"/>
              </a:spcAft>
              <a:buNone/>
            </a:pPr>
            <a:r>
              <a:rPr lang="vi-VN" sz="1800" b="0" i="0" dirty="0">
                <a:solidFill>
                  <a:srgbClr val="1F2433"/>
                </a:solidFill>
                <a:latin typeface="Times New Roman"/>
                <a:cs typeface="Times New Roman"/>
              </a:rPr>
              <a:t>ca kiểm thử chức năng đạt</a:t>
            </a:r>
          </a:p>
        </p:txBody>
      </p:sp>
      <p:sp>
        <p:nvSpPr>
          <p:cNvPr id="8" name="Card 8"/>
          <p:cNvSpPr/>
          <p:nvPr/>
        </p:nvSpPr>
        <p:spPr>
          <a:xfrm>
            <a:off x="6231636" y="1463040"/>
            <a:ext cx="5500116" cy="1371600"/>
          </a:xfrm>
          <a:prstGeom prst="roundRect">
            <a:avLst>
              <a:gd name="adj" fmla="val 5333"/>
            </a:avLst>
          </a:prstGeom>
          <a:solidFill>
            <a:srgbClr val="E9EDF6"/>
          </a:solidFill>
          <a:ln>
            <a:noFill/>
          </a:ln>
        </p:spPr>
      </p:sp>
      <p:sp>
        <p:nvSpPr>
          <p:cNvPr id="9" name="TextBox 9"/>
          <p:cNvSpPr txBox="1"/>
          <p:nvPr/>
        </p:nvSpPr>
        <p:spPr>
          <a:xfrm>
            <a:off x="6505956" y="1463040"/>
            <a:ext cx="2468880" cy="1371600"/>
          </a:xfrm>
          <a:prstGeom prst="rect">
            <a:avLst/>
          </a:prstGeom>
          <a:noFill/>
          <a:ln>
            <a:noFill/>
          </a:ln>
        </p:spPr>
        <p:txBody>
          <a:bodyPr wrap="square" lIns="0" tIns="0" rIns="0" bIns="0" rtlCol="0" anchor="ctr">
            <a:noAutofit/>
          </a:bodyPr>
          <a:lstStyle/>
          <a:p>
            <a:pPr algn="l">
              <a:spcBef>
                <a:spcPts val="0"/>
              </a:spcBef>
              <a:spcAft>
                <a:spcPts val="0"/>
              </a:spcAft>
              <a:buNone/>
            </a:pPr>
            <a:r>
              <a:rPr lang="vi-VN" sz="4800" b="1" i="0" dirty="0">
                <a:solidFill>
                  <a:srgbClr val="223771"/>
                </a:solidFill>
                <a:latin typeface="Times New Roman"/>
                <a:cs typeface="Times New Roman"/>
              </a:rPr>
              <a:t>7/7</a:t>
            </a:r>
          </a:p>
        </p:txBody>
      </p:sp>
      <p:sp>
        <p:nvSpPr>
          <p:cNvPr id="10" name="TextBox 10"/>
          <p:cNvSpPr txBox="1"/>
          <p:nvPr/>
        </p:nvSpPr>
        <p:spPr>
          <a:xfrm>
            <a:off x="9066276" y="1463040"/>
            <a:ext cx="2482596" cy="1371600"/>
          </a:xfrm>
          <a:prstGeom prst="rect">
            <a:avLst/>
          </a:prstGeom>
          <a:noFill/>
          <a:ln>
            <a:noFill/>
          </a:ln>
        </p:spPr>
        <p:txBody>
          <a:bodyPr wrap="square" lIns="0" tIns="0" rIns="0" bIns="0" rtlCol="0" anchor="ctr">
            <a:noAutofit/>
          </a:bodyPr>
          <a:lstStyle/>
          <a:p>
            <a:pPr algn="l">
              <a:spcBef>
                <a:spcPts val="0"/>
              </a:spcBef>
              <a:spcAft>
                <a:spcPts val="0"/>
              </a:spcAft>
              <a:buNone/>
            </a:pPr>
            <a:r>
              <a:rPr lang="vi-VN" sz="1800" b="0" i="0" dirty="0">
                <a:solidFill>
                  <a:srgbClr val="1F2433"/>
                </a:solidFill>
                <a:latin typeface="Times New Roman"/>
                <a:cs typeface="Times New Roman"/>
              </a:rPr>
              <a:t>mục rà soát bảo mật đạt, sau khi khắc phục</a:t>
            </a:r>
          </a:p>
        </p:txBody>
      </p:sp>
      <p:sp>
        <p:nvSpPr>
          <p:cNvPr id="11" name="Card 11"/>
          <p:cNvSpPr/>
          <p:nvPr/>
        </p:nvSpPr>
        <p:spPr>
          <a:xfrm>
            <a:off x="457200" y="3017520"/>
            <a:ext cx="5500116" cy="1371600"/>
          </a:xfrm>
          <a:prstGeom prst="roundRect">
            <a:avLst>
              <a:gd name="adj" fmla="val 5333"/>
            </a:avLst>
          </a:prstGeom>
          <a:solidFill>
            <a:srgbClr val="E9EDF6"/>
          </a:solidFill>
          <a:ln>
            <a:noFill/>
          </a:ln>
        </p:spPr>
      </p:sp>
      <p:sp>
        <p:nvSpPr>
          <p:cNvPr id="12" name="TextBox 12"/>
          <p:cNvSpPr txBox="1"/>
          <p:nvPr/>
        </p:nvSpPr>
        <p:spPr>
          <a:xfrm>
            <a:off x="731520" y="3017520"/>
            <a:ext cx="2468880" cy="1371600"/>
          </a:xfrm>
          <a:prstGeom prst="rect">
            <a:avLst/>
          </a:prstGeom>
          <a:noFill/>
          <a:ln>
            <a:noFill/>
          </a:ln>
        </p:spPr>
        <p:txBody>
          <a:bodyPr wrap="square" lIns="0" tIns="0" rIns="0" bIns="0" rtlCol="0" anchor="ctr">
            <a:noAutofit/>
          </a:bodyPr>
          <a:lstStyle/>
          <a:p>
            <a:pPr algn="l">
              <a:spcBef>
                <a:spcPts val="0"/>
              </a:spcBef>
              <a:spcAft>
                <a:spcPts val="0"/>
              </a:spcAft>
              <a:buNone/>
            </a:pPr>
            <a:r>
              <a:rPr lang="vi-VN" sz="4800" b="1" i="0" dirty="0">
                <a:solidFill>
                  <a:srgbClr val="223771"/>
                </a:solidFill>
                <a:latin typeface="Times New Roman"/>
                <a:cs typeface="Times New Roman"/>
              </a:rPr>
              <a:t>5/5</a:t>
            </a:r>
          </a:p>
        </p:txBody>
      </p:sp>
      <p:sp>
        <p:nvSpPr>
          <p:cNvPr id="13" name="TextBox 13"/>
          <p:cNvSpPr txBox="1"/>
          <p:nvPr/>
        </p:nvSpPr>
        <p:spPr>
          <a:xfrm>
            <a:off x="3291840" y="3017520"/>
            <a:ext cx="2482596" cy="1371600"/>
          </a:xfrm>
          <a:prstGeom prst="rect">
            <a:avLst/>
          </a:prstGeom>
          <a:noFill/>
          <a:ln>
            <a:noFill/>
          </a:ln>
        </p:spPr>
        <p:txBody>
          <a:bodyPr wrap="square" lIns="0" tIns="0" rIns="0" bIns="0" rtlCol="0" anchor="ctr">
            <a:noAutofit/>
          </a:bodyPr>
          <a:lstStyle/>
          <a:p>
            <a:pPr algn="l">
              <a:spcBef>
                <a:spcPts val="0"/>
              </a:spcBef>
              <a:spcAft>
                <a:spcPts val="0"/>
              </a:spcAft>
              <a:buNone/>
            </a:pPr>
            <a:r>
              <a:rPr lang="vi-VN" sz="1800" b="0" i="0" dirty="0">
                <a:solidFill>
                  <a:srgbClr val="1F2433"/>
                </a:solidFill>
                <a:latin typeface="Times New Roman"/>
                <a:cs typeface="Times New Roman"/>
              </a:rPr>
              <a:t>phép đo hiệu năng đạt</a:t>
            </a:r>
          </a:p>
        </p:txBody>
      </p:sp>
      <p:sp>
        <p:nvSpPr>
          <p:cNvPr id="14" name="Card 14"/>
          <p:cNvSpPr/>
          <p:nvPr/>
        </p:nvSpPr>
        <p:spPr>
          <a:xfrm>
            <a:off x="6231636" y="3017520"/>
            <a:ext cx="5500116" cy="1371600"/>
          </a:xfrm>
          <a:prstGeom prst="roundRect">
            <a:avLst>
              <a:gd name="adj" fmla="val 5333"/>
            </a:avLst>
          </a:prstGeom>
          <a:solidFill>
            <a:srgbClr val="E9EDF6"/>
          </a:solidFill>
          <a:ln>
            <a:noFill/>
          </a:ln>
        </p:spPr>
      </p:sp>
      <p:sp>
        <p:nvSpPr>
          <p:cNvPr id="15" name="TextBox 15"/>
          <p:cNvSpPr txBox="1"/>
          <p:nvPr/>
        </p:nvSpPr>
        <p:spPr>
          <a:xfrm>
            <a:off x="6505956" y="3017520"/>
            <a:ext cx="2468880" cy="1371600"/>
          </a:xfrm>
          <a:prstGeom prst="rect">
            <a:avLst/>
          </a:prstGeom>
          <a:noFill/>
          <a:ln>
            <a:noFill/>
          </a:ln>
        </p:spPr>
        <p:txBody>
          <a:bodyPr wrap="square" lIns="0" tIns="0" rIns="0" bIns="0" rtlCol="0" anchor="ctr">
            <a:noAutofit/>
          </a:bodyPr>
          <a:lstStyle/>
          <a:p>
            <a:pPr algn="l">
              <a:spcBef>
                <a:spcPts val="0"/>
              </a:spcBef>
              <a:spcAft>
                <a:spcPts val="0"/>
              </a:spcAft>
              <a:buNone/>
            </a:pPr>
            <a:r>
              <a:rPr lang="vi-VN" sz="4800" b="1" i="0" dirty="0">
                <a:solidFill>
                  <a:srgbClr val="223771"/>
                </a:solidFill>
                <a:latin typeface="Times New Roman"/>
                <a:cs typeface="Times New Roman"/>
              </a:rPr>
              <a:t>95 ms</a:t>
            </a:r>
          </a:p>
        </p:txBody>
      </p:sp>
      <p:sp>
        <p:nvSpPr>
          <p:cNvPr id="16" name="TextBox 16"/>
          <p:cNvSpPr txBox="1"/>
          <p:nvPr/>
        </p:nvSpPr>
        <p:spPr>
          <a:xfrm>
            <a:off x="9066276" y="3017520"/>
            <a:ext cx="2482596" cy="1371600"/>
          </a:xfrm>
          <a:prstGeom prst="rect">
            <a:avLst/>
          </a:prstGeom>
          <a:noFill/>
          <a:ln>
            <a:noFill/>
          </a:ln>
        </p:spPr>
        <p:txBody>
          <a:bodyPr wrap="square" lIns="0" tIns="0" rIns="0" bIns="0" rtlCol="0" anchor="ctr">
            <a:noAutofit/>
          </a:bodyPr>
          <a:lstStyle/>
          <a:p>
            <a:pPr algn="l">
              <a:spcBef>
                <a:spcPts val="0"/>
              </a:spcBef>
              <a:spcAft>
                <a:spcPts val="0"/>
              </a:spcAft>
              <a:buNone/>
            </a:pPr>
            <a:r>
              <a:rPr lang="vi-VN" sz="1800" b="0" i="0" dirty="0">
                <a:solidFill>
                  <a:srgbClr val="1F2433"/>
                </a:solidFill>
                <a:latin typeface="Times New Roman"/>
                <a:cs typeface="Times New Roman"/>
              </a:rPr>
              <a:t>trung vị API tra cứu với 20 kết nối đồng thời</a:t>
            </a:r>
          </a:p>
        </p:txBody>
      </p:sp>
      <p:sp>
        <p:nvSpPr>
          <p:cNvPr id="17" name="Shape 17"/>
          <p:cNvSpPr/>
          <p:nvPr/>
        </p:nvSpPr>
        <p:spPr>
          <a:xfrm>
            <a:off x="457200" y="4617720"/>
            <a:ext cx="3575304" cy="502920"/>
          </a:xfrm>
          <a:prstGeom prst="roundRect">
            <a:avLst>
              <a:gd name="adj" fmla="val 50000"/>
            </a:avLst>
          </a:prstGeom>
          <a:solidFill>
            <a:srgbClr val="FFFFFF"/>
          </a:solidFill>
          <a:ln w="9525">
            <a:solidFill>
              <a:srgbClr val="C9D1E3"/>
            </a:solidFill>
          </a:ln>
        </p:spPr>
        <p:txBody>
          <a:bodyPr wrap="square" lIns="91440" tIns="0" rIns="91440" bIns="0" rtlCol="0" anchor="ctr">
            <a:noAutofit/>
          </a:bodyPr>
          <a:lstStyle/>
          <a:p>
            <a:pPr algn="ctr">
              <a:spcBef>
                <a:spcPts val="0"/>
              </a:spcBef>
              <a:spcAft>
                <a:spcPts val="0"/>
              </a:spcAft>
              <a:buNone/>
            </a:pPr>
            <a:r>
              <a:rPr lang="vi-VN" sz="1500" b="1" i="0" dirty="0">
                <a:solidFill>
                  <a:srgbClr val="223771"/>
                </a:solidFill>
                <a:latin typeface="Times New Roman"/>
                <a:cs typeface="Times New Roman"/>
              </a:rPr>
              <a:t>Hộp đen: </a:t>
            </a:r>
            <a:r>
              <a:rPr lang="vi-VN" sz="1500" b="0" i="0" dirty="0">
                <a:solidFill>
                  <a:srgbClr val="1F2433"/>
                </a:solidFill>
                <a:latin typeface="Times New Roman"/>
                <a:cs typeface="Times New Roman"/>
              </a:rPr>
              <a:t>55 ca qua REST API</a:t>
            </a:r>
          </a:p>
        </p:txBody>
      </p:sp>
      <p:sp>
        <p:nvSpPr>
          <p:cNvPr id="18" name="Shape 18"/>
          <p:cNvSpPr/>
          <p:nvPr/>
        </p:nvSpPr>
        <p:spPr>
          <a:xfrm>
            <a:off x="4306824" y="4617720"/>
            <a:ext cx="3575304" cy="502920"/>
          </a:xfrm>
          <a:prstGeom prst="roundRect">
            <a:avLst>
              <a:gd name="adj" fmla="val 50000"/>
            </a:avLst>
          </a:prstGeom>
          <a:solidFill>
            <a:srgbClr val="FFFFFF"/>
          </a:solidFill>
          <a:ln w="9525">
            <a:solidFill>
              <a:srgbClr val="C9D1E3"/>
            </a:solidFill>
          </a:ln>
        </p:spPr>
        <p:txBody>
          <a:bodyPr wrap="square" lIns="91440" tIns="0" rIns="91440" bIns="0" rtlCol="0" anchor="ctr">
            <a:noAutofit/>
          </a:bodyPr>
          <a:lstStyle/>
          <a:p>
            <a:pPr algn="ctr">
              <a:spcBef>
                <a:spcPts val="0"/>
              </a:spcBef>
              <a:spcAft>
                <a:spcPts val="0"/>
              </a:spcAft>
              <a:buNone/>
            </a:pPr>
            <a:r>
              <a:rPr lang="vi-VN" sz="1500" b="1" i="0" dirty="0">
                <a:solidFill>
                  <a:srgbClr val="223771"/>
                </a:solidFill>
                <a:latin typeface="Times New Roman"/>
                <a:cs typeface="Times New Roman"/>
              </a:rPr>
              <a:t>Bảo mật: </a:t>
            </a:r>
            <a:r>
              <a:rPr lang="vi-VN" sz="1500" b="0" i="0" dirty="0">
                <a:solidFill>
                  <a:srgbClr val="1F2433"/>
                </a:solidFill>
                <a:latin typeface="Times New Roman"/>
                <a:cs typeface="Times New Roman"/>
              </a:rPr>
              <a:t>phân tích mã nguồn tĩnh</a:t>
            </a:r>
          </a:p>
        </p:txBody>
      </p:sp>
      <p:sp>
        <p:nvSpPr>
          <p:cNvPr id="19" name="Shape 19"/>
          <p:cNvSpPr/>
          <p:nvPr/>
        </p:nvSpPr>
        <p:spPr>
          <a:xfrm>
            <a:off x="8156448" y="4617720"/>
            <a:ext cx="3575304" cy="502920"/>
          </a:xfrm>
          <a:prstGeom prst="roundRect">
            <a:avLst>
              <a:gd name="adj" fmla="val 50000"/>
            </a:avLst>
          </a:prstGeom>
          <a:solidFill>
            <a:srgbClr val="FFFFFF"/>
          </a:solidFill>
          <a:ln w="9525">
            <a:solidFill>
              <a:srgbClr val="C9D1E3"/>
            </a:solidFill>
          </a:ln>
        </p:spPr>
        <p:txBody>
          <a:bodyPr wrap="square" lIns="91440" tIns="0" rIns="91440" bIns="0" rtlCol="0" anchor="ctr">
            <a:noAutofit/>
          </a:bodyPr>
          <a:lstStyle/>
          <a:p>
            <a:pPr algn="ctr">
              <a:spcBef>
                <a:spcPts val="0"/>
              </a:spcBef>
              <a:spcAft>
                <a:spcPts val="0"/>
              </a:spcAft>
              <a:buNone/>
            </a:pPr>
            <a:r>
              <a:rPr lang="vi-VN" sz="1500" b="1" i="0" dirty="0">
                <a:solidFill>
                  <a:srgbClr val="223771"/>
                </a:solidFill>
                <a:latin typeface="Times New Roman"/>
                <a:cs typeface="Times New Roman"/>
              </a:rPr>
              <a:t>Hiệu năng: </a:t>
            </a:r>
            <a:r>
              <a:rPr lang="vi-VN" sz="1500" b="0" i="0" dirty="0">
                <a:solidFill>
                  <a:srgbClr val="1F2433"/>
                </a:solidFill>
                <a:latin typeface="Times New Roman"/>
                <a:cs typeface="Times New Roman"/>
              </a:rPr>
              <a:t>p95 151 ms, AI ~1,7 giây</a:t>
            </a:r>
          </a:p>
        </p:txBody>
      </p:sp>
      <p:sp>
        <p:nvSpPr>
          <p:cNvPr id="20" name="TextBox 20"/>
          <p:cNvSpPr txBox="1"/>
          <p:nvPr/>
        </p:nvSpPr>
        <p:spPr>
          <a:xfrm>
            <a:off x="457200" y="5303520"/>
            <a:ext cx="11274552" cy="685800"/>
          </a:xfrm>
          <a:prstGeom prst="rect">
            <a:avLst/>
          </a:prstGeom>
          <a:noFill/>
          <a:ln>
            <a:noFill/>
          </a:ln>
        </p:spPr>
        <p:txBody>
          <a:bodyPr wrap="square" lIns="0" tIns="0" rIns="0" bIns="0" rtlCol="0" anchor="ctr">
            <a:noAutofit/>
          </a:bodyPr>
          <a:lstStyle/>
          <a:p>
            <a:pPr algn="ctr">
              <a:spcBef>
                <a:spcPts val="0"/>
              </a:spcBef>
              <a:spcAft>
                <a:spcPts val="0"/>
              </a:spcAft>
              <a:buNone/>
            </a:pPr>
            <a:r>
              <a:rPr lang="vi-VN" sz="1500" b="0" i="0" dirty="0">
                <a:solidFill>
                  <a:srgbClr val="5A6272"/>
                </a:solidFill>
                <a:latin typeface="Times New Roman"/>
                <a:cs typeface="Times New Roman"/>
              </a:rPr>
              <a:t>Kịch bản Python gọi REST API trên hệ thống Docker cục bộ, lưu kết quả từng ca dạng JSON. Lần chạy đầu đạt 48/55 ca; chạy lại sau khắc phục đạt 50/55 ca.</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b="1" dirty="0">
                <a:solidFill>
                  <a:srgbClr val="223771"/>
                </a:solidFill>
                <a:latin typeface="Times New Roman"/>
                <a:cs typeface="Times New Roman"/>
              </a:rPr>
              <a:t>RÀ SOÁT BẢO MẬT</a:t>
            </a:r>
          </a:p>
        </p:txBody>
      </p:sp>
      <p:sp>
        <p:nvSpPr>
          <p:cNvPr id="4" name="TextBox 4"/>
          <p:cNvSpPr txBox="1"/>
          <p:nvPr/>
        </p:nvSpPr>
        <p:spPr>
          <a:xfrm>
            <a:off x="457200" y="896112"/>
            <a:ext cx="11274552" cy="411480"/>
          </a:xfrm>
          <a:prstGeom prst="rect">
            <a:avLst/>
          </a:prstGeom>
          <a:noFill/>
          <a:ln>
            <a:noFill/>
          </a:ln>
        </p:spPr>
        <p:txBody>
          <a:bodyPr wrap="square" lIns="0" tIns="0" rIns="0" bIns="0" rtlCol="0" anchor="ctr">
            <a:noAutofit/>
          </a:bodyPr>
          <a:lstStyle/>
          <a:p>
            <a:pPr algn="l">
              <a:spcBef>
                <a:spcPts val="0"/>
              </a:spcBef>
              <a:spcAft>
                <a:spcPts val="0"/>
              </a:spcAft>
              <a:buNone/>
            </a:pPr>
            <a:r>
              <a:rPr lang="vi-VN" sz="1800" b="0" i="1" dirty="0">
                <a:solidFill>
                  <a:srgbClr val="5A6272"/>
                </a:solidFill>
                <a:latin typeface="Times New Roman"/>
                <a:cs typeface="Times New Roman"/>
              </a:rPr>
              <a:t>Đối chiếu OWASP Top 10:2025 bằng phân tích mã nguồn: phát hiện 6 khiếm khuyết, đã khắc phục cả 6</a:t>
            </a:r>
          </a:p>
        </p:txBody>
      </p:sp>
      <p:sp>
        <p:nvSpPr>
          <p:cNvPr id="5" name="Card 5"/>
          <p:cNvSpPr/>
          <p:nvPr/>
        </p:nvSpPr>
        <p:spPr>
          <a:xfrm>
            <a:off x="457200" y="1463040"/>
            <a:ext cx="3575304" cy="1691640"/>
          </a:xfrm>
          <a:prstGeom prst="roundRect">
            <a:avLst>
              <a:gd name="adj" fmla="val 4324"/>
            </a:avLst>
          </a:prstGeom>
          <a:solidFill>
            <a:srgbClr val="223771"/>
          </a:solidFill>
          <a:ln>
            <a:noFill/>
          </a:ln>
        </p:spPr>
      </p:sp>
      <p:sp>
        <p:nvSpPr>
          <p:cNvPr id="6" name="Chip 6"/>
          <p:cNvSpPr/>
          <p:nvPr/>
        </p:nvSpPr>
        <p:spPr>
          <a:xfrm>
            <a:off x="685800" y="1664208"/>
            <a:ext cx="2240280" cy="347472"/>
          </a:xfrm>
          <a:prstGeom prst="roundRect">
            <a:avLst>
              <a:gd name="adj" fmla="val 50000"/>
            </a:avLst>
          </a:prstGeom>
          <a:solidFill>
            <a:srgbClr val="F26522"/>
          </a:solidFill>
          <a:ln>
            <a:noFill/>
          </a:ln>
        </p:spPr>
        <p:txBody>
          <a:bodyPr wrap="square" lIns="45720" tIns="0" rIns="45720" bIns="0" rtlCol="0" anchor="ctr">
            <a:noAutofit/>
          </a:bodyPr>
          <a:lstStyle/>
          <a:p>
            <a:pPr algn="ctr">
              <a:spcBef>
                <a:spcPts val="0"/>
              </a:spcBef>
              <a:spcAft>
                <a:spcPts val="0"/>
              </a:spcAft>
              <a:buNone/>
            </a:pPr>
            <a:r>
              <a:rPr lang="vi-VN" sz="1300" b="1" i="0" dirty="0">
                <a:solidFill>
                  <a:srgbClr val="FFFFFF"/>
                </a:solidFill>
                <a:latin typeface="Times New Roman"/>
                <a:cs typeface="Times New Roman"/>
              </a:rPr>
              <a:t>SEC-01 · Nghiêm trọng</a:t>
            </a:r>
          </a:p>
        </p:txBody>
      </p:sp>
      <p:sp>
        <p:nvSpPr>
          <p:cNvPr id="7" name="TextBox 7"/>
          <p:cNvSpPr txBox="1"/>
          <p:nvPr/>
        </p:nvSpPr>
        <p:spPr>
          <a:xfrm>
            <a:off x="685800" y="2121408"/>
            <a:ext cx="3118104" cy="960120"/>
          </a:xfrm>
          <a:prstGeom prst="rect">
            <a:avLst/>
          </a:prstGeom>
          <a:noFill/>
          <a:ln>
            <a:noFill/>
          </a:ln>
        </p:spPr>
        <p:txBody>
          <a:bodyPr wrap="square" lIns="0" tIns="0" rIns="0" bIns="0" rtlCol="0" anchor="t">
            <a:noAutofit/>
          </a:bodyPr>
          <a:lstStyle/>
          <a:p>
            <a:pPr algn="l">
              <a:lnSpc>
                <a:spcPct val="100000"/>
              </a:lnSpc>
              <a:spcBef>
                <a:spcPts val="0"/>
              </a:spcBef>
              <a:spcAft>
                <a:spcPts val="0"/>
              </a:spcAft>
              <a:buNone/>
            </a:pPr>
            <a:r>
              <a:rPr lang="vi-VN" sz="1600" b="1" i="0" dirty="0">
                <a:solidFill>
                  <a:srgbClr val="FFFFFF"/>
                </a:solidFill>
                <a:latin typeface="Times New Roman"/>
                <a:cs typeface="Times New Roman"/>
              </a:rPr>
              <a:t>Đăng nhập Google không xác minh chữ ký token</a:t>
            </a:r>
          </a:p>
          <a:p>
            <a:pPr algn="l">
              <a:spcBef>
                <a:spcPts val="500"/>
              </a:spcBef>
              <a:spcAft>
                <a:spcPts val="0"/>
              </a:spcAft>
              <a:buNone/>
            </a:pPr>
            <a:r>
              <a:rPr lang="vi-VN" sz="1400" b="0" i="0" dirty="0">
                <a:solidFill>
                  <a:srgbClr val="C9D3EC"/>
                </a:solidFill>
                <a:latin typeface="Times New Roman"/>
                <a:cs typeface="Times New Roman"/>
              </a:rPr>
              <a:t>→ xác minh bằng verifyIdToken</a:t>
            </a:r>
          </a:p>
        </p:txBody>
      </p:sp>
      <p:sp>
        <p:nvSpPr>
          <p:cNvPr id="8" name="Card 8"/>
          <p:cNvSpPr/>
          <p:nvPr/>
        </p:nvSpPr>
        <p:spPr>
          <a:xfrm>
            <a:off x="4306824" y="1463040"/>
            <a:ext cx="3575304" cy="1691640"/>
          </a:xfrm>
          <a:prstGeom prst="roundRect">
            <a:avLst>
              <a:gd name="adj" fmla="val 4324"/>
            </a:avLst>
          </a:prstGeom>
          <a:solidFill>
            <a:srgbClr val="223771"/>
          </a:solidFill>
          <a:ln>
            <a:noFill/>
          </a:ln>
        </p:spPr>
      </p:sp>
      <p:sp>
        <p:nvSpPr>
          <p:cNvPr id="9" name="Chip 9"/>
          <p:cNvSpPr/>
          <p:nvPr/>
        </p:nvSpPr>
        <p:spPr>
          <a:xfrm>
            <a:off x="4535424" y="1664208"/>
            <a:ext cx="2240280" cy="347472"/>
          </a:xfrm>
          <a:prstGeom prst="roundRect">
            <a:avLst>
              <a:gd name="adj" fmla="val 50000"/>
            </a:avLst>
          </a:prstGeom>
          <a:solidFill>
            <a:srgbClr val="F26522"/>
          </a:solidFill>
          <a:ln>
            <a:noFill/>
          </a:ln>
        </p:spPr>
        <p:txBody>
          <a:bodyPr wrap="square" lIns="45720" tIns="0" rIns="45720" bIns="0" rtlCol="0" anchor="ctr">
            <a:noAutofit/>
          </a:bodyPr>
          <a:lstStyle/>
          <a:p>
            <a:pPr algn="ctr">
              <a:spcBef>
                <a:spcPts val="0"/>
              </a:spcBef>
              <a:spcAft>
                <a:spcPts val="0"/>
              </a:spcAft>
              <a:buNone/>
            </a:pPr>
            <a:r>
              <a:rPr lang="vi-VN" sz="1300" b="1" i="0" dirty="0">
                <a:solidFill>
                  <a:srgbClr val="FFFFFF"/>
                </a:solidFill>
                <a:latin typeface="Times New Roman"/>
                <a:cs typeface="Times New Roman"/>
              </a:rPr>
              <a:t>SEC-02 · Nghiêm trọng</a:t>
            </a:r>
          </a:p>
        </p:txBody>
      </p:sp>
      <p:sp>
        <p:nvSpPr>
          <p:cNvPr id="10" name="TextBox 10"/>
          <p:cNvSpPr txBox="1"/>
          <p:nvPr/>
        </p:nvSpPr>
        <p:spPr>
          <a:xfrm>
            <a:off x="4535424" y="2121408"/>
            <a:ext cx="3118104" cy="960120"/>
          </a:xfrm>
          <a:prstGeom prst="rect">
            <a:avLst/>
          </a:prstGeom>
          <a:noFill/>
          <a:ln>
            <a:noFill/>
          </a:ln>
        </p:spPr>
        <p:txBody>
          <a:bodyPr wrap="square" lIns="0" tIns="0" rIns="0" bIns="0" rtlCol="0" anchor="t">
            <a:noAutofit/>
          </a:bodyPr>
          <a:lstStyle/>
          <a:p>
            <a:pPr algn="l">
              <a:lnSpc>
                <a:spcPct val="100000"/>
              </a:lnSpc>
              <a:spcBef>
                <a:spcPts val="0"/>
              </a:spcBef>
              <a:spcAft>
                <a:spcPts val="0"/>
              </a:spcAft>
              <a:buNone/>
            </a:pPr>
            <a:r>
              <a:rPr lang="vi-VN" sz="1600" b="1" i="0" dirty="0">
                <a:solidFill>
                  <a:srgbClr val="FFFFFF"/>
                </a:solidFill>
                <a:latin typeface="Times New Roman"/>
                <a:cs typeface="Times New Roman"/>
              </a:rPr>
              <a:t>API quên mật khẩu trả luôn mã OTP</a:t>
            </a:r>
          </a:p>
          <a:p>
            <a:pPr algn="l">
              <a:spcBef>
                <a:spcPts val="500"/>
              </a:spcBef>
              <a:spcAft>
                <a:spcPts val="0"/>
              </a:spcAft>
              <a:buNone/>
            </a:pPr>
            <a:r>
              <a:rPr lang="vi-VN" sz="1400" b="0" i="0" dirty="0">
                <a:solidFill>
                  <a:srgbClr val="C9D3EC"/>
                </a:solidFill>
                <a:latin typeface="Times New Roman"/>
                <a:cs typeface="Times New Roman"/>
              </a:rPr>
              <a:t>→ OTP chỉ gửi qua email</a:t>
            </a:r>
          </a:p>
        </p:txBody>
      </p:sp>
      <p:sp>
        <p:nvSpPr>
          <p:cNvPr id="11" name="Card 11"/>
          <p:cNvSpPr/>
          <p:nvPr/>
        </p:nvSpPr>
        <p:spPr>
          <a:xfrm>
            <a:off x="8156448" y="1463040"/>
            <a:ext cx="3575304" cy="1691640"/>
          </a:xfrm>
          <a:prstGeom prst="roundRect">
            <a:avLst>
              <a:gd name="adj" fmla="val 4324"/>
            </a:avLst>
          </a:prstGeom>
          <a:solidFill>
            <a:srgbClr val="223771"/>
          </a:solidFill>
          <a:ln>
            <a:noFill/>
          </a:ln>
        </p:spPr>
      </p:sp>
      <p:sp>
        <p:nvSpPr>
          <p:cNvPr id="12" name="Chip 12"/>
          <p:cNvSpPr/>
          <p:nvPr/>
        </p:nvSpPr>
        <p:spPr>
          <a:xfrm>
            <a:off x="8385048" y="1664208"/>
            <a:ext cx="2240280" cy="347472"/>
          </a:xfrm>
          <a:prstGeom prst="roundRect">
            <a:avLst>
              <a:gd name="adj" fmla="val 50000"/>
            </a:avLst>
          </a:prstGeom>
          <a:solidFill>
            <a:srgbClr val="F26522"/>
          </a:solidFill>
          <a:ln>
            <a:noFill/>
          </a:ln>
        </p:spPr>
        <p:txBody>
          <a:bodyPr wrap="square" lIns="45720" tIns="0" rIns="45720" bIns="0" rtlCol="0" anchor="ctr">
            <a:noAutofit/>
          </a:bodyPr>
          <a:lstStyle/>
          <a:p>
            <a:pPr algn="ctr">
              <a:spcBef>
                <a:spcPts val="0"/>
              </a:spcBef>
              <a:spcAft>
                <a:spcPts val="0"/>
              </a:spcAft>
              <a:buNone/>
            </a:pPr>
            <a:r>
              <a:rPr lang="vi-VN" sz="1300" b="1" i="0" dirty="0">
                <a:solidFill>
                  <a:srgbClr val="FFFFFF"/>
                </a:solidFill>
                <a:latin typeface="Times New Roman"/>
                <a:cs typeface="Times New Roman"/>
              </a:rPr>
              <a:t>SEC-03 · Nghiêm trọng</a:t>
            </a:r>
          </a:p>
        </p:txBody>
      </p:sp>
      <p:sp>
        <p:nvSpPr>
          <p:cNvPr id="13" name="TextBox 13"/>
          <p:cNvSpPr txBox="1"/>
          <p:nvPr/>
        </p:nvSpPr>
        <p:spPr>
          <a:xfrm>
            <a:off x="8385048" y="2121408"/>
            <a:ext cx="3118104" cy="960120"/>
          </a:xfrm>
          <a:prstGeom prst="rect">
            <a:avLst/>
          </a:prstGeom>
          <a:noFill/>
          <a:ln>
            <a:noFill/>
          </a:ln>
        </p:spPr>
        <p:txBody>
          <a:bodyPr wrap="square" lIns="0" tIns="0" rIns="0" bIns="0" rtlCol="0" anchor="t">
            <a:noAutofit/>
          </a:bodyPr>
          <a:lstStyle/>
          <a:p>
            <a:pPr algn="l">
              <a:lnSpc>
                <a:spcPct val="100000"/>
              </a:lnSpc>
              <a:spcBef>
                <a:spcPts val="0"/>
              </a:spcBef>
              <a:spcAft>
                <a:spcPts val="0"/>
              </a:spcAft>
              <a:buNone/>
            </a:pPr>
            <a:r>
              <a:rPr lang="vi-VN" sz="1600" b="1" i="0" dirty="0">
                <a:solidFill>
                  <a:srgbClr val="FFFFFF"/>
                </a:solidFill>
                <a:latin typeface="Times New Roman"/>
                <a:cs typeface="Times New Roman"/>
              </a:rPr>
              <a:t>Kết quả thanh toán không kiểm tra chữ ký</a:t>
            </a:r>
          </a:p>
          <a:p>
            <a:pPr algn="l">
              <a:spcBef>
                <a:spcPts val="500"/>
              </a:spcBef>
              <a:spcAft>
                <a:spcPts val="0"/>
              </a:spcAft>
              <a:buNone/>
            </a:pPr>
            <a:r>
              <a:rPr lang="vi-VN" sz="1400" b="0" i="0" dirty="0">
                <a:solidFill>
                  <a:srgbClr val="C9D3EC"/>
                </a:solidFill>
                <a:latin typeface="Times New Roman"/>
                <a:cs typeface="Times New Roman"/>
              </a:rPr>
              <a:t>→ kiểm tra chữ ký VNPay, MoMo</a:t>
            </a:r>
          </a:p>
        </p:txBody>
      </p:sp>
      <p:sp>
        <p:nvSpPr>
          <p:cNvPr id="14" name="Card 14"/>
          <p:cNvSpPr/>
          <p:nvPr/>
        </p:nvSpPr>
        <p:spPr>
          <a:xfrm>
            <a:off x="457200" y="3337560"/>
            <a:ext cx="3575304" cy="1691640"/>
          </a:xfrm>
          <a:prstGeom prst="roundRect">
            <a:avLst>
              <a:gd name="adj" fmla="val 4324"/>
            </a:avLst>
          </a:prstGeom>
          <a:solidFill>
            <a:srgbClr val="223771"/>
          </a:solidFill>
          <a:ln>
            <a:noFill/>
          </a:ln>
        </p:spPr>
      </p:sp>
      <p:sp>
        <p:nvSpPr>
          <p:cNvPr id="15" name="Chip 15"/>
          <p:cNvSpPr/>
          <p:nvPr/>
        </p:nvSpPr>
        <p:spPr>
          <a:xfrm>
            <a:off x="685800" y="3538728"/>
            <a:ext cx="2240280" cy="347472"/>
          </a:xfrm>
          <a:prstGeom prst="roundRect">
            <a:avLst>
              <a:gd name="adj" fmla="val 50000"/>
            </a:avLst>
          </a:prstGeom>
          <a:solidFill>
            <a:srgbClr val="4A5F9E"/>
          </a:solidFill>
          <a:ln>
            <a:noFill/>
          </a:ln>
        </p:spPr>
        <p:txBody>
          <a:bodyPr wrap="square" lIns="45720" tIns="0" rIns="45720" bIns="0" rtlCol="0" anchor="ctr">
            <a:noAutofit/>
          </a:bodyPr>
          <a:lstStyle/>
          <a:p>
            <a:pPr algn="ctr">
              <a:spcBef>
                <a:spcPts val="0"/>
              </a:spcBef>
              <a:spcAft>
                <a:spcPts val="0"/>
              </a:spcAft>
              <a:buNone/>
            </a:pPr>
            <a:r>
              <a:rPr lang="vi-VN" sz="1300" b="1" i="0" dirty="0">
                <a:solidFill>
                  <a:srgbClr val="FFFFFF"/>
                </a:solidFill>
                <a:latin typeface="Times New Roman"/>
                <a:cs typeface="Times New Roman"/>
              </a:rPr>
              <a:t>SEC-04 · Trung bình</a:t>
            </a:r>
          </a:p>
        </p:txBody>
      </p:sp>
      <p:sp>
        <p:nvSpPr>
          <p:cNvPr id="16" name="TextBox 16"/>
          <p:cNvSpPr txBox="1"/>
          <p:nvPr/>
        </p:nvSpPr>
        <p:spPr>
          <a:xfrm>
            <a:off x="685800" y="3995928"/>
            <a:ext cx="3118104" cy="960120"/>
          </a:xfrm>
          <a:prstGeom prst="rect">
            <a:avLst/>
          </a:prstGeom>
          <a:noFill/>
          <a:ln>
            <a:noFill/>
          </a:ln>
        </p:spPr>
        <p:txBody>
          <a:bodyPr wrap="square" lIns="0" tIns="0" rIns="0" bIns="0" rtlCol="0" anchor="t">
            <a:noAutofit/>
          </a:bodyPr>
          <a:lstStyle/>
          <a:p>
            <a:pPr algn="l">
              <a:lnSpc>
                <a:spcPct val="100000"/>
              </a:lnSpc>
              <a:spcBef>
                <a:spcPts val="0"/>
              </a:spcBef>
              <a:spcAft>
                <a:spcPts val="0"/>
              </a:spcAft>
              <a:buNone/>
            </a:pPr>
            <a:r>
              <a:rPr lang="vi-VN" sz="1600" b="1" i="0" dirty="0">
                <a:solidFill>
                  <a:srgbClr val="FFFFFF"/>
                </a:solidFill>
                <a:latin typeface="Times New Roman"/>
                <a:cs typeface="Times New Roman"/>
              </a:rPr>
              <a:t>Phiếu không bao giờ chuyển sang quá hạn</a:t>
            </a:r>
          </a:p>
          <a:p>
            <a:pPr algn="l">
              <a:spcBef>
                <a:spcPts val="500"/>
              </a:spcBef>
              <a:spcAft>
                <a:spcPts val="0"/>
              </a:spcAft>
              <a:buNone/>
            </a:pPr>
            <a:r>
              <a:rPr lang="vi-VN" sz="1400" b="0" i="0" dirty="0">
                <a:solidFill>
                  <a:srgbClr val="C9D3EC"/>
                </a:solidFill>
                <a:latin typeface="Times New Roman"/>
                <a:cs typeface="Times New Roman"/>
              </a:rPr>
              <a:t>→ cập nhật trong tác vụ hằng ngày</a:t>
            </a:r>
          </a:p>
        </p:txBody>
      </p:sp>
      <p:sp>
        <p:nvSpPr>
          <p:cNvPr id="17" name="Card 17"/>
          <p:cNvSpPr/>
          <p:nvPr/>
        </p:nvSpPr>
        <p:spPr>
          <a:xfrm>
            <a:off x="4306824" y="3337560"/>
            <a:ext cx="3575304" cy="1691640"/>
          </a:xfrm>
          <a:prstGeom prst="roundRect">
            <a:avLst>
              <a:gd name="adj" fmla="val 4324"/>
            </a:avLst>
          </a:prstGeom>
          <a:solidFill>
            <a:srgbClr val="223771"/>
          </a:solidFill>
          <a:ln>
            <a:noFill/>
          </a:ln>
        </p:spPr>
      </p:sp>
      <p:sp>
        <p:nvSpPr>
          <p:cNvPr id="18" name="Chip 18"/>
          <p:cNvSpPr/>
          <p:nvPr/>
        </p:nvSpPr>
        <p:spPr>
          <a:xfrm>
            <a:off x="4535424" y="3538728"/>
            <a:ext cx="2240280" cy="347472"/>
          </a:xfrm>
          <a:prstGeom prst="roundRect">
            <a:avLst>
              <a:gd name="adj" fmla="val 50000"/>
            </a:avLst>
          </a:prstGeom>
          <a:solidFill>
            <a:srgbClr val="4A5F9E"/>
          </a:solidFill>
          <a:ln>
            <a:noFill/>
          </a:ln>
        </p:spPr>
        <p:txBody>
          <a:bodyPr wrap="square" lIns="45720" tIns="0" rIns="45720" bIns="0" rtlCol="0" anchor="ctr">
            <a:noAutofit/>
          </a:bodyPr>
          <a:lstStyle/>
          <a:p>
            <a:pPr algn="ctr">
              <a:spcBef>
                <a:spcPts val="0"/>
              </a:spcBef>
              <a:spcAft>
                <a:spcPts val="0"/>
              </a:spcAft>
              <a:buNone/>
            </a:pPr>
            <a:r>
              <a:rPr lang="vi-VN" sz="1300" b="1" i="0" dirty="0">
                <a:solidFill>
                  <a:srgbClr val="FFFFFF"/>
                </a:solidFill>
                <a:latin typeface="Times New Roman"/>
                <a:cs typeface="Times New Roman"/>
              </a:rPr>
              <a:t>SEC-05 · Trung bình</a:t>
            </a:r>
          </a:p>
        </p:txBody>
      </p:sp>
      <p:sp>
        <p:nvSpPr>
          <p:cNvPr id="19" name="TextBox 19"/>
          <p:cNvSpPr txBox="1"/>
          <p:nvPr/>
        </p:nvSpPr>
        <p:spPr>
          <a:xfrm>
            <a:off x="4535424" y="3995928"/>
            <a:ext cx="3118104" cy="960120"/>
          </a:xfrm>
          <a:prstGeom prst="rect">
            <a:avLst/>
          </a:prstGeom>
          <a:noFill/>
          <a:ln>
            <a:noFill/>
          </a:ln>
        </p:spPr>
        <p:txBody>
          <a:bodyPr wrap="square" lIns="0" tIns="0" rIns="0" bIns="0" rtlCol="0" anchor="t">
            <a:noAutofit/>
          </a:bodyPr>
          <a:lstStyle/>
          <a:p>
            <a:pPr algn="l">
              <a:lnSpc>
                <a:spcPct val="100000"/>
              </a:lnSpc>
              <a:spcBef>
                <a:spcPts val="0"/>
              </a:spcBef>
              <a:spcAft>
                <a:spcPts val="0"/>
              </a:spcAft>
              <a:buNone/>
            </a:pPr>
            <a:r>
              <a:rPr lang="vi-VN" sz="1600" b="1" i="0" dirty="0">
                <a:solidFill>
                  <a:srgbClr val="FFFFFF"/>
                </a:solidFill>
                <a:latin typeface="Times New Roman"/>
                <a:cs typeface="Times New Roman"/>
              </a:rPr>
              <a:t>Giữ chỗ 48 giờ không tự hết hạn</a:t>
            </a:r>
          </a:p>
          <a:p>
            <a:pPr algn="l">
              <a:spcBef>
                <a:spcPts val="500"/>
              </a:spcBef>
              <a:spcAft>
                <a:spcPts val="0"/>
              </a:spcAft>
              <a:buNone/>
            </a:pPr>
            <a:r>
              <a:rPr lang="vi-VN" sz="1400" b="0" i="0" dirty="0">
                <a:solidFill>
                  <a:srgbClr val="C9D3EC"/>
                </a:solidFill>
                <a:latin typeface="Times New Roman"/>
                <a:cs typeface="Times New Roman"/>
              </a:rPr>
              <a:t>→ thu hồi định kỳ</a:t>
            </a:r>
          </a:p>
        </p:txBody>
      </p:sp>
      <p:sp>
        <p:nvSpPr>
          <p:cNvPr id="20" name="Card 20"/>
          <p:cNvSpPr/>
          <p:nvPr/>
        </p:nvSpPr>
        <p:spPr>
          <a:xfrm>
            <a:off x="8156448" y="3337560"/>
            <a:ext cx="3575304" cy="1691640"/>
          </a:xfrm>
          <a:prstGeom prst="roundRect">
            <a:avLst>
              <a:gd name="adj" fmla="val 4324"/>
            </a:avLst>
          </a:prstGeom>
          <a:solidFill>
            <a:srgbClr val="223771"/>
          </a:solidFill>
          <a:ln>
            <a:noFill/>
          </a:ln>
        </p:spPr>
      </p:sp>
      <p:sp>
        <p:nvSpPr>
          <p:cNvPr id="21" name="Chip 21"/>
          <p:cNvSpPr/>
          <p:nvPr/>
        </p:nvSpPr>
        <p:spPr>
          <a:xfrm>
            <a:off x="8385048" y="3538728"/>
            <a:ext cx="2240280" cy="347472"/>
          </a:xfrm>
          <a:prstGeom prst="roundRect">
            <a:avLst>
              <a:gd name="adj" fmla="val 50000"/>
            </a:avLst>
          </a:prstGeom>
          <a:solidFill>
            <a:srgbClr val="4A5F9E"/>
          </a:solidFill>
          <a:ln>
            <a:noFill/>
          </a:ln>
        </p:spPr>
        <p:txBody>
          <a:bodyPr wrap="square" lIns="45720" tIns="0" rIns="45720" bIns="0" rtlCol="0" anchor="ctr">
            <a:noAutofit/>
          </a:bodyPr>
          <a:lstStyle/>
          <a:p>
            <a:pPr algn="ctr">
              <a:spcBef>
                <a:spcPts val="0"/>
              </a:spcBef>
              <a:spcAft>
                <a:spcPts val="0"/>
              </a:spcAft>
              <a:buNone/>
            </a:pPr>
            <a:r>
              <a:rPr lang="vi-VN" sz="1300" b="1" i="0" dirty="0">
                <a:solidFill>
                  <a:srgbClr val="FFFFFF"/>
                </a:solidFill>
                <a:latin typeface="Times New Roman"/>
                <a:cs typeface="Times New Roman"/>
              </a:rPr>
              <a:t>SEC-06 · Trung bình</a:t>
            </a:r>
          </a:p>
        </p:txBody>
      </p:sp>
      <p:sp>
        <p:nvSpPr>
          <p:cNvPr id="22" name="TextBox 22"/>
          <p:cNvSpPr txBox="1"/>
          <p:nvPr/>
        </p:nvSpPr>
        <p:spPr>
          <a:xfrm>
            <a:off x="8385048" y="3995928"/>
            <a:ext cx="3118104" cy="960120"/>
          </a:xfrm>
          <a:prstGeom prst="rect">
            <a:avLst/>
          </a:prstGeom>
          <a:noFill/>
          <a:ln>
            <a:noFill/>
          </a:ln>
        </p:spPr>
        <p:txBody>
          <a:bodyPr wrap="square" lIns="0" tIns="0" rIns="0" bIns="0" rtlCol="0" anchor="t">
            <a:noAutofit/>
          </a:bodyPr>
          <a:lstStyle/>
          <a:p>
            <a:pPr algn="l">
              <a:lnSpc>
                <a:spcPct val="100000"/>
              </a:lnSpc>
              <a:spcBef>
                <a:spcPts val="0"/>
              </a:spcBef>
              <a:spcAft>
                <a:spcPts val="0"/>
              </a:spcAft>
              <a:buNone/>
            </a:pPr>
            <a:r>
              <a:rPr lang="vi-VN" sz="1600" b="1" i="0" dirty="0">
                <a:solidFill>
                  <a:srgbClr val="FFFFFF"/>
                </a:solidFill>
                <a:latin typeface="Times New Roman"/>
                <a:cs typeface="Times New Roman"/>
              </a:rPr>
              <a:t>Khóa cổng thanh toán ghi cứng trong mã</a:t>
            </a:r>
          </a:p>
          <a:p>
            <a:pPr algn="l">
              <a:spcBef>
                <a:spcPts val="500"/>
              </a:spcBef>
              <a:spcAft>
                <a:spcPts val="0"/>
              </a:spcAft>
              <a:buNone/>
            </a:pPr>
            <a:r>
              <a:rPr lang="vi-VN" sz="1400" b="0" i="0" dirty="0">
                <a:solidFill>
                  <a:srgbClr val="C9D3EC"/>
                </a:solidFill>
                <a:latin typeface="Times New Roman"/>
                <a:cs typeface="Times New Roman"/>
              </a:rPr>
              <a:t>→ nạp từ tệp .env</a:t>
            </a:r>
          </a:p>
        </p:txBody>
      </p:sp>
      <p:sp>
        <p:nvSpPr>
          <p:cNvPr id="23" name="Shape 23"/>
          <p:cNvSpPr/>
          <p:nvPr/>
        </p:nvSpPr>
        <p:spPr>
          <a:xfrm>
            <a:off x="457200" y="5303520"/>
            <a:ext cx="11274552" cy="685800"/>
          </a:xfrm>
          <a:prstGeom prst="roundRect">
            <a:avLst>
              <a:gd name="adj" fmla="val 10666"/>
            </a:avLst>
          </a:prstGeom>
          <a:solidFill>
            <a:srgbClr val="FDEEE4"/>
          </a:solidFill>
          <a:ln>
            <a:noFill/>
          </a:ln>
        </p:spPr>
        <p:txBody>
          <a:bodyPr wrap="square" lIns="228600" tIns="0" rIns="228600" bIns="0" rtlCol="0" anchor="ctr">
            <a:noAutofit/>
          </a:bodyPr>
          <a:lstStyle/>
          <a:p>
            <a:pPr algn="l">
              <a:spcBef>
                <a:spcPts val="0"/>
              </a:spcBef>
              <a:spcAft>
                <a:spcPts val="0"/>
              </a:spcAft>
              <a:buNone/>
            </a:pPr>
            <a:r>
              <a:rPr lang="vi-VN" sz="1600" b="1" i="0" dirty="0">
                <a:solidFill>
                  <a:srgbClr val="B4470F"/>
                </a:solidFill>
                <a:latin typeface="Times New Roman"/>
                <a:cs typeface="Times New Roman"/>
              </a:rPr>
              <a:t>Kiểm chứng: </a:t>
            </a:r>
            <a:r>
              <a:rPr lang="vi-VN" sz="1600" b="0" i="0" dirty="0">
                <a:solidFill>
                  <a:srgbClr val="1F2433"/>
                </a:solidFill>
                <a:latin typeface="Times New Roman"/>
                <a:cs typeface="Times New Roman"/>
              </a:rPr>
              <a:t>kịch bản rà soát báo đủ 6 lỗi trên mã gốc và 7/7 đạt trên mã đã sửa; token giả, kết quả thanh toán giả đều bị từ chối.</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b="1" dirty="0">
                <a:solidFill>
                  <a:srgbClr val="223771"/>
                </a:solidFill>
                <a:latin typeface="Times New Roman"/>
                <a:cs typeface="Times New Roman"/>
              </a:rPr>
              <a:t>HẠN CHẾ CÒN LẠI</a:t>
            </a:r>
          </a:p>
        </p:txBody>
      </p:sp>
      <p:sp>
        <p:nvSpPr>
          <p:cNvPr id="4" name="TextBox 4"/>
          <p:cNvSpPr txBox="1"/>
          <p:nvPr/>
        </p:nvSpPr>
        <p:spPr>
          <a:xfrm>
            <a:off x="457200" y="896112"/>
            <a:ext cx="11274552" cy="411480"/>
          </a:xfrm>
          <a:prstGeom prst="rect">
            <a:avLst/>
          </a:prstGeom>
          <a:noFill/>
          <a:ln>
            <a:noFill/>
          </a:ln>
        </p:spPr>
        <p:txBody>
          <a:bodyPr wrap="square" lIns="0" tIns="0" rIns="0" bIns="0" rtlCol="0" anchor="ctr">
            <a:noAutofit/>
          </a:bodyPr>
          <a:lstStyle/>
          <a:p>
            <a:pPr algn="l">
              <a:spcBef>
                <a:spcPts val="0"/>
              </a:spcBef>
              <a:spcAft>
                <a:spcPts val="0"/>
              </a:spcAft>
              <a:buNone/>
            </a:pPr>
            <a:r>
              <a:rPr lang="vi-VN" sz="1800" b="0" i="1" dirty="0">
                <a:solidFill>
                  <a:srgbClr val="5A6272"/>
                </a:solidFill>
                <a:latin typeface="Times New Roman"/>
                <a:cs typeface="Times New Roman"/>
              </a:rPr>
              <a:t>Các lỗi còn lại đều nhỏ và đã có hướng khắc phục rõ</a:t>
            </a:r>
          </a:p>
        </p:txBody>
      </p:sp>
      <p:sp>
        <p:nvSpPr>
          <p:cNvPr id="5" name="Card 5"/>
          <p:cNvSpPr/>
          <p:nvPr/>
        </p:nvSpPr>
        <p:spPr>
          <a:xfrm>
            <a:off x="457200" y="1463040"/>
            <a:ext cx="5500116" cy="4526280"/>
          </a:xfrm>
          <a:prstGeom prst="roundRect">
            <a:avLst>
              <a:gd name="adj" fmla="val 1616"/>
            </a:avLst>
          </a:prstGeom>
          <a:solidFill>
            <a:srgbClr val="FFFFFF"/>
          </a:solidFill>
          <a:ln w="9525">
            <a:solidFill>
              <a:srgbClr val="C9D1E3"/>
            </a:solidFill>
          </a:ln>
        </p:spPr>
      </p:sp>
      <p:sp>
        <p:nvSpPr>
          <p:cNvPr id="6" name="Header 6"/>
          <p:cNvSpPr/>
          <p:nvPr/>
        </p:nvSpPr>
        <p:spPr>
          <a:xfrm>
            <a:off x="457200" y="1463040"/>
            <a:ext cx="5500116" cy="640080"/>
          </a:xfrm>
          <a:prstGeom prst="round2SameRect">
            <a:avLst>
              <a:gd name="adj1" fmla="val 11428"/>
              <a:gd name="adj2" fmla="val 0"/>
            </a:avLst>
          </a:prstGeom>
          <a:solidFill>
            <a:srgbClr val="223771"/>
          </a:solidFill>
          <a:ln>
            <a:noFill/>
          </a:ln>
        </p:spPr>
        <p:txBody>
          <a:bodyPr wrap="square" lIns="228600" tIns="0" rIns="182880" bIns="0" rtlCol="0" anchor="ctr">
            <a:noAutofit/>
          </a:bodyPr>
          <a:lstStyle/>
          <a:p>
            <a:pPr algn="l">
              <a:spcBef>
                <a:spcPts val="0"/>
              </a:spcBef>
              <a:spcAft>
                <a:spcPts val="0"/>
              </a:spcAft>
              <a:buNone/>
            </a:pPr>
            <a:r>
              <a:rPr lang="vi-VN" sz="2000" b="1" i="0" dirty="0">
                <a:solidFill>
                  <a:srgbClr val="FFFFFF"/>
                </a:solidFill>
                <a:latin typeface="Times New Roman"/>
                <a:cs typeface="Times New Roman"/>
              </a:rPr>
              <a:t>5 ca kiểm thử chưa đạt</a:t>
            </a:r>
          </a:p>
        </p:txBody>
      </p:sp>
      <p:sp>
        <p:nvSpPr>
          <p:cNvPr id="7" name="Card 7"/>
          <p:cNvSpPr/>
          <p:nvPr/>
        </p:nvSpPr>
        <p:spPr>
          <a:xfrm>
            <a:off x="6231636" y="1463040"/>
            <a:ext cx="5500116" cy="4526280"/>
          </a:xfrm>
          <a:prstGeom prst="roundRect">
            <a:avLst>
              <a:gd name="adj" fmla="val 1616"/>
            </a:avLst>
          </a:prstGeom>
          <a:solidFill>
            <a:srgbClr val="FFFFFF"/>
          </a:solidFill>
          <a:ln w="9525">
            <a:solidFill>
              <a:srgbClr val="C9D1E3"/>
            </a:solidFill>
          </a:ln>
        </p:spPr>
      </p:sp>
      <p:sp>
        <p:nvSpPr>
          <p:cNvPr id="8" name="Header 8"/>
          <p:cNvSpPr/>
          <p:nvPr/>
        </p:nvSpPr>
        <p:spPr>
          <a:xfrm>
            <a:off x="6231636" y="1463040"/>
            <a:ext cx="5500116" cy="640080"/>
          </a:xfrm>
          <a:prstGeom prst="round2SameRect">
            <a:avLst>
              <a:gd name="adj1" fmla="val 11428"/>
              <a:gd name="adj2" fmla="val 0"/>
            </a:avLst>
          </a:prstGeom>
          <a:solidFill>
            <a:srgbClr val="223771"/>
          </a:solidFill>
          <a:ln>
            <a:noFill/>
          </a:ln>
        </p:spPr>
        <p:txBody>
          <a:bodyPr wrap="square" lIns="228600" tIns="0" rIns="182880" bIns="0" rtlCol="0" anchor="ctr">
            <a:noAutofit/>
          </a:bodyPr>
          <a:lstStyle/>
          <a:p>
            <a:pPr algn="l">
              <a:spcBef>
                <a:spcPts val="0"/>
              </a:spcBef>
              <a:spcAft>
                <a:spcPts val="0"/>
              </a:spcAft>
              <a:buNone/>
            </a:pPr>
            <a:r>
              <a:rPr lang="vi-VN" sz="2000" b="1" i="0" dirty="0">
                <a:solidFill>
                  <a:srgbClr val="FFFFFF"/>
                </a:solidFill>
                <a:latin typeface="Times New Roman"/>
                <a:cs typeface="Times New Roman"/>
              </a:rPr>
              <a:t>Phạm vi và triển khai</a:t>
            </a:r>
          </a:p>
        </p:txBody>
      </p:sp>
      <p:sp>
        <p:nvSpPr>
          <p:cNvPr id="9" name="Chip 9"/>
          <p:cNvSpPr/>
          <p:nvPr/>
        </p:nvSpPr>
        <p:spPr>
          <a:xfrm>
            <a:off x="685800" y="2423160"/>
            <a:ext cx="960120" cy="365760"/>
          </a:xfrm>
          <a:prstGeom prst="roundRect">
            <a:avLst>
              <a:gd name="adj" fmla="val 50000"/>
            </a:avLst>
          </a:prstGeom>
          <a:solidFill>
            <a:srgbClr val="E9EDF6"/>
          </a:solidFill>
          <a:ln>
            <a:noFill/>
          </a:ln>
        </p:spPr>
        <p:txBody>
          <a:bodyPr wrap="square" lIns="45720" tIns="0" rIns="45720" bIns="0" rtlCol="0" anchor="ctr">
            <a:noAutofit/>
          </a:bodyPr>
          <a:lstStyle/>
          <a:p>
            <a:pPr algn="ctr">
              <a:spcBef>
                <a:spcPts val="0"/>
              </a:spcBef>
              <a:spcAft>
                <a:spcPts val="0"/>
              </a:spcAft>
              <a:buNone/>
            </a:pPr>
            <a:r>
              <a:rPr lang="vi-VN" sz="1300" b="1" i="0" dirty="0">
                <a:solidFill>
                  <a:srgbClr val="223771"/>
                </a:solidFill>
                <a:latin typeface="Times New Roman"/>
                <a:cs typeface="Times New Roman"/>
              </a:rPr>
              <a:t>TC-13</a:t>
            </a:r>
          </a:p>
        </p:txBody>
      </p:sp>
      <p:sp>
        <p:nvSpPr>
          <p:cNvPr id="10" name="TextBox 10"/>
          <p:cNvSpPr txBox="1"/>
          <p:nvPr/>
        </p:nvSpPr>
        <p:spPr>
          <a:xfrm>
            <a:off x="1828800" y="2331720"/>
            <a:ext cx="3945636" cy="548640"/>
          </a:xfrm>
          <a:prstGeom prst="rect">
            <a:avLst/>
          </a:prstGeom>
          <a:noFill/>
          <a:ln>
            <a:noFill/>
          </a:ln>
        </p:spPr>
        <p:txBody>
          <a:bodyPr wrap="square" lIns="0" tIns="0" rIns="0" bIns="0" rtlCol="0" anchor="ctr">
            <a:noAutofit/>
          </a:bodyPr>
          <a:lstStyle/>
          <a:p>
            <a:pPr algn="l">
              <a:spcBef>
                <a:spcPts val="0"/>
              </a:spcBef>
              <a:spcAft>
                <a:spcPts val="0"/>
              </a:spcAft>
              <a:buNone/>
            </a:pPr>
            <a:r>
              <a:rPr lang="vi-VN" sz="1700" b="0" i="0" dirty="0">
                <a:solidFill>
                  <a:srgbClr val="1F2433"/>
                </a:solidFill>
                <a:latin typeface="Times New Roman"/>
                <a:cs typeface="Times New Roman"/>
              </a:rPr>
              <a:t>Thủ thư đọc được cấu hình hệ thống</a:t>
            </a:r>
          </a:p>
        </p:txBody>
      </p:sp>
      <p:sp>
        <p:nvSpPr>
          <p:cNvPr id="11" name="Chip 11"/>
          <p:cNvSpPr/>
          <p:nvPr/>
        </p:nvSpPr>
        <p:spPr>
          <a:xfrm>
            <a:off x="685800" y="3136392"/>
            <a:ext cx="960120" cy="365760"/>
          </a:xfrm>
          <a:prstGeom prst="roundRect">
            <a:avLst>
              <a:gd name="adj" fmla="val 50000"/>
            </a:avLst>
          </a:prstGeom>
          <a:solidFill>
            <a:srgbClr val="E9EDF6"/>
          </a:solidFill>
          <a:ln>
            <a:noFill/>
          </a:ln>
        </p:spPr>
        <p:txBody>
          <a:bodyPr wrap="square" lIns="45720" tIns="0" rIns="45720" bIns="0" rtlCol="0" anchor="ctr">
            <a:noAutofit/>
          </a:bodyPr>
          <a:lstStyle/>
          <a:p>
            <a:pPr algn="ctr">
              <a:spcBef>
                <a:spcPts val="0"/>
              </a:spcBef>
              <a:spcAft>
                <a:spcPts val="0"/>
              </a:spcAft>
              <a:buNone/>
            </a:pPr>
            <a:r>
              <a:rPr lang="vi-VN" sz="1300" b="1" i="0" dirty="0">
                <a:solidFill>
                  <a:srgbClr val="223771"/>
                </a:solidFill>
                <a:latin typeface="Times New Roman"/>
                <a:cs typeface="Times New Roman"/>
              </a:rPr>
              <a:t>TC-18</a:t>
            </a:r>
          </a:p>
        </p:txBody>
      </p:sp>
      <p:sp>
        <p:nvSpPr>
          <p:cNvPr id="12" name="TextBox 12"/>
          <p:cNvSpPr txBox="1"/>
          <p:nvPr/>
        </p:nvSpPr>
        <p:spPr>
          <a:xfrm>
            <a:off x="1828800" y="3044952"/>
            <a:ext cx="3945636" cy="548640"/>
          </a:xfrm>
          <a:prstGeom prst="rect">
            <a:avLst/>
          </a:prstGeom>
          <a:noFill/>
          <a:ln>
            <a:noFill/>
          </a:ln>
        </p:spPr>
        <p:txBody>
          <a:bodyPr wrap="square" lIns="0" tIns="0" rIns="0" bIns="0" rtlCol="0" anchor="ctr">
            <a:noAutofit/>
          </a:bodyPr>
          <a:lstStyle/>
          <a:p>
            <a:pPr algn="l">
              <a:spcBef>
                <a:spcPts val="0"/>
              </a:spcBef>
              <a:spcAft>
                <a:spcPts val="0"/>
              </a:spcAft>
              <a:buNone/>
            </a:pPr>
            <a:r>
              <a:rPr lang="vi-VN" sz="1700" b="0" i="0" dirty="0">
                <a:solidFill>
                  <a:srgbClr val="1F2433"/>
                </a:solidFill>
                <a:latin typeface="Times New Roman"/>
                <a:cs typeface="Times New Roman"/>
              </a:rPr>
              <a:t>Sách ẩn vẫn lộ qua API công khai</a:t>
            </a:r>
          </a:p>
        </p:txBody>
      </p:sp>
      <p:sp>
        <p:nvSpPr>
          <p:cNvPr id="13" name="Chip 13"/>
          <p:cNvSpPr/>
          <p:nvPr/>
        </p:nvSpPr>
        <p:spPr>
          <a:xfrm>
            <a:off x="685800" y="3849624"/>
            <a:ext cx="960120" cy="365760"/>
          </a:xfrm>
          <a:prstGeom prst="roundRect">
            <a:avLst>
              <a:gd name="adj" fmla="val 50000"/>
            </a:avLst>
          </a:prstGeom>
          <a:solidFill>
            <a:srgbClr val="E9EDF6"/>
          </a:solidFill>
          <a:ln>
            <a:noFill/>
          </a:ln>
        </p:spPr>
        <p:txBody>
          <a:bodyPr wrap="square" lIns="45720" tIns="0" rIns="45720" bIns="0" rtlCol="0" anchor="ctr">
            <a:noAutofit/>
          </a:bodyPr>
          <a:lstStyle/>
          <a:p>
            <a:pPr algn="ctr">
              <a:spcBef>
                <a:spcPts val="0"/>
              </a:spcBef>
              <a:spcAft>
                <a:spcPts val="0"/>
              </a:spcAft>
              <a:buNone/>
            </a:pPr>
            <a:r>
              <a:rPr lang="vi-VN" sz="1300" b="1" i="0" dirty="0">
                <a:solidFill>
                  <a:srgbClr val="223771"/>
                </a:solidFill>
                <a:latin typeface="Times New Roman"/>
                <a:cs typeface="Times New Roman"/>
              </a:rPr>
              <a:t>TC-26</a:t>
            </a:r>
          </a:p>
        </p:txBody>
      </p:sp>
      <p:sp>
        <p:nvSpPr>
          <p:cNvPr id="14" name="TextBox 14"/>
          <p:cNvSpPr txBox="1"/>
          <p:nvPr/>
        </p:nvSpPr>
        <p:spPr>
          <a:xfrm>
            <a:off x="1828800" y="3758184"/>
            <a:ext cx="3945636" cy="548640"/>
          </a:xfrm>
          <a:prstGeom prst="rect">
            <a:avLst/>
          </a:prstGeom>
          <a:noFill/>
          <a:ln>
            <a:noFill/>
          </a:ln>
        </p:spPr>
        <p:txBody>
          <a:bodyPr wrap="square" lIns="0" tIns="0" rIns="0" bIns="0" rtlCol="0" anchor="ctr">
            <a:noAutofit/>
          </a:bodyPr>
          <a:lstStyle/>
          <a:p>
            <a:pPr algn="l">
              <a:spcBef>
                <a:spcPts val="0"/>
              </a:spcBef>
              <a:spcAft>
                <a:spcPts val="0"/>
              </a:spcAft>
              <a:buNone/>
            </a:pPr>
            <a:r>
              <a:rPr lang="vi-VN" sz="1700" b="0" i="0" dirty="0">
                <a:solidFill>
                  <a:srgbClr val="1F2433"/>
                </a:solidFill>
                <a:latin typeface="Times New Roman"/>
                <a:cs typeface="Times New Roman"/>
              </a:rPr>
              <a:t>API chưa giới hạn thời hạn mượn</a:t>
            </a:r>
          </a:p>
        </p:txBody>
      </p:sp>
      <p:sp>
        <p:nvSpPr>
          <p:cNvPr id="15" name="Chip 15"/>
          <p:cNvSpPr/>
          <p:nvPr/>
        </p:nvSpPr>
        <p:spPr>
          <a:xfrm>
            <a:off x="685800" y="4562856"/>
            <a:ext cx="960120" cy="365760"/>
          </a:xfrm>
          <a:prstGeom prst="roundRect">
            <a:avLst>
              <a:gd name="adj" fmla="val 50000"/>
            </a:avLst>
          </a:prstGeom>
          <a:solidFill>
            <a:srgbClr val="E9EDF6"/>
          </a:solidFill>
          <a:ln>
            <a:noFill/>
          </a:ln>
        </p:spPr>
        <p:txBody>
          <a:bodyPr wrap="square" lIns="45720" tIns="0" rIns="45720" bIns="0" rtlCol="0" anchor="ctr">
            <a:noAutofit/>
          </a:bodyPr>
          <a:lstStyle/>
          <a:p>
            <a:pPr algn="ctr">
              <a:spcBef>
                <a:spcPts val="0"/>
              </a:spcBef>
              <a:spcAft>
                <a:spcPts val="0"/>
              </a:spcAft>
              <a:buNone/>
            </a:pPr>
            <a:r>
              <a:rPr lang="vi-VN" sz="1300" b="1" i="0" dirty="0">
                <a:solidFill>
                  <a:srgbClr val="223771"/>
                </a:solidFill>
                <a:latin typeface="Times New Roman"/>
                <a:cs typeface="Times New Roman"/>
              </a:rPr>
              <a:t>TC-37</a:t>
            </a:r>
          </a:p>
        </p:txBody>
      </p:sp>
      <p:sp>
        <p:nvSpPr>
          <p:cNvPr id="16" name="TextBox 16"/>
          <p:cNvSpPr txBox="1"/>
          <p:nvPr/>
        </p:nvSpPr>
        <p:spPr>
          <a:xfrm>
            <a:off x="1828800" y="4471416"/>
            <a:ext cx="3945636" cy="548640"/>
          </a:xfrm>
          <a:prstGeom prst="rect">
            <a:avLst/>
          </a:prstGeom>
          <a:noFill/>
          <a:ln>
            <a:noFill/>
          </a:ln>
        </p:spPr>
        <p:txBody>
          <a:bodyPr wrap="square" lIns="0" tIns="0" rIns="0" bIns="0" rtlCol="0" anchor="ctr">
            <a:noAutofit/>
          </a:bodyPr>
          <a:lstStyle/>
          <a:p>
            <a:pPr algn="l">
              <a:spcBef>
                <a:spcPts val="0"/>
              </a:spcBef>
              <a:spcAft>
                <a:spcPts val="0"/>
              </a:spcAft>
              <a:buNone/>
            </a:pPr>
            <a:r>
              <a:rPr lang="vi-VN" sz="1700" b="0" i="0" dirty="0">
                <a:solidFill>
                  <a:srgbClr val="1F2433"/>
                </a:solidFill>
                <a:latin typeface="Times New Roman"/>
                <a:cs typeface="Times New Roman"/>
              </a:rPr>
              <a:t>Đặt trước chưa chuyển sang hoàn tất</a:t>
            </a:r>
          </a:p>
        </p:txBody>
      </p:sp>
      <p:sp>
        <p:nvSpPr>
          <p:cNvPr id="17" name="Chip 17"/>
          <p:cNvSpPr/>
          <p:nvPr/>
        </p:nvSpPr>
        <p:spPr>
          <a:xfrm>
            <a:off x="685800" y="5276088"/>
            <a:ext cx="960120" cy="365760"/>
          </a:xfrm>
          <a:prstGeom prst="roundRect">
            <a:avLst>
              <a:gd name="adj" fmla="val 50000"/>
            </a:avLst>
          </a:prstGeom>
          <a:solidFill>
            <a:srgbClr val="E9EDF6"/>
          </a:solidFill>
          <a:ln>
            <a:noFill/>
          </a:ln>
        </p:spPr>
        <p:txBody>
          <a:bodyPr wrap="square" lIns="45720" tIns="0" rIns="45720" bIns="0" rtlCol="0" anchor="ctr">
            <a:noAutofit/>
          </a:bodyPr>
          <a:lstStyle/>
          <a:p>
            <a:pPr algn="ctr">
              <a:spcBef>
                <a:spcPts val="0"/>
              </a:spcBef>
              <a:spcAft>
                <a:spcPts val="0"/>
              </a:spcAft>
              <a:buNone/>
            </a:pPr>
            <a:r>
              <a:rPr lang="vi-VN" sz="1300" b="1" i="0" dirty="0">
                <a:solidFill>
                  <a:srgbClr val="223771"/>
                </a:solidFill>
                <a:latin typeface="Times New Roman"/>
                <a:cs typeface="Times New Roman"/>
              </a:rPr>
              <a:t>TC-44</a:t>
            </a:r>
          </a:p>
        </p:txBody>
      </p:sp>
      <p:sp>
        <p:nvSpPr>
          <p:cNvPr id="18" name="TextBox 18"/>
          <p:cNvSpPr txBox="1"/>
          <p:nvPr/>
        </p:nvSpPr>
        <p:spPr>
          <a:xfrm>
            <a:off x="1828800" y="5184648"/>
            <a:ext cx="3945636" cy="548640"/>
          </a:xfrm>
          <a:prstGeom prst="rect">
            <a:avLst/>
          </a:prstGeom>
          <a:noFill/>
          <a:ln>
            <a:noFill/>
          </a:ln>
        </p:spPr>
        <p:txBody>
          <a:bodyPr wrap="square" lIns="0" tIns="0" rIns="0" bIns="0" rtlCol="0" anchor="ctr">
            <a:noAutofit/>
          </a:bodyPr>
          <a:lstStyle/>
          <a:p>
            <a:pPr algn="l">
              <a:spcBef>
                <a:spcPts val="0"/>
              </a:spcBef>
              <a:spcAft>
                <a:spcPts val="0"/>
              </a:spcAft>
              <a:buNone/>
            </a:pPr>
            <a:r>
              <a:rPr lang="vi-VN" sz="1700" b="0" i="0" dirty="0">
                <a:solidFill>
                  <a:srgbClr val="1F2433"/>
                </a:solidFill>
                <a:latin typeface="Times New Roman"/>
                <a:cs typeface="Times New Roman"/>
              </a:rPr>
              <a:t>Chưa cập nhật số bản mất, hỏng khi trả</a:t>
            </a:r>
          </a:p>
        </p:txBody>
      </p:sp>
      <p:sp>
        <p:nvSpPr>
          <p:cNvPr id="19" name="TextBox 19"/>
          <p:cNvSpPr txBox="1"/>
          <p:nvPr/>
        </p:nvSpPr>
        <p:spPr>
          <a:xfrm>
            <a:off x="6460236" y="2286000"/>
            <a:ext cx="5042916" cy="3566160"/>
          </a:xfrm>
          <a:prstGeom prst="rect">
            <a:avLst/>
          </a:prstGeom>
          <a:noFill/>
          <a:ln>
            <a:noFill/>
          </a:ln>
        </p:spPr>
        <p:txBody>
          <a:bodyPr wrap="square" lIns="0" tIns="0" rIns="0" bIns="0" rtlCol="0" anchor="t">
            <a:noAutofit/>
          </a:bodyPr>
          <a:lstStyle/>
          <a:p>
            <a:pPr marL="285750" indent="-285750" algn="l">
              <a:lnSpc>
                <a:spcPct val="105000"/>
              </a:lnSpc>
              <a:spcBef>
                <a:spcPts val="1000"/>
              </a:spcBef>
              <a:spcAft>
                <a:spcPts val="0"/>
              </a:spcAft>
              <a:buClr>
                <a:srgbClr val="F26522"/>
              </a:buClr>
              <a:buFont typeface="Arial"/>
              <a:buChar char="•"/>
            </a:pPr>
            <a:r>
              <a:rPr lang="vi-VN" sz="1700" b="0" i="0" dirty="0">
                <a:solidFill>
                  <a:srgbClr val="1F2433"/>
                </a:solidFill>
                <a:latin typeface="Times New Roman"/>
                <a:cs typeface="Times New Roman"/>
              </a:rPr>
              <a:t>Chưa có nút đăng nhập Google và trang quên mật khẩu (máy chủ đã có API)</a:t>
            </a:r>
          </a:p>
          <a:p>
            <a:pPr marL="285750" indent="-285750" algn="l">
              <a:lnSpc>
                <a:spcPct val="105000"/>
              </a:lnSpc>
              <a:spcBef>
                <a:spcPts val="1000"/>
              </a:spcBef>
              <a:spcAft>
                <a:spcPts val="0"/>
              </a:spcAft>
              <a:buClr>
                <a:srgbClr val="F26522"/>
              </a:buClr>
              <a:buFont typeface="Arial"/>
              <a:buChar char="•"/>
            </a:pPr>
            <a:r>
              <a:rPr lang="vi-VN" sz="1700" b="0" i="0" dirty="0">
                <a:solidFill>
                  <a:srgbClr val="1F2433"/>
                </a:solidFill>
                <a:latin typeface="Times New Roman"/>
                <a:cs typeface="Times New Roman"/>
              </a:rPr>
              <a:t>Chỉ chạy cục bộ, chưa có HTTPS; thanh toán ở môi trường sandbox</a:t>
            </a:r>
          </a:p>
          <a:p>
            <a:pPr marL="285750" indent="-285750" algn="l">
              <a:lnSpc>
                <a:spcPct val="105000"/>
              </a:lnSpc>
              <a:spcBef>
                <a:spcPts val="1000"/>
              </a:spcBef>
              <a:spcAft>
                <a:spcPts val="0"/>
              </a:spcAft>
              <a:buClr>
                <a:srgbClr val="F26522"/>
              </a:buClr>
              <a:buFont typeface="Arial"/>
              <a:buChar char="•"/>
            </a:pPr>
            <a:r>
              <a:rPr lang="vi-VN" sz="1700" b="0" i="0" dirty="0">
                <a:solidFill>
                  <a:srgbClr val="1F2433"/>
                </a:solidFill>
                <a:latin typeface="Times New Roman"/>
                <a:cs typeface="Times New Roman"/>
              </a:rPr>
              <a:t>Chưa kiểm thử tự động giao diện, chưa thử trên Firefox và điện thoại</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b="1" dirty="0">
                <a:solidFill>
                  <a:srgbClr val="223771"/>
                </a:solidFill>
                <a:latin typeface="Times New Roman"/>
                <a:cs typeface="Times New Roman"/>
              </a:rPr>
              <a:t>KẾ HOẠCH THỰC HIỆN</a:t>
            </a:r>
          </a:p>
        </p:txBody>
      </p:sp>
      <p:sp>
        <p:nvSpPr>
          <p:cNvPr id="4" name="TextBox 4"/>
          <p:cNvSpPr txBox="1"/>
          <p:nvPr/>
        </p:nvSpPr>
        <p:spPr>
          <a:xfrm>
            <a:off x="457200" y="896112"/>
            <a:ext cx="11274552" cy="411480"/>
          </a:xfrm>
          <a:prstGeom prst="rect">
            <a:avLst/>
          </a:prstGeom>
          <a:noFill/>
          <a:ln>
            <a:noFill/>
          </a:ln>
        </p:spPr>
        <p:txBody>
          <a:bodyPr wrap="square" lIns="0" tIns="0" rIns="0" bIns="0" rtlCol="0" anchor="ctr">
            <a:noAutofit/>
          </a:bodyPr>
          <a:lstStyle/>
          <a:p>
            <a:pPr algn="l">
              <a:spcBef>
                <a:spcPts val="0"/>
              </a:spcBef>
              <a:spcAft>
                <a:spcPts val="0"/>
              </a:spcAft>
              <a:buNone/>
            </a:pPr>
            <a:r>
              <a:rPr lang="vi-VN" sz="1800" b="0" i="1" dirty="0">
                <a:solidFill>
                  <a:srgbClr val="5A6272"/>
                </a:solidFill>
                <a:latin typeface="Times New Roman"/>
                <a:cs typeface="Times New Roman"/>
              </a:rPr>
              <a:t>Năm giai đoạn trong khoảng 15 tuần, gối đầu nhau</a:t>
            </a:r>
          </a:p>
        </p:txBody>
      </p:sp>
      <p:sp>
        <p:nvSpPr>
          <p:cNvPr id="5" name="TextBox 5"/>
          <p:cNvSpPr txBox="1"/>
          <p:nvPr/>
        </p:nvSpPr>
        <p:spPr>
          <a:xfrm>
            <a:off x="3200400" y="1417320"/>
            <a:ext cx="568757" cy="320040"/>
          </a:xfrm>
          <a:prstGeom prst="rect">
            <a:avLst/>
          </a:prstGeom>
          <a:noFill/>
          <a:ln>
            <a:noFill/>
          </a:ln>
        </p:spPr>
        <p:txBody>
          <a:bodyPr wrap="square" lIns="0" tIns="0" rIns="0" bIns="0" rtlCol="0" anchor="ctr">
            <a:noAutofit/>
          </a:bodyPr>
          <a:lstStyle/>
          <a:p>
            <a:pPr algn="ctr">
              <a:spcBef>
                <a:spcPts val="0"/>
              </a:spcBef>
              <a:spcAft>
                <a:spcPts val="0"/>
              </a:spcAft>
              <a:buNone/>
            </a:pPr>
            <a:r>
              <a:rPr lang="vi-VN" sz="1200" b="1" i="0" dirty="0">
                <a:solidFill>
                  <a:srgbClr val="5A6272"/>
                </a:solidFill>
                <a:latin typeface="Times New Roman"/>
                <a:cs typeface="Times New Roman"/>
              </a:rPr>
              <a:t>1</a:t>
            </a:r>
          </a:p>
        </p:txBody>
      </p:sp>
      <p:sp>
        <p:nvSpPr>
          <p:cNvPr id="6" name="TextBox 6"/>
          <p:cNvSpPr txBox="1"/>
          <p:nvPr/>
        </p:nvSpPr>
        <p:spPr>
          <a:xfrm>
            <a:off x="3769157" y="1417320"/>
            <a:ext cx="568757" cy="320040"/>
          </a:xfrm>
          <a:prstGeom prst="rect">
            <a:avLst/>
          </a:prstGeom>
          <a:noFill/>
          <a:ln>
            <a:noFill/>
          </a:ln>
        </p:spPr>
        <p:txBody>
          <a:bodyPr wrap="square" lIns="0" tIns="0" rIns="0" bIns="0" rtlCol="0" anchor="ctr">
            <a:noAutofit/>
          </a:bodyPr>
          <a:lstStyle/>
          <a:p>
            <a:pPr algn="ctr">
              <a:spcBef>
                <a:spcPts val="0"/>
              </a:spcBef>
              <a:spcAft>
                <a:spcPts val="0"/>
              </a:spcAft>
              <a:buNone/>
            </a:pPr>
            <a:r>
              <a:rPr lang="vi-VN" sz="1200" b="1" i="0" dirty="0">
                <a:solidFill>
                  <a:srgbClr val="5A6272"/>
                </a:solidFill>
                <a:latin typeface="Times New Roman"/>
                <a:cs typeface="Times New Roman"/>
              </a:rPr>
              <a:t>2</a:t>
            </a:r>
          </a:p>
        </p:txBody>
      </p:sp>
      <p:sp>
        <p:nvSpPr>
          <p:cNvPr id="7" name="TextBox 7"/>
          <p:cNvSpPr txBox="1"/>
          <p:nvPr/>
        </p:nvSpPr>
        <p:spPr>
          <a:xfrm>
            <a:off x="4337914" y="1417320"/>
            <a:ext cx="568757" cy="320040"/>
          </a:xfrm>
          <a:prstGeom prst="rect">
            <a:avLst/>
          </a:prstGeom>
          <a:noFill/>
          <a:ln>
            <a:noFill/>
          </a:ln>
        </p:spPr>
        <p:txBody>
          <a:bodyPr wrap="square" lIns="0" tIns="0" rIns="0" bIns="0" rtlCol="0" anchor="ctr">
            <a:noAutofit/>
          </a:bodyPr>
          <a:lstStyle/>
          <a:p>
            <a:pPr algn="ctr">
              <a:spcBef>
                <a:spcPts val="0"/>
              </a:spcBef>
              <a:spcAft>
                <a:spcPts val="0"/>
              </a:spcAft>
              <a:buNone/>
            </a:pPr>
            <a:r>
              <a:rPr lang="vi-VN" sz="1200" b="1" i="0" dirty="0">
                <a:solidFill>
                  <a:srgbClr val="5A6272"/>
                </a:solidFill>
                <a:latin typeface="Times New Roman"/>
                <a:cs typeface="Times New Roman"/>
              </a:rPr>
              <a:t>3</a:t>
            </a:r>
          </a:p>
        </p:txBody>
      </p:sp>
      <p:sp>
        <p:nvSpPr>
          <p:cNvPr id="8" name="TextBox 8"/>
          <p:cNvSpPr txBox="1"/>
          <p:nvPr/>
        </p:nvSpPr>
        <p:spPr>
          <a:xfrm>
            <a:off x="4906670" y="1417320"/>
            <a:ext cx="568757" cy="320040"/>
          </a:xfrm>
          <a:prstGeom prst="rect">
            <a:avLst/>
          </a:prstGeom>
          <a:noFill/>
          <a:ln>
            <a:noFill/>
          </a:ln>
        </p:spPr>
        <p:txBody>
          <a:bodyPr wrap="square" lIns="0" tIns="0" rIns="0" bIns="0" rtlCol="0" anchor="ctr">
            <a:noAutofit/>
          </a:bodyPr>
          <a:lstStyle/>
          <a:p>
            <a:pPr algn="ctr">
              <a:spcBef>
                <a:spcPts val="0"/>
              </a:spcBef>
              <a:spcAft>
                <a:spcPts val="0"/>
              </a:spcAft>
              <a:buNone/>
            </a:pPr>
            <a:r>
              <a:rPr lang="vi-VN" sz="1200" b="1" i="0" dirty="0">
                <a:solidFill>
                  <a:srgbClr val="5A6272"/>
                </a:solidFill>
                <a:latin typeface="Times New Roman"/>
                <a:cs typeface="Times New Roman"/>
              </a:rPr>
              <a:t>4</a:t>
            </a:r>
          </a:p>
        </p:txBody>
      </p:sp>
      <p:sp>
        <p:nvSpPr>
          <p:cNvPr id="9" name="TextBox 9"/>
          <p:cNvSpPr txBox="1"/>
          <p:nvPr/>
        </p:nvSpPr>
        <p:spPr>
          <a:xfrm>
            <a:off x="5475427" y="1417320"/>
            <a:ext cx="568757" cy="320040"/>
          </a:xfrm>
          <a:prstGeom prst="rect">
            <a:avLst/>
          </a:prstGeom>
          <a:noFill/>
          <a:ln>
            <a:noFill/>
          </a:ln>
        </p:spPr>
        <p:txBody>
          <a:bodyPr wrap="square" lIns="0" tIns="0" rIns="0" bIns="0" rtlCol="0" anchor="ctr">
            <a:noAutofit/>
          </a:bodyPr>
          <a:lstStyle/>
          <a:p>
            <a:pPr algn="ctr">
              <a:spcBef>
                <a:spcPts val="0"/>
              </a:spcBef>
              <a:spcAft>
                <a:spcPts val="0"/>
              </a:spcAft>
              <a:buNone/>
            </a:pPr>
            <a:r>
              <a:rPr lang="vi-VN" sz="1200" b="1" i="0" dirty="0">
                <a:solidFill>
                  <a:srgbClr val="5A6272"/>
                </a:solidFill>
                <a:latin typeface="Times New Roman"/>
                <a:cs typeface="Times New Roman"/>
              </a:rPr>
              <a:t>5</a:t>
            </a:r>
          </a:p>
        </p:txBody>
      </p:sp>
      <p:sp>
        <p:nvSpPr>
          <p:cNvPr id="10" name="TextBox 10"/>
          <p:cNvSpPr txBox="1"/>
          <p:nvPr/>
        </p:nvSpPr>
        <p:spPr>
          <a:xfrm>
            <a:off x="6044184" y="1417320"/>
            <a:ext cx="568757" cy="320040"/>
          </a:xfrm>
          <a:prstGeom prst="rect">
            <a:avLst/>
          </a:prstGeom>
          <a:noFill/>
          <a:ln>
            <a:noFill/>
          </a:ln>
        </p:spPr>
        <p:txBody>
          <a:bodyPr wrap="square" lIns="0" tIns="0" rIns="0" bIns="0" rtlCol="0" anchor="ctr">
            <a:noAutofit/>
          </a:bodyPr>
          <a:lstStyle/>
          <a:p>
            <a:pPr algn="ctr">
              <a:spcBef>
                <a:spcPts val="0"/>
              </a:spcBef>
              <a:spcAft>
                <a:spcPts val="0"/>
              </a:spcAft>
              <a:buNone/>
            </a:pPr>
            <a:r>
              <a:rPr lang="vi-VN" sz="1200" b="1" i="0" dirty="0">
                <a:solidFill>
                  <a:srgbClr val="5A6272"/>
                </a:solidFill>
                <a:latin typeface="Times New Roman"/>
                <a:cs typeface="Times New Roman"/>
              </a:rPr>
              <a:t>6</a:t>
            </a:r>
          </a:p>
        </p:txBody>
      </p:sp>
      <p:sp>
        <p:nvSpPr>
          <p:cNvPr id="11" name="TextBox 11"/>
          <p:cNvSpPr txBox="1"/>
          <p:nvPr/>
        </p:nvSpPr>
        <p:spPr>
          <a:xfrm>
            <a:off x="6612941" y="1417320"/>
            <a:ext cx="568757" cy="320040"/>
          </a:xfrm>
          <a:prstGeom prst="rect">
            <a:avLst/>
          </a:prstGeom>
          <a:noFill/>
          <a:ln>
            <a:noFill/>
          </a:ln>
        </p:spPr>
        <p:txBody>
          <a:bodyPr wrap="square" lIns="0" tIns="0" rIns="0" bIns="0" rtlCol="0" anchor="ctr">
            <a:noAutofit/>
          </a:bodyPr>
          <a:lstStyle/>
          <a:p>
            <a:pPr algn="ctr">
              <a:spcBef>
                <a:spcPts val="0"/>
              </a:spcBef>
              <a:spcAft>
                <a:spcPts val="0"/>
              </a:spcAft>
              <a:buNone/>
            </a:pPr>
            <a:r>
              <a:rPr lang="vi-VN" sz="1200" b="1" i="0" dirty="0">
                <a:solidFill>
                  <a:srgbClr val="5A6272"/>
                </a:solidFill>
                <a:latin typeface="Times New Roman"/>
                <a:cs typeface="Times New Roman"/>
              </a:rPr>
              <a:t>7</a:t>
            </a:r>
          </a:p>
        </p:txBody>
      </p:sp>
      <p:sp>
        <p:nvSpPr>
          <p:cNvPr id="12" name="TextBox 12"/>
          <p:cNvSpPr txBox="1"/>
          <p:nvPr/>
        </p:nvSpPr>
        <p:spPr>
          <a:xfrm>
            <a:off x="7181698" y="1417320"/>
            <a:ext cx="568757" cy="320040"/>
          </a:xfrm>
          <a:prstGeom prst="rect">
            <a:avLst/>
          </a:prstGeom>
          <a:noFill/>
          <a:ln>
            <a:noFill/>
          </a:ln>
        </p:spPr>
        <p:txBody>
          <a:bodyPr wrap="square" lIns="0" tIns="0" rIns="0" bIns="0" rtlCol="0" anchor="ctr">
            <a:noAutofit/>
          </a:bodyPr>
          <a:lstStyle/>
          <a:p>
            <a:pPr algn="ctr">
              <a:spcBef>
                <a:spcPts val="0"/>
              </a:spcBef>
              <a:spcAft>
                <a:spcPts val="0"/>
              </a:spcAft>
              <a:buNone/>
            </a:pPr>
            <a:r>
              <a:rPr lang="vi-VN" sz="1200" b="1" i="0" dirty="0">
                <a:solidFill>
                  <a:srgbClr val="5A6272"/>
                </a:solidFill>
                <a:latin typeface="Times New Roman"/>
                <a:cs typeface="Times New Roman"/>
              </a:rPr>
              <a:t>8</a:t>
            </a:r>
          </a:p>
        </p:txBody>
      </p:sp>
      <p:sp>
        <p:nvSpPr>
          <p:cNvPr id="13" name="TextBox 13"/>
          <p:cNvSpPr txBox="1"/>
          <p:nvPr/>
        </p:nvSpPr>
        <p:spPr>
          <a:xfrm>
            <a:off x="7750454" y="1417320"/>
            <a:ext cx="568757" cy="320040"/>
          </a:xfrm>
          <a:prstGeom prst="rect">
            <a:avLst/>
          </a:prstGeom>
          <a:noFill/>
          <a:ln>
            <a:noFill/>
          </a:ln>
        </p:spPr>
        <p:txBody>
          <a:bodyPr wrap="square" lIns="0" tIns="0" rIns="0" bIns="0" rtlCol="0" anchor="ctr">
            <a:noAutofit/>
          </a:bodyPr>
          <a:lstStyle/>
          <a:p>
            <a:pPr algn="ctr">
              <a:spcBef>
                <a:spcPts val="0"/>
              </a:spcBef>
              <a:spcAft>
                <a:spcPts val="0"/>
              </a:spcAft>
              <a:buNone/>
            </a:pPr>
            <a:r>
              <a:rPr lang="vi-VN" sz="1200" b="1" i="0" dirty="0">
                <a:solidFill>
                  <a:srgbClr val="5A6272"/>
                </a:solidFill>
                <a:latin typeface="Times New Roman"/>
                <a:cs typeface="Times New Roman"/>
              </a:rPr>
              <a:t>9</a:t>
            </a:r>
          </a:p>
        </p:txBody>
      </p:sp>
      <p:sp>
        <p:nvSpPr>
          <p:cNvPr id="14" name="TextBox 14"/>
          <p:cNvSpPr txBox="1"/>
          <p:nvPr/>
        </p:nvSpPr>
        <p:spPr>
          <a:xfrm>
            <a:off x="8319211" y="1417320"/>
            <a:ext cx="568757" cy="320040"/>
          </a:xfrm>
          <a:prstGeom prst="rect">
            <a:avLst/>
          </a:prstGeom>
          <a:noFill/>
          <a:ln>
            <a:noFill/>
          </a:ln>
        </p:spPr>
        <p:txBody>
          <a:bodyPr wrap="square" lIns="0" tIns="0" rIns="0" bIns="0" rtlCol="0" anchor="ctr">
            <a:noAutofit/>
          </a:bodyPr>
          <a:lstStyle/>
          <a:p>
            <a:pPr algn="ctr">
              <a:spcBef>
                <a:spcPts val="0"/>
              </a:spcBef>
              <a:spcAft>
                <a:spcPts val="0"/>
              </a:spcAft>
              <a:buNone/>
            </a:pPr>
            <a:r>
              <a:rPr lang="vi-VN" sz="1200" b="1" i="0" dirty="0">
                <a:solidFill>
                  <a:srgbClr val="5A6272"/>
                </a:solidFill>
                <a:latin typeface="Times New Roman"/>
                <a:cs typeface="Times New Roman"/>
              </a:rPr>
              <a:t>10</a:t>
            </a:r>
          </a:p>
        </p:txBody>
      </p:sp>
      <p:sp>
        <p:nvSpPr>
          <p:cNvPr id="15" name="TextBox 15"/>
          <p:cNvSpPr txBox="1"/>
          <p:nvPr/>
        </p:nvSpPr>
        <p:spPr>
          <a:xfrm>
            <a:off x="8887968" y="1417320"/>
            <a:ext cx="568757" cy="320040"/>
          </a:xfrm>
          <a:prstGeom prst="rect">
            <a:avLst/>
          </a:prstGeom>
          <a:noFill/>
          <a:ln>
            <a:noFill/>
          </a:ln>
        </p:spPr>
        <p:txBody>
          <a:bodyPr wrap="square" lIns="0" tIns="0" rIns="0" bIns="0" rtlCol="0" anchor="ctr">
            <a:noAutofit/>
          </a:bodyPr>
          <a:lstStyle/>
          <a:p>
            <a:pPr algn="ctr">
              <a:spcBef>
                <a:spcPts val="0"/>
              </a:spcBef>
              <a:spcAft>
                <a:spcPts val="0"/>
              </a:spcAft>
              <a:buNone/>
            </a:pPr>
            <a:r>
              <a:rPr lang="vi-VN" sz="1200" b="1" i="0" dirty="0">
                <a:solidFill>
                  <a:srgbClr val="5A6272"/>
                </a:solidFill>
                <a:latin typeface="Times New Roman"/>
                <a:cs typeface="Times New Roman"/>
              </a:rPr>
              <a:t>11</a:t>
            </a:r>
          </a:p>
        </p:txBody>
      </p:sp>
      <p:sp>
        <p:nvSpPr>
          <p:cNvPr id="16" name="TextBox 16"/>
          <p:cNvSpPr txBox="1"/>
          <p:nvPr/>
        </p:nvSpPr>
        <p:spPr>
          <a:xfrm>
            <a:off x="9456725" y="1417320"/>
            <a:ext cx="568757" cy="320040"/>
          </a:xfrm>
          <a:prstGeom prst="rect">
            <a:avLst/>
          </a:prstGeom>
          <a:noFill/>
          <a:ln>
            <a:noFill/>
          </a:ln>
        </p:spPr>
        <p:txBody>
          <a:bodyPr wrap="square" lIns="0" tIns="0" rIns="0" bIns="0" rtlCol="0" anchor="ctr">
            <a:noAutofit/>
          </a:bodyPr>
          <a:lstStyle/>
          <a:p>
            <a:pPr algn="ctr">
              <a:spcBef>
                <a:spcPts val="0"/>
              </a:spcBef>
              <a:spcAft>
                <a:spcPts val="0"/>
              </a:spcAft>
              <a:buNone/>
            </a:pPr>
            <a:r>
              <a:rPr lang="vi-VN" sz="1200" b="1" i="0" dirty="0">
                <a:solidFill>
                  <a:srgbClr val="5A6272"/>
                </a:solidFill>
                <a:latin typeface="Times New Roman"/>
                <a:cs typeface="Times New Roman"/>
              </a:rPr>
              <a:t>12</a:t>
            </a:r>
          </a:p>
        </p:txBody>
      </p:sp>
      <p:sp>
        <p:nvSpPr>
          <p:cNvPr id="17" name="TextBox 17"/>
          <p:cNvSpPr txBox="1"/>
          <p:nvPr/>
        </p:nvSpPr>
        <p:spPr>
          <a:xfrm>
            <a:off x="10025482" y="1417320"/>
            <a:ext cx="568757" cy="320040"/>
          </a:xfrm>
          <a:prstGeom prst="rect">
            <a:avLst/>
          </a:prstGeom>
          <a:noFill/>
          <a:ln>
            <a:noFill/>
          </a:ln>
        </p:spPr>
        <p:txBody>
          <a:bodyPr wrap="square" lIns="0" tIns="0" rIns="0" bIns="0" rtlCol="0" anchor="ctr">
            <a:noAutofit/>
          </a:bodyPr>
          <a:lstStyle/>
          <a:p>
            <a:pPr algn="ctr">
              <a:spcBef>
                <a:spcPts val="0"/>
              </a:spcBef>
              <a:spcAft>
                <a:spcPts val="0"/>
              </a:spcAft>
              <a:buNone/>
            </a:pPr>
            <a:r>
              <a:rPr lang="vi-VN" sz="1200" b="1" i="0" dirty="0">
                <a:solidFill>
                  <a:srgbClr val="5A6272"/>
                </a:solidFill>
                <a:latin typeface="Times New Roman"/>
                <a:cs typeface="Times New Roman"/>
              </a:rPr>
              <a:t>13</a:t>
            </a:r>
          </a:p>
        </p:txBody>
      </p:sp>
      <p:sp>
        <p:nvSpPr>
          <p:cNvPr id="18" name="TextBox 18"/>
          <p:cNvSpPr txBox="1"/>
          <p:nvPr/>
        </p:nvSpPr>
        <p:spPr>
          <a:xfrm>
            <a:off x="10594238" y="1417320"/>
            <a:ext cx="568757" cy="320040"/>
          </a:xfrm>
          <a:prstGeom prst="rect">
            <a:avLst/>
          </a:prstGeom>
          <a:noFill/>
          <a:ln>
            <a:noFill/>
          </a:ln>
        </p:spPr>
        <p:txBody>
          <a:bodyPr wrap="square" lIns="0" tIns="0" rIns="0" bIns="0" rtlCol="0" anchor="ctr">
            <a:noAutofit/>
          </a:bodyPr>
          <a:lstStyle/>
          <a:p>
            <a:pPr algn="ctr">
              <a:spcBef>
                <a:spcPts val="0"/>
              </a:spcBef>
              <a:spcAft>
                <a:spcPts val="0"/>
              </a:spcAft>
              <a:buNone/>
            </a:pPr>
            <a:r>
              <a:rPr lang="vi-VN" sz="1200" b="1" i="0" dirty="0">
                <a:solidFill>
                  <a:srgbClr val="5A6272"/>
                </a:solidFill>
                <a:latin typeface="Times New Roman"/>
                <a:cs typeface="Times New Roman"/>
              </a:rPr>
              <a:t>14</a:t>
            </a:r>
          </a:p>
        </p:txBody>
      </p:sp>
      <p:sp>
        <p:nvSpPr>
          <p:cNvPr id="19" name="TextBox 19"/>
          <p:cNvSpPr txBox="1"/>
          <p:nvPr/>
        </p:nvSpPr>
        <p:spPr>
          <a:xfrm>
            <a:off x="11162995" y="1417320"/>
            <a:ext cx="568757" cy="320040"/>
          </a:xfrm>
          <a:prstGeom prst="rect">
            <a:avLst/>
          </a:prstGeom>
          <a:noFill/>
          <a:ln>
            <a:noFill/>
          </a:ln>
        </p:spPr>
        <p:txBody>
          <a:bodyPr wrap="square" lIns="0" tIns="0" rIns="0" bIns="0" rtlCol="0" anchor="ctr">
            <a:noAutofit/>
          </a:bodyPr>
          <a:lstStyle/>
          <a:p>
            <a:pPr algn="ctr">
              <a:spcBef>
                <a:spcPts val="0"/>
              </a:spcBef>
              <a:spcAft>
                <a:spcPts val="0"/>
              </a:spcAft>
              <a:buNone/>
            </a:pPr>
            <a:r>
              <a:rPr lang="vi-VN" sz="1200" b="1" i="0" dirty="0">
                <a:solidFill>
                  <a:srgbClr val="5A6272"/>
                </a:solidFill>
                <a:latin typeface="Times New Roman"/>
                <a:cs typeface="Times New Roman"/>
              </a:rPr>
              <a:t>15</a:t>
            </a:r>
          </a:p>
        </p:txBody>
      </p:sp>
      <p:sp>
        <p:nvSpPr>
          <p:cNvPr id="20" name="TextBox 20"/>
          <p:cNvSpPr txBox="1"/>
          <p:nvPr/>
        </p:nvSpPr>
        <p:spPr>
          <a:xfrm>
            <a:off x="457200" y="1828800"/>
            <a:ext cx="2651760" cy="457200"/>
          </a:xfrm>
          <a:prstGeom prst="rect">
            <a:avLst/>
          </a:prstGeom>
          <a:noFill/>
          <a:ln>
            <a:noFill/>
          </a:ln>
        </p:spPr>
        <p:txBody>
          <a:bodyPr wrap="square" lIns="0" tIns="0" rIns="0" bIns="0" rtlCol="0" anchor="ctr">
            <a:noAutofit/>
          </a:bodyPr>
          <a:lstStyle/>
          <a:p>
            <a:pPr algn="l">
              <a:spcBef>
                <a:spcPts val="0"/>
              </a:spcBef>
              <a:spcAft>
                <a:spcPts val="0"/>
              </a:spcAft>
              <a:buNone/>
            </a:pPr>
            <a:r>
              <a:rPr lang="vi-VN" sz="1700" b="1" i="0" dirty="0">
                <a:solidFill>
                  <a:srgbClr val="1F2433"/>
                </a:solidFill>
                <a:latin typeface="Times New Roman"/>
                <a:cs typeface="Times New Roman"/>
              </a:rPr>
              <a:t>Khởi động, phân tích</a:t>
            </a:r>
          </a:p>
        </p:txBody>
      </p:sp>
      <p:sp>
        <p:nvSpPr>
          <p:cNvPr id="21" name="Track 21"/>
          <p:cNvSpPr/>
          <p:nvPr/>
        </p:nvSpPr>
        <p:spPr>
          <a:xfrm>
            <a:off x="3200400" y="1828800"/>
            <a:ext cx="8531352" cy="457200"/>
          </a:xfrm>
          <a:prstGeom prst="roundRect">
            <a:avLst>
              <a:gd name="adj" fmla="val 50000"/>
            </a:avLst>
          </a:prstGeom>
          <a:solidFill>
            <a:srgbClr val="EEF1F7"/>
          </a:solidFill>
          <a:ln>
            <a:noFill/>
          </a:ln>
        </p:spPr>
      </p:sp>
      <p:sp>
        <p:nvSpPr>
          <p:cNvPr id="22" name="Bar 22"/>
          <p:cNvSpPr/>
          <p:nvPr/>
        </p:nvSpPr>
        <p:spPr>
          <a:xfrm>
            <a:off x="3200400" y="1828800"/>
            <a:ext cx="2275027" cy="457200"/>
          </a:xfrm>
          <a:prstGeom prst="roundRect">
            <a:avLst>
              <a:gd name="adj" fmla="val 50000"/>
            </a:avLst>
          </a:prstGeom>
          <a:solidFill>
            <a:srgbClr val="223771"/>
          </a:solidFill>
          <a:ln>
            <a:noFill/>
          </a:ln>
        </p:spPr>
        <p:txBody>
          <a:bodyPr wrap="square" lIns="45720" tIns="0" rIns="45720" bIns="0" rtlCol="0" anchor="ctr">
            <a:noAutofit/>
          </a:bodyPr>
          <a:lstStyle/>
          <a:p>
            <a:pPr algn="ctr">
              <a:spcBef>
                <a:spcPts val="0"/>
              </a:spcBef>
              <a:spcAft>
                <a:spcPts val="0"/>
              </a:spcAft>
              <a:buNone/>
            </a:pPr>
            <a:r>
              <a:rPr lang="vi-VN" sz="1400" b="1" i="0" dirty="0">
                <a:solidFill>
                  <a:srgbClr val="FFFFFF"/>
                </a:solidFill>
                <a:latin typeface="Times New Roman"/>
                <a:cs typeface="Times New Roman"/>
              </a:rPr>
              <a:t>Tuần 1–4</a:t>
            </a:r>
          </a:p>
        </p:txBody>
      </p:sp>
      <p:sp>
        <p:nvSpPr>
          <p:cNvPr id="23" name="TextBox 23"/>
          <p:cNvSpPr txBox="1"/>
          <p:nvPr/>
        </p:nvSpPr>
        <p:spPr>
          <a:xfrm>
            <a:off x="457200" y="2487168"/>
            <a:ext cx="2651760" cy="457200"/>
          </a:xfrm>
          <a:prstGeom prst="rect">
            <a:avLst/>
          </a:prstGeom>
          <a:noFill/>
          <a:ln>
            <a:noFill/>
          </a:ln>
        </p:spPr>
        <p:txBody>
          <a:bodyPr wrap="square" lIns="0" tIns="0" rIns="0" bIns="0" rtlCol="0" anchor="ctr">
            <a:noAutofit/>
          </a:bodyPr>
          <a:lstStyle/>
          <a:p>
            <a:pPr algn="l">
              <a:spcBef>
                <a:spcPts val="0"/>
              </a:spcBef>
              <a:spcAft>
                <a:spcPts val="0"/>
              </a:spcAft>
              <a:buNone/>
            </a:pPr>
            <a:r>
              <a:rPr lang="vi-VN" sz="1700" b="1" i="0" dirty="0">
                <a:solidFill>
                  <a:srgbClr val="1F2433"/>
                </a:solidFill>
                <a:latin typeface="Times New Roman"/>
                <a:cs typeface="Times New Roman"/>
              </a:rPr>
              <a:t>Thiết kế</a:t>
            </a:r>
          </a:p>
        </p:txBody>
      </p:sp>
      <p:sp>
        <p:nvSpPr>
          <p:cNvPr id="24" name="Track 24"/>
          <p:cNvSpPr/>
          <p:nvPr/>
        </p:nvSpPr>
        <p:spPr>
          <a:xfrm>
            <a:off x="3200400" y="2487168"/>
            <a:ext cx="8531352" cy="457200"/>
          </a:xfrm>
          <a:prstGeom prst="roundRect">
            <a:avLst>
              <a:gd name="adj" fmla="val 50000"/>
            </a:avLst>
          </a:prstGeom>
          <a:solidFill>
            <a:srgbClr val="EEF1F7"/>
          </a:solidFill>
          <a:ln>
            <a:noFill/>
          </a:ln>
        </p:spPr>
      </p:sp>
      <p:sp>
        <p:nvSpPr>
          <p:cNvPr id="25" name="Bar 25"/>
          <p:cNvSpPr/>
          <p:nvPr/>
        </p:nvSpPr>
        <p:spPr>
          <a:xfrm>
            <a:off x="4337914" y="2487168"/>
            <a:ext cx="1706270" cy="457200"/>
          </a:xfrm>
          <a:prstGeom prst="roundRect">
            <a:avLst>
              <a:gd name="adj" fmla="val 50000"/>
            </a:avLst>
          </a:prstGeom>
          <a:solidFill>
            <a:srgbClr val="223771"/>
          </a:solidFill>
          <a:ln>
            <a:noFill/>
          </a:ln>
        </p:spPr>
        <p:txBody>
          <a:bodyPr wrap="square" lIns="45720" tIns="0" rIns="45720" bIns="0" rtlCol="0" anchor="ctr">
            <a:noAutofit/>
          </a:bodyPr>
          <a:lstStyle/>
          <a:p>
            <a:pPr algn="ctr">
              <a:spcBef>
                <a:spcPts val="0"/>
              </a:spcBef>
              <a:spcAft>
                <a:spcPts val="0"/>
              </a:spcAft>
              <a:buNone/>
            </a:pPr>
            <a:r>
              <a:rPr lang="vi-VN" sz="1400" b="1" i="0" dirty="0">
                <a:solidFill>
                  <a:srgbClr val="FFFFFF"/>
                </a:solidFill>
                <a:latin typeface="Times New Roman"/>
                <a:cs typeface="Times New Roman"/>
              </a:rPr>
              <a:t>Tuần 3–5</a:t>
            </a:r>
          </a:p>
        </p:txBody>
      </p:sp>
      <p:sp>
        <p:nvSpPr>
          <p:cNvPr id="26" name="TextBox 26"/>
          <p:cNvSpPr txBox="1"/>
          <p:nvPr/>
        </p:nvSpPr>
        <p:spPr>
          <a:xfrm>
            <a:off x="457200" y="3145536"/>
            <a:ext cx="2651760" cy="457200"/>
          </a:xfrm>
          <a:prstGeom prst="rect">
            <a:avLst/>
          </a:prstGeom>
          <a:noFill/>
          <a:ln>
            <a:noFill/>
          </a:ln>
        </p:spPr>
        <p:txBody>
          <a:bodyPr wrap="square" lIns="0" tIns="0" rIns="0" bIns="0" rtlCol="0" anchor="ctr">
            <a:noAutofit/>
          </a:bodyPr>
          <a:lstStyle/>
          <a:p>
            <a:pPr algn="l">
              <a:spcBef>
                <a:spcPts val="0"/>
              </a:spcBef>
              <a:spcAft>
                <a:spcPts val="0"/>
              </a:spcAft>
              <a:buNone/>
            </a:pPr>
            <a:r>
              <a:rPr lang="vi-VN" sz="1700" b="1" i="0" dirty="0">
                <a:solidFill>
                  <a:srgbClr val="1F2433"/>
                </a:solidFill>
                <a:latin typeface="Times New Roman"/>
                <a:cs typeface="Times New Roman"/>
              </a:rPr>
              <a:t>Cài đặt</a:t>
            </a:r>
          </a:p>
        </p:txBody>
      </p:sp>
      <p:sp>
        <p:nvSpPr>
          <p:cNvPr id="27" name="Track 27"/>
          <p:cNvSpPr/>
          <p:nvPr/>
        </p:nvSpPr>
        <p:spPr>
          <a:xfrm>
            <a:off x="3200400" y="3145536"/>
            <a:ext cx="8531352" cy="457200"/>
          </a:xfrm>
          <a:prstGeom prst="roundRect">
            <a:avLst>
              <a:gd name="adj" fmla="val 50000"/>
            </a:avLst>
          </a:prstGeom>
          <a:solidFill>
            <a:srgbClr val="EEF1F7"/>
          </a:solidFill>
          <a:ln>
            <a:noFill/>
          </a:ln>
        </p:spPr>
      </p:sp>
      <p:sp>
        <p:nvSpPr>
          <p:cNvPr id="28" name="Bar 28"/>
          <p:cNvSpPr/>
          <p:nvPr/>
        </p:nvSpPr>
        <p:spPr>
          <a:xfrm>
            <a:off x="5475427" y="3145536"/>
            <a:ext cx="4550054" cy="457200"/>
          </a:xfrm>
          <a:prstGeom prst="roundRect">
            <a:avLst>
              <a:gd name="adj" fmla="val 50000"/>
            </a:avLst>
          </a:prstGeom>
          <a:solidFill>
            <a:srgbClr val="223771"/>
          </a:solidFill>
          <a:ln>
            <a:noFill/>
          </a:ln>
        </p:spPr>
        <p:txBody>
          <a:bodyPr wrap="square" lIns="45720" tIns="0" rIns="45720" bIns="0" rtlCol="0" anchor="ctr">
            <a:noAutofit/>
          </a:bodyPr>
          <a:lstStyle/>
          <a:p>
            <a:pPr algn="ctr">
              <a:spcBef>
                <a:spcPts val="0"/>
              </a:spcBef>
              <a:spcAft>
                <a:spcPts val="0"/>
              </a:spcAft>
              <a:buNone/>
            </a:pPr>
            <a:r>
              <a:rPr lang="vi-VN" sz="1400" b="1" i="0" dirty="0">
                <a:solidFill>
                  <a:srgbClr val="FFFFFF"/>
                </a:solidFill>
                <a:latin typeface="Times New Roman"/>
                <a:cs typeface="Times New Roman"/>
              </a:rPr>
              <a:t>Tuần 5–12</a:t>
            </a:r>
          </a:p>
        </p:txBody>
      </p:sp>
      <p:sp>
        <p:nvSpPr>
          <p:cNvPr id="29" name="TextBox 29"/>
          <p:cNvSpPr txBox="1"/>
          <p:nvPr/>
        </p:nvSpPr>
        <p:spPr>
          <a:xfrm>
            <a:off x="457200" y="3803904"/>
            <a:ext cx="2651760" cy="457200"/>
          </a:xfrm>
          <a:prstGeom prst="rect">
            <a:avLst/>
          </a:prstGeom>
          <a:noFill/>
          <a:ln>
            <a:noFill/>
          </a:ln>
        </p:spPr>
        <p:txBody>
          <a:bodyPr wrap="square" lIns="0" tIns="0" rIns="0" bIns="0" rtlCol="0" anchor="ctr">
            <a:noAutofit/>
          </a:bodyPr>
          <a:lstStyle/>
          <a:p>
            <a:pPr algn="l">
              <a:spcBef>
                <a:spcPts val="0"/>
              </a:spcBef>
              <a:spcAft>
                <a:spcPts val="0"/>
              </a:spcAft>
              <a:buNone/>
            </a:pPr>
            <a:r>
              <a:rPr lang="vi-VN" sz="1700" b="1" i="0" dirty="0">
                <a:solidFill>
                  <a:srgbClr val="1F2433"/>
                </a:solidFill>
                <a:latin typeface="Times New Roman"/>
                <a:cs typeface="Times New Roman"/>
              </a:rPr>
              <a:t>Kiểm thử</a:t>
            </a:r>
          </a:p>
        </p:txBody>
      </p:sp>
      <p:sp>
        <p:nvSpPr>
          <p:cNvPr id="30" name="Track 30"/>
          <p:cNvSpPr/>
          <p:nvPr/>
        </p:nvSpPr>
        <p:spPr>
          <a:xfrm>
            <a:off x="3200400" y="3803904"/>
            <a:ext cx="8531352" cy="457200"/>
          </a:xfrm>
          <a:prstGeom prst="roundRect">
            <a:avLst>
              <a:gd name="adj" fmla="val 50000"/>
            </a:avLst>
          </a:prstGeom>
          <a:solidFill>
            <a:srgbClr val="EEF1F7"/>
          </a:solidFill>
          <a:ln>
            <a:noFill/>
          </a:ln>
        </p:spPr>
      </p:sp>
      <p:sp>
        <p:nvSpPr>
          <p:cNvPr id="31" name="Bar 31"/>
          <p:cNvSpPr/>
          <p:nvPr/>
        </p:nvSpPr>
        <p:spPr>
          <a:xfrm>
            <a:off x="9456725" y="3803904"/>
            <a:ext cx="1706270" cy="457200"/>
          </a:xfrm>
          <a:prstGeom prst="roundRect">
            <a:avLst>
              <a:gd name="adj" fmla="val 50000"/>
            </a:avLst>
          </a:prstGeom>
          <a:solidFill>
            <a:srgbClr val="223771"/>
          </a:solidFill>
          <a:ln>
            <a:noFill/>
          </a:ln>
        </p:spPr>
        <p:txBody>
          <a:bodyPr wrap="square" lIns="45720" tIns="0" rIns="45720" bIns="0" rtlCol="0" anchor="ctr">
            <a:noAutofit/>
          </a:bodyPr>
          <a:lstStyle/>
          <a:p>
            <a:pPr algn="ctr">
              <a:spcBef>
                <a:spcPts val="0"/>
              </a:spcBef>
              <a:spcAft>
                <a:spcPts val="0"/>
              </a:spcAft>
              <a:buNone/>
            </a:pPr>
            <a:r>
              <a:rPr lang="vi-VN" sz="1400" b="1" i="0" dirty="0">
                <a:solidFill>
                  <a:srgbClr val="FFFFFF"/>
                </a:solidFill>
                <a:latin typeface="Times New Roman"/>
                <a:cs typeface="Times New Roman"/>
              </a:rPr>
              <a:t>Tuần 12–14</a:t>
            </a:r>
          </a:p>
        </p:txBody>
      </p:sp>
      <p:sp>
        <p:nvSpPr>
          <p:cNvPr id="32" name="TextBox 32"/>
          <p:cNvSpPr txBox="1"/>
          <p:nvPr/>
        </p:nvSpPr>
        <p:spPr>
          <a:xfrm>
            <a:off x="457200" y="4462272"/>
            <a:ext cx="2651760" cy="457200"/>
          </a:xfrm>
          <a:prstGeom prst="rect">
            <a:avLst/>
          </a:prstGeom>
          <a:noFill/>
          <a:ln>
            <a:noFill/>
          </a:ln>
        </p:spPr>
        <p:txBody>
          <a:bodyPr wrap="square" lIns="0" tIns="0" rIns="0" bIns="0" rtlCol="0" anchor="ctr">
            <a:noAutofit/>
          </a:bodyPr>
          <a:lstStyle/>
          <a:p>
            <a:pPr algn="l">
              <a:spcBef>
                <a:spcPts val="0"/>
              </a:spcBef>
              <a:spcAft>
                <a:spcPts val="0"/>
              </a:spcAft>
              <a:buNone/>
            </a:pPr>
            <a:r>
              <a:rPr lang="vi-VN" sz="1700" b="1" i="0" dirty="0">
                <a:solidFill>
                  <a:srgbClr val="1F2433"/>
                </a:solidFill>
                <a:latin typeface="Times New Roman"/>
                <a:cs typeface="Times New Roman"/>
              </a:rPr>
              <a:t>Báo cáo, bảo vệ</a:t>
            </a:r>
          </a:p>
        </p:txBody>
      </p:sp>
      <p:sp>
        <p:nvSpPr>
          <p:cNvPr id="33" name="Track 33"/>
          <p:cNvSpPr/>
          <p:nvPr/>
        </p:nvSpPr>
        <p:spPr>
          <a:xfrm>
            <a:off x="3200400" y="4462272"/>
            <a:ext cx="8531352" cy="457200"/>
          </a:xfrm>
          <a:prstGeom prst="roundRect">
            <a:avLst>
              <a:gd name="adj" fmla="val 50000"/>
            </a:avLst>
          </a:prstGeom>
          <a:solidFill>
            <a:srgbClr val="EEF1F7"/>
          </a:solidFill>
          <a:ln>
            <a:noFill/>
          </a:ln>
        </p:spPr>
      </p:sp>
      <p:sp>
        <p:nvSpPr>
          <p:cNvPr id="34" name="Bar 34"/>
          <p:cNvSpPr/>
          <p:nvPr/>
        </p:nvSpPr>
        <p:spPr>
          <a:xfrm>
            <a:off x="10025482" y="4462272"/>
            <a:ext cx="1706270" cy="457200"/>
          </a:xfrm>
          <a:prstGeom prst="roundRect">
            <a:avLst>
              <a:gd name="adj" fmla="val 50000"/>
            </a:avLst>
          </a:prstGeom>
          <a:solidFill>
            <a:srgbClr val="F26522"/>
          </a:solidFill>
          <a:ln>
            <a:noFill/>
          </a:ln>
        </p:spPr>
        <p:txBody>
          <a:bodyPr wrap="square" lIns="45720" tIns="0" rIns="45720" bIns="0" rtlCol="0" anchor="ctr">
            <a:noAutofit/>
          </a:bodyPr>
          <a:lstStyle/>
          <a:p>
            <a:pPr algn="ctr">
              <a:spcBef>
                <a:spcPts val="0"/>
              </a:spcBef>
              <a:spcAft>
                <a:spcPts val="0"/>
              </a:spcAft>
              <a:buNone/>
            </a:pPr>
            <a:r>
              <a:rPr lang="vi-VN" sz="1400" b="1" i="0" dirty="0">
                <a:solidFill>
                  <a:srgbClr val="FFFFFF"/>
                </a:solidFill>
                <a:latin typeface="Times New Roman"/>
                <a:cs typeface="Times New Roman"/>
              </a:rPr>
              <a:t>Tuần 13–15</a:t>
            </a:r>
          </a:p>
        </p:txBody>
      </p:sp>
      <p:sp>
        <p:nvSpPr>
          <p:cNvPr id="35" name="Shape 35"/>
          <p:cNvSpPr/>
          <p:nvPr/>
        </p:nvSpPr>
        <p:spPr>
          <a:xfrm>
            <a:off x="457200" y="5257800"/>
            <a:ext cx="11274552" cy="777240"/>
          </a:xfrm>
          <a:prstGeom prst="roundRect">
            <a:avLst>
              <a:gd name="adj" fmla="val 9411"/>
            </a:avLst>
          </a:prstGeom>
          <a:solidFill>
            <a:srgbClr val="E9EDF6"/>
          </a:solidFill>
          <a:ln>
            <a:noFill/>
          </a:ln>
        </p:spPr>
        <p:txBody>
          <a:bodyPr wrap="square" lIns="228600" tIns="27432" rIns="228600" bIns="27432" rtlCol="0" anchor="ctr">
            <a:noAutofit/>
          </a:bodyPr>
          <a:lstStyle/>
          <a:p>
            <a:pPr algn="l">
              <a:lnSpc>
                <a:spcPct val="105000"/>
              </a:lnSpc>
              <a:spcBef>
                <a:spcPts val="0"/>
              </a:spcBef>
              <a:spcAft>
                <a:spcPts val="0"/>
              </a:spcAft>
              <a:buNone/>
            </a:pPr>
            <a:r>
              <a:rPr lang="vi-VN" sz="1500" b="1" i="0" dirty="0">
                <a:solidFill>
                  <a:srgbClr val="223771"/>
                </a:solidFill>
                <a:latin typeface="Times New Roman"/>
                <a:cs typeface="Times New Roman"/>
              </a:rPr>
              <a:t>Đồ án cá nhân: </a:t>
            </a:r>
            <a:r>
              <a:rPr lang="vi-VN" sz="1500" b="0" i="0" dirty="0">
                <a:solidFill>
                  <a:srgbClr val="1F2433"/>
                </a:solidFill>
                <a:latin typeface="Times New Roman"/>
                <a:cs typeface="Times New Roman"/>
              </a:rPr>
              <a:t>giữ kỷ luật bằng Git, Docker, Prettier/ESLint và danh sách tự rà soát trước khi hoàn thành mỗi chức năng. Khung kế hoạch minh họa; mốc kiểm chứng được: kho Git máy chủ khởi tạo ngày 27/09/2025.</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b="1" dirty="0">
                <a:solidFill>
                  <a:srgbClr val="223771"/>
                </a:solidFill>
                <a:latin typeface="Times New Roman"/>
                <a:cs typeface="Times New Roman"/>
              </a:rPr>
              <a:t>KẾT LUẬN &amp; PHÁT TRIỂN</a:t>
            </a:r>
          </a:p>
        </p:txBody>
      </p:sp>
      <p:sp>
        <p:nvSpPr>
          <p:cNvPr id="4" name="TextBox 4"/>
          <p:cNvSpPr txBox="1"/>
          <p:nvPr/>
        </p:nvSpPr>
        <p:spPr>
          <a:xfrm>
            <a:off x="457200" y="896112"/>
            <a:ext cx="11274552" cy="411480"/>
          </a:xfrm>
          <a:prstGeom prst="rect">
            <a:avLst/>
          </a:prstGeom>
          <a:noFill/>
          <a:ln>
            <a:noFill/>
          </a:ln>
        </p:spPr>
        <p:txBody>
          <a:bodyPr wrap="square" lIns="0" tIns="0" rIns="0" bIns="0" rtlCol="0" anchor="ctr">
            <a:noAutofit/>
          </a:bodyPr>
          <a:lstStyle/>
          <a:p>
            <a:pPr algn="l">
              <a:spcBef>
                <a:spcPts val="0"/>
              </a:spcBef>
              <a:spcAft>
                <a:spcPts val="0"/>
              </a:spcAft>
              <a:buNone/>
            </a:pPr>
            <a:r>
              <a:rPr lang="vi-VN" sz="1800" b="0" i="1" dirty="0">
                <a:solidFill>
                  <a:srgbClr val="5A6272"/>
                </a:solidFill>
                <a:latin typeface="Times New Roman"/>
                <a:cs typeface="Times New Roman"/>
              </a:rPr>
              <a:t>Hệ thống đáp ứng mục tiêu đề ra; bước tiếp theo là hoàn thiện và triển khai thật</a:t>
            </a:r>
          </a:p>
        </p:txBody>
      </p:sp>
      <p:sp>
        <p:nvSpPr>
          <p:cNvPr id="5" name="Card 5"/>
          <p:cNvSpPr/>
          <p:nvPr/>
        </p:nvSpPr>
        <p:spPr>
          <a:xfrm>
            <a:off x="457200" y="1463040"/>
            <a:ext cx="5500116" cy="4526280"/>
          </a:xfrm>
          <a:prstGeom prst="roundRect">
            <a:avLst>
              <a:gd name="adj" fmla="val 1616"/>
            </a:avLst>
          </a:prstGeom>
          <a:solidFill>
            <a:srgbClr val="FFFFFF"/>
          </a:solidFill>
          <a:ln w="9525">
            <a:solidFill>
              <a:srgbClr val="C9D1E3"/>
            </a:solidFill>
          </a:ln>
        </p:spPr>
      </p:sp>
      <p:sp>
        <p:nvSpPr>
          <p:cNvPr id="6" name="Header 6"/>
          <p:cNvSpPr/>
          <p:nvPr/>
        </p:nvSpPr>
        <p:spPr>
          <a:xfrm>
            <a:off x="457200" y="1463040"/>
            <a:ext cx="5500116" cy="640080"/>
          </a:xfrm>
          <a:prstGeom prst="round2SameRect">
            <a:avLst>
              <a:gd name="adj1" fmla="val 11428"/>
              <a:gd name="adj2" fmla="val 0"/>
            </a:avLst>
          </a:prstGeom>
          <a:solidFill>
            <a:srgbClr val="223771"/>
          </a:solidFill>
          <a:ln>
            <a:noFill/>
          </a:ln>
        </p:spPr>
        <p:txBody>
          <a:bodyPr wrap="square" lIns="228600" tIns="0" rIns="182880" bIns="0" rtlCol="0" anchor="ctr">
            <a:noAutofit/>
          </a:bodyPr>
          <a:lstStyle/>
          <a:p>
            <a:pPr algn="l">
              <a:spcBef>
                <a:spcPts val="0"/>
              </a:spcBef>
              <a:spcAft>
                <a:spcPts val="0"/>
              </a:spcAft>
              <a:buNone/>
            </a:pPr>
            <a:r>
              <a:rPr lang="vi-VN" sz="2000" b="1" i="0" dirty="0">
                <a:solidFill>
                  <a:srgbClr val="FFFFFF"/>
                </a:solidFill>
                <a:latin typeface="Times New Roman"/>
                <a:cs typeface="Times New Roman"/>
              </a:rPr>
              <a:t>Kết quả đạt được</a:t>
            </a:r>
          </a:p>
        </p:txBody>
      </p:sp>
      <p:sp>
        <p:nvSpPr>
          <p:cNvPr id="7" name="TextBox 7"/>
          <p:cNvSpPr txBox="1"/>
          <p:nvPr/>
        </p:nvSpPr>
        <p:spPr>
          <a:xfrm>
            <a:off x="685800" y="2286000"/>
            <a:ext cx="5042916" cy="3566160"/>
          </a:xfrm>
          <a:prstGeom prst="rect">
            <a:avLst/>
          </a:prstGeom>
          <a:noFill/>
          <a:ln>
            <a:noFill/>
          </a:ln>
        </p:spPr>
        <p:txBody>
          <a:bodyPr wrap="square" lIns="0" tIns="0" rIns="0" bIns="0" rtlCol="0" anchor="t">
            <a:noAutofit/>
          </a:bodyPr>
          <a:lstStyle/>
          <a:p>
            <a:pPr marL="285750" indent="-285750" algn="l">
              <a:lnSpc>
                <a:spcPct val="105000"/>
              </a:lnSpc>
              <a:spcBef>
                <a:spcPts val="1000"/>
              </a:spcBef>
              <a:spcAft>
                <a:spcPts val="0"/>
              </a:spcAft>
              <a:buClr>
                <a:srgbClr val="F26522"/>
              </a:buClr>
              <a:buFont typeface="Arial"/>
              <a:buChar char="•"/>
            </a:pPr>
            <a:r>
              <a:rPr lang="vi-VN" sz="1700" b="0" i="0" dirty="0">
                <a:solidFill>
                  <a:srgbClr val="1F2433"/>
                </a:solidFill>
                <a:latin typeface="Times New Roman"/>
                <a:cs typeface="Times New Roman"/>
              </a:rPr>
              <a:t>Hệ thống web số hóa trọn vòng đời mượn – trả, nhắm vào cả sáu vấn đề VĐ-01 … VĐ-06</a:t>
            </a:r>
          </a:p>
          <a:p>
            <a:pPr marL="285750" indent="-285750" algn="l">
              <a:lnSpc>
                <a:spcPct val="105000"/>
              </a:lnSpc>
              <a:spcBef>
                <a:spcPts val="1000"/>
              </a:spcBef>
              <a:spcAft>
                <a:spcPts val="0"/>
              </a:spcAft>
              <a:buClr>
                <a:srgbClr val="F26522"/>
              </a:buClr>
              <a:buFont typeface="Arial"/>
              <a:buChar char="•"/>
            </a:pPr>
            <a:r>
              <a:rPr lang="vi-VN" sz="1700" b="0" i="0" dirty="0">
                <a:solidFill>
                  <a:srgbClr val="1F2433"/>
                </a:solidFill>
                <a:latin typeface="Times New Roman"/>
                <a:cs typeface="Times New Roman"/>
              </a:rPr>
              <a:t>Đặc tả 33 FR, 13 NFR, 19 use case, truy vết tới kiểm thử</a:t>
            </a:r>
          </a:p>
          <a:p>
            <a:pPr marL="285750" indent="-285750" algn="l">
              <a:lnSpc>
                <a:spcPct val="105000"/>
              </a:lnSpc>
              <a:spcBef>
                <a:spcPts val="1000"/>
              </a:spcBef>
              <a:spcAft>
                <a:spcPts val="0"/>
              </a:spcAft>
              <a:buClr>
                <a:srgbClr val="F26522"/>
              </a:buClr>
              <a:buFont typeface="Arial"/>
              <a:buChar char="•"/>
            </a:pPr>
            <a:r>
              <a:rPr lang="vi-VN" sz="1700" b="0" i="0" dirty="0">
                <a:solidFill>
                  <a:srgbClr val="1F2433"/>
                </a:solidFill>
                <a:latin typeface="Times New Roman"/>
                <a:cs typeface="Times New Roman"/>
              </a:rPr>
              <a:t>Kiểm thử: 50/55 chức năng, 7/7 bảo mật, 5/5 hiệu năng</a:t>
            </a:r>
          </a:p>
          <a:p>
            <a:pPr marL="285750" indent="-285750" algn="l">
              <a:lnSpc>
                <a:spcPct val="105000"/>
              </a:lnSpc>
              <a:spcBef>
                <a:spcPts val="1000"/>
              </a:spcBef>
              <a:spcAft>
                <a:spcPts val="0"/>
              </a:spcAft>
              <a:buClr>
                <a:srgbClr val="F26522"/>
              </a:buClr>
              <a:buFont typeface="Arial"/>
              <a:buChar char="•"/>
            </a:pPr>
            <a:r>
              <a:rPr lang="vi-VN" sz="1700" b="0" i="0" dirty="0">
                <a:solidFill>
                  <a:srgbClr val="1F2433"/>
                </a:solidFill>
                <a:latin typeface="Times New Roman"/>
                <a:cs typeface="Times New Roman"/>
              </a:rPr>
              <a:t>Phát hiện và khắc phục 6 khiếm khuyết bảo mật, có kiểm chứng</a:t>
            </a:r>
          </a:p>
        </p:txBody>
      </p:sp>
      <p:sp>
        <p:nvSpPr>
          <p:cNvPr id="8" name="Card 8"/>
          <p:cNvSpPr/>
          <p:nvPr/>
        </p:nvSpPr>
        <p:spPr>
          <a:xfrm>
            <a:off x="6231636" y="1463040"/>
            <a:ext cx="5500116" cy="4526280"/>
          </a:xfrm>
          <a:prstGeom prst="roundRect">
            <a:avLst>
              <a:gd name="adj" fmla="val 1616"/>
            </a:avLst>
          </a:prstGeom>
          <a:solidFill>
            <a:srgbClr val="FFFFFF"/>
          </a:solidFill>
          <a:ln w="9525">
            <a:solidFill>
              <a:srgbClr val="C9D1E3"/>
            </a:solidFill>
          </a:ln>
        </p:spPr>
      </p:sp>
      <p:sp>
        <p:nvSpPr>
          <p:cNvPr id="9" name="Header 9"/>
          <p:cNvSpPr/>
          <p:nvPr/>
        </p:nvSpPr>
        <p:spPr>
          <a:xfrm>
            <a:off x="6231636" y="1463040"/>
            <a:ext cx="5500116" cy="640080"/>
          </a:xfrm>
          <a:prstGeom prst="round2SameRect">
            <a:avLst>
              <a:gd name="adj1" fmla="val 11428"/>
              <a:gd name="adj2" fmla="val 0"/>
            </a:avLst>
          </a:prstGeom>
          <a:solidFill>
            <a:srgbClr val="F26522"/>
          </a:solidFill>
          <a:ln>
            <a:noFill/>
          </a:ln>
        </p:spPr>
        <p:txBody>
          <a:bodyPr wrap="square" lIns="228600" tIns="0" rIns="182880" bIns="0" rtlCol="0" anchor="ctr">
            <a:noAutofit/>
          </a:bodyPr>
          <a:lstStyle/>
          <a:p>
            <a:pPr algn="l">
              <a:spcBef>
                <a:spcPts val="0"/>
              </a:spcBef>
              <a:spcAft>
                <a:spcPts val="0"/>
              </a:spcAft>
              <a:buNone/>
            </a:pPr>
            <a:r>
              <a:rPr lang="vi-VN" sz="2000" b="1" i="0" dirty="0">
                <a:solidFill>
                  <a:srgbClr val="FFFFFF"/>
                </a:solidFill>
                <a:latin typeface="Times New Roman"/>
                <a:cs typeface="Times New Roman"/>
              </a:rPr>
              <a:t>Hướng phát triển</a:t>
            </a:r>
          </a:p>
        </p:txBody>
      </p:sp>
      <p:sp>
        <p:nvSpPr>
          <p:cNvPr id="10" name="TextBox 10"/>
          <p:cNvSpPr txBox="1"/>
          <p:nvPr/>
        </p:nvSpPr>
        <p:spPr>
          <a:xfrm>
            <a:off x="6460236" y="2286000"/>
            <a:ext cx="5042916" cy="3566160"/>
          </a:xfrm>
          <a:prstGeom prst="rect">
            <a:avLst/>
          </a:prstGeom>
          <a:noFill/>
          <a:ln>
            <a:noFill/>
          </a:ln>
        </p:spPr>
        <p:txBody>
          <a:bodyPr wrap="square" lIns="0" tIns="0" rIns="0" bIns="0" rtlCol="0" anchor="t">
            <a:noAutofit/>
          </a:bodyPr>
          <a:lstStyle/>
          <a:p>
            <a:pPr marL="285750" indent="-285750" algn="l">
              <a:lnSpc>
                <a:spcPct val="105000"/>
              </a:lnSpc>
              <a:spcBef>
                <a:spcPts val="1000"/>
              </a:spcBef>
              <a:spcAft>
                <a:spcPts val="0"/>
              </a:spcAft>
              <a:buClr>
                <a:srgbClr val="F26522"/>
              </a:buClr>
              <a:buFont typeface="Arial"/>
              <a:buChar char="•"/>
            </a:pPr>
            <a:r>
              <a:rPr lang="vi-VN" sz="1700" b="0" i="0" dirty="0">
                <a:solidFill>
                  <a:srgbClr val="1F2433"/>
                </a:solidFill>
                <a:latin typeface="Times New Roman"/>
                <a:cs typeface="Times New Roman"/>
              </a:rPr>
              <a:t>Sửa 5 lỗi còn lại: TC-13, 18, 26, 37, 44</a:t>
            </a:r>
          </a:p>
          <a:p>
            <a:pPr marL="285750" indent="-285750" algn="l">
              <a:lnSpc>
                <a:spcPct val="105000"/>
              </a:lnSpc>
              <a:spcBef>
                <a:spcPts val="1000"/>
              </a:spcBef>
              <a:spcAft>
                <a:spcPts val="0"/>
              </a:spcAft>
              <a:buClr>
                <a:srgbClr val="F26522"/>
              </a:buClr>
              <a:buFont typeface="Arial"/>
              <a:buChar char="•"/>
            </a:pPr>
            <a:r>
              <a:rPr lang="vi-VN" sz="1700" b="0" i="0" dirty="0">
                <a:solidFill>
                  <a:srgbClr val="1F2433"/>
                </a:solidFill>
                <a:latin typeface="Times New Roman"/>
                <a:cs typeface="Times New Roman"/>
              </a:rPr>
              <a:t>Bổ sung giao diện đăng nhập Google và trang quên mật khẩu</a:t>
            </a:r>
          </a:p>
          <a:p>
            <a:pPr marL="285750" indent="-285750" algn="l">
              <a:lnSpc>
                <a:spcPct val="105000"/>
              </a:lnSpc>
              <a:spcBef>
                <a:spcPts val="1000"/>
              </a:spcBef>
              <a:spcAft>
                <a:spcPts val="0"/>
              </a:spcAft>
              <a:buClr>
                <a:srgbClr val="F26522"/>
              </a:buClr>
              <a:buFont typeface="Arial"/>
              <a:buChar char="•"/>
            </a:pPr>
            <a:r>
              <a:rPr lang="vi-VN" sz="1700" b="0" i="0" dirty="0">
                <a:solidFill>
                  <a:srgbClr val="1F2433"/>
                </a:solidFill>
                <a:latin typeface="Times New Roman"/>
                <a:cs typeface="Times New Roman"/>
              </a:rPr>
              <a:t>Kiểm thử tự động giao diện, CI; thử trên Firefox và điện thoại</a:t>
            </a:r>
          </a:p>
          <a:p>
            <a:pPr marL="285750" indent="-285750" algn="l">
              <a:lnSpc>
                <a:spcPct val="105000"/>
              </a:lnSpc>
              <a:spcBef>
                <a:spcPts val="1000"/>
              </a:spcBef>
              <a:spcAft>
                <a:spcPts val="0"/>
              </a:spcAft>
              <a:buClr>
                <a:srgbClr val="F26522"/>
              </a:buClr>
              <a:buFont typeface="Arial"/>
              <a:buChar char="•"/>
            </a:pPr>
            <a:r>
              <a:rPr lang="vi-VN" sz="1700" b="0" i="0" dirty="0">
                <a:solidFill>
                  <a:srgbClr val="1F2433"/>
                </a:solidFill>
                <a:latin typeface="Times New Roman"/>
                <a:cs typeface="Times New Roman"/>
              </a:rPr>
              <a:t>Triển khai thật: HTTPS, sao lưu dữ liệu, cổng thanh toán thật</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93776" y="3474720"/>
            <a:ext cx="11219688" cy="914400"/>
          </a:xfrm>
        </p:spPr>
        <p:txBody>
          <a:bodyPr anchor="ctr">
            <a:noAutofit/>
          </a:bodyPr>
          <a:lstStyle/>
          <a:p>
            <a:pPr algn="ctr">
              <a:spcBef>
                <a:spcPts val="0"/>
              </a:spcBef>
              <a:spcAft>
                <a:spcPts val="0"/>
              </a:spcAft>
              <a:buNone/>
            </a:pPr>
            <a:r>
              <a:rPr lang="vi-VN" sz="4000" b="1" i="0" dirty="0">
                <a:solidFill>
                  <a:srgbClr val="FFFFFF"/>
                </a:solidFill>
                <a:latin typeface="Times New Roman"/>
                <a:cs typeface="Times New Roman"/>
              </a:rPr>
              <a:t>Xin cảm ơn!</a:t>
            </a:r>
          </a:p>
        </p:txBody>
      </p:sp>
      <p:sp>
        <p:nvSpPr>
          <p:cNvPr id="3" name="Subtitle 2"/>
          <p:cNvSpPr>
            <a:spLocks noGrp="1"/>
          </p:cNvSpPr>
          <p:nvPr>
            <p:ph type="subTitle" idx="1"/>
          </p:nvPr>
        </p:nvSpPr>
        <p:spPr>
          <a:xfrm>
            <a:off x="493776" y="4480560"/>
            <a:ext cx="11219688" cy="1097280"/>
          </a:xfrm>
        </p:spPr>
        <p:txBody>
          <a:bodyPr anchor="t">
            <a:noAutofit/>
          </a:bodyPr>
          <a:lstStyle/>
          <a:p>
            <a:pPr algn="ctr">
              <a:spcBef>
                <a:spcPts val="0"/>
              </a:spcBef>
              <a:spcAft>
                <a:spcPts val="0"/>
              </a:spcAft>
              <a:buNone/>
            </a:pPr>
            <a:r>
              <a:rPr lang="vi-VN" sz="2000" b="0" i="0" dirty="0">
                <a:solidFill>
                  <a:srgbClr val="FFFFFF"/>
                </a:solidFill>
                <a:latin typeface="Times New Roman"/>
                <a:cs typeface="Times New Roman"/>
              </a:rPr>
              <a:t>Q&amp;A · Kính mời quý Thầy Cô đặt câu hỏi</a:t>
            </a:r>
          </a:p>
          <a:p>
            <a:pPr algn="ctr">
              <a:spcBef>
                <a:spcPts val="1000"/>
              </a:spcBef>
              <a:spcAft>
                <a:spcPts val="0"/>
              </a:spcAft>
              <a:buNone/>
            </a:pPr>
            <a:r>
              <a:rPr lang="vi-VN" sz="1400" b="0" i="0" dirty="0">
                <a:solidFill>
                  <a:srgbClr val="FFFFFF"/>
                </a:solidFill>
                <a:latin typeface="Times New Roman"/>
                <a:cs typeface="Times New Roman"/>
              </a:rPr>
              <a:t>Mã nguồn và báo cáo: github.com/GowShrek/Doanchuyenganh_K17_Dnnhat_23010345</a:t>
            </a:r>
          </a:p>
        </p:txBody>
      </p:sp>
    </p:spTree>
  </p:cSld>
  <p:clrMapOvr>
    <a:masterClrMapping/>
  </p:clrMapOvr>
</p:sld>
</file>

<file path=ppt/theme/theme1.xml><?xml version="1.0" encoding="utf-8"?>
<a:theme xmlns:a="http://schemas.openxmlformats.org/drawingml/2006/main" name="Vicostone Templat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Mau thuyet trình cong ty Vicostone" id="{123813FF-2186-4307-88AB-E52DC4E764C5}" vid="{7A2E833A-1ED4-4E30-9CFE-D6481D7B3B5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MauDH Thanh Tay</Template>
  <TotalTime>481</TotalTime>
  <Words>4602</Words>
  <Application>Microsoft Office PowerPoint</Application>
  <PresentationFormat>Widescreen</PresentationFormat>
  <Paragraphs>370</Paragraphs>
  <Slides>19</Slides>
  <Notes>19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19</vt:i4>
      </vt:variant>
    </vt:vector>
  </HeadingPairs>
  <TitlesOfParts>
    <vt:vector size="24" baseType="lpstr">
      <vt:lpstr>Arial</vt:lpstr>
      <vt:lpstr>Calibri</vt:lpstr>
      <vt:lpstr>Times New Roman</vt:lpstr>
      <vt:lpstr>UTM Avo</vt:lpstr>
      <vt:lpstr>Vicostone Template</vt:lpstr>
      <vt:lpstr>FAHASA DIGITAL HỆ THỐNG QUẢN LÝ THƯ VIỆN CHO NHÀ SÁCH</vt:lpstr>
      <vt:lpstr>MỤC LỤC</vt:lpstr>
      <vt:lpstr>BỐI CẢNH ĐỀ TÀI</vt:lpstr>
      <vt:lpstr>VẤN ĐỀ CẦN GIẢI QUYẾT</vt:lpstr>
      <vt:lpstr>KHẢO SÁT GIẢI PHÁP</vt:lpstr>
      <vt:lpstr>GIẢI PHÁP ĐỀ XUẤT</vt:lpstr>
      <vt:lpstr>KIẾN TRÚC &amp; CÔNG NGHỆ</vt:lpstr>
      <vt:lpstr>PHÂN TÍCH YÊU CẦU</vt:lpstr>
      <vt:lpstr>MÔ HÌNH USE CASE</vt:lpstr>
      <vt:lpstr>QUY TẮC NGHIỆP VỤ</vt:lpstr>
      <vt:lpstr>LUỒNG MƯỢN – DUYỆT – TRẢ</vt:lpstr>
      <vt:lpstr>TRỢ LÝ AI &amp; TIỀN PHẠT</vt:lpstr>
      <vt:lpstr>THỐNG KÊ &amp; BÁO CÁO</vt:lpstr>
      <vt:lpstr>KẾT QUẢ KIỂM THỬ</vt:lpstr>
      <vt:lpstr>RÀ SOÁT BẢO MẬT</vt:lpstr>
      <vt:lpstr>HẠN CHẾ CÒN LẠI</vt:lpstr>
      <vt:lpstr>KẾ HOẠCH THỰC HIỆN</vt:lpstr>
      <vt:lpstr>KẾT LUẬN &amp; PHÁT TRIỂN</vt:lpstr>
      <vt:lpstr>Xin cảm ơn!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Windows User;Thanh NGUYEN - P. Truyền Thông ĐH Thành Tây</dc:creator>
  <cp:lastModifiedBy>Nhất Đặng</cp:lastModifiedBy>
  <cp:revision>32</cp:revision>
  <dcterms:created xsi:type="dcterms:W3CDTF">2018-07-24T06:18:10Z</dcterms:created>
  <dcterms:modified xsi:type="dcterms:W3CDTF">2026-10-25T18:45:41Z</dcterms:modified>
</cp:coreProperties>
</file>